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554480"/>
            <a:ext cx="4206240" cy="420624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-457200"/>
            <a:ext cx="2011680" cy="201168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AUTOMATION TRAINING SERIES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— Automation Kickoff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with TypeScript  ·  Foundations &amp; Environment Setup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815084" cy="457200"/>
          </a:xfrm>
          <a:prstGeom prst="roundRect">
            <a:avLst>
              <a:gd name="adj" fmla="val 50000"/>
            </a:avLst>
          </a:prstGeom>
          <a:solidFill>
            <a:srgbClr val="16384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886200"/>
            <a:ext cx="1495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Sessions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66644" y="3886200"/>
            <a:ext cx="2656332" cy="457200"/>
          </a:xfrm>
          <a:prstGeom prst="roundRect">
            <a:avLst>
              <a:gd name="adj" fmla="val 50000"/>
            </a:avLst>
          </a:prstGeom>
          <a:solidFill>
            <a:srgbClr val="16384F"/>
          </a:solidFill>
          <a:ln/>
        </p:spPr>
      </p:sp>
      <p:sp>
        <p:nvSpPr>
          <p:cNvPr id="11" name="Text 9"/>
          <p:cNvSpPr/>
          <p:nvPr/>
        </p:nvSpPr>
        <p:spPr>
          <a:xfrm>
            <a:off x="3095244" y="3886200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 – Jul 8,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51576" y="388620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16384F"/>
          </a:solidFill>
          <a:ln/>
        </p:spPr>
      </p:sp>
      <p:sp>
        <p:nvSpPr>
          <p:cNvPr id="13" name="Text 11"/>
          <p:cNvSpPr/>
          <p:nvPr/>
        </p:nvSpPr>
        <p:spPr>
          <a:xfrm>
            <a:off x="5980176" y="38862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4:30 PM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5247742"/>
            <a:ext cx="294437" cy="29443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429000" y="5074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22" y="5247742"/>
            <a:ext cx="294437" cy="29443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0624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035040" y="50749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62" y="5247742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5074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Kickoff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2121408" cy="3566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37360"/>
            <a:ext cx="212140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1307592" y="214884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791" y="237103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41248" y="31546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&amp; Series Overview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397764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format and what you'll build over 20 sessions.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944368" y="1737360"/>
            <a:ext cx="2121408" cy="3566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44368" y="1737360"/>
            <a:ext cx="212140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3593592" y="214884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791" y="2371039"/>
            <a:ext cx="378562" cy="3785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08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3127248" y="31546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Automation &amp; Our Stack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145536" y="397764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automation, Node.js &amp; TypeScript.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230368" y="1737360"/>
            <a:ext cx="2121408" cy="3566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30368" y="1737360"/>
            <a:ext cx="212140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Shape 16"/>
          <p:cNvSpPr/>
          <p:nvPr/>
        </p:nvSpPr>
        <p:spPr>
          <a:xfrm>
            <a:off x="5879592" y="214884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791" y="2371039"/>
            <a:ext cx="378562" cy="3785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94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5413248" y="31546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Setup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431536" y="397764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Node.js, VS Code and Playwright together.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516368" y="1737360"/>
            <a:ext cx="2121408" cy="3566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16368" y="1737360"/>
            <a:ext cx="212140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2"/>
          <p:cNvSpPr/>
          <p:nvPr/>
        </p:nvSpPr>
        <p:spPr>
          <a:xfrm>
            <a:off x="8165592" y="214884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91" y="2371039"/>
            <a:ext cx="378562" cy="37856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80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7699248" y="31546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Foundations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717536" y="397764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the core concepts we begin with.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9802368" y="1737360"/>
            <a:ext cx="2121408" cy="35661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802368" y="1737360"/>
            <a:ext cx="212140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Shape 28"/>
          <p:cNvSpPr/>
          <p:nvPr/>
        </p:nvSpPr>
        <p:spPr>
          <a:xfrm>
            <a:off x="10451592" y="2148840"/>
            <a:ext cx="822960" cy="8229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3791" y="2371039"/>
            <a:ext cx="378562" cy="37856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96696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37" name="Text 30"/>
          <p:cNvSpPr/>
          <p:nvPr/>
        </p:nvSpPr>
        <p:spPr>
          <a:xfrm>
            <a:off x="9985248" y="315468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Next Steps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10003536" y="397764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learning path and Day 2 preparation.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CASE FOR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Automation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440680" cy="19933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14884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20" y="238338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" y="2148840"/>
            <a:ext cx="868680" cy="8686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29968" y="2130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&amp; Efficiency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29968" y="26243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thousands of checks in minutes — far faster than manual testing.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440680" cy="19933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7688" y="214884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232" y="2383384"/>
            <a:ext cx="399593" cy="39959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47688" y="2148840"/>
            <a:ext cx="868680" cy="8686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26680" y="21305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&amp; Repeatability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726680" y="26243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human error; every run executes exactly the same way.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58368" y="3977640"/>
            <a:ext cx="5440680" cy="19933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0976" y="43434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20" y="4577944"/>
            <a:ext cx="399593" cy="399593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50976" y="4343400"/>
            <a:ext cx="868680" cy="8686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029968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Broader Coverage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029968" y="48188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browsers, devices and data sets with minimal effort.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355080" y="3977640"/>
            <a:ext cx="5440680" cy="19933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47688" y="434340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232" y="4577944"/>
            <a:ext cx="399593" cy="39959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647688" y="4343400"/>
            <a:ext cx="868680" cy="8686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26680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Feedback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726680" y="48188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CI/CD to catch regressions the moment code changes.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82880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19913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Node.js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that powers Playwright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FOUNDATION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45152" y="84124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JavaScript, server-side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262" y="1864462"/>
            <a:ext cx="294437" cy="29443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40680" y="16459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Powers Playwright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40680" y="2020824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runs on Node — it's the engine behind every test we write.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663440" y="2807208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262" y="2980030"/>
            <a:ext cx="294437" cy="29443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663440" y="2807208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40680" y="27614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Massive npm Ecosystem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440680" y="3136392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ready-to-use packages for reporting, data and tooling.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663440" y="3922776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262" y="4095598"/>
            <a:ext cx="294437" cy="29443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663440" y="3922776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40680" y="387705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&amp; Asynchronous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5440680" y="4251960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V8 engine handles parallel browser work efficiently.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5038344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6262" y="5211166"/>
            <a:ext cx="294437" cy="29443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663440" y="5038344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440680" y="49926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440680" y="5367528"/>
            <a:ext cx="6309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setup on Windows, macOS and Linux — and in CI pipelines.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-1280160"/>
            <a:ext cx="3108960" cy="310896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4" name="Shape 2"/>
          <p:cNvSpPr/>
          <p:nvPr/>
        </p:nvSpPr>
        <p:spPr>
          <a:xfrm>
            <a:off x="9402775" y="1828800"/>
            <a:ext cx="1371600" cy="13716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07" y="219913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31175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TypeScript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031175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JavaScript that scales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TEST LANGUAGE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84124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Catch errors before runtime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91640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90" y="1864462"/>
            <a:ext cx="294437" cy="29443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8368" y="1691640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35608" y="16459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Type Safety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435608" y="2020824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flagged as you type — not after a test has already failed.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58368" y="2807208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90" y="2980030"/>
            <a:ext cx="294437" cy="29443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58368" y="2807208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435608" y="27614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Smarter IDE Support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435608" y="3136392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autocomplete and IntelliSense make Playwright APIs easy to discover.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58368" y="3922776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90" y="4095598"/>
            <a:ext cx="294437" cy="29443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58368" y="3922776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435608" y="387705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&amp; Maintainable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435608" y="425196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and types keep large test suites clean and readable.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58368" y="5038344"/>
            <a:ext cx="640080" cy="640080"/>
          </a:xfrm>
          <a:prstGeom prst="ellipse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90" y="5211166"/>
            <a:ext cx="294437" cy="29443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58368" y="5038344"/>
            <a:ext cx="640080" cy="640080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435608" y="49926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Standard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435608" y="536752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recommended, first-class language for Playwright automation.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MASTER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TypeScript Concepts to Learn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3584448" cy="175564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37360"/>
            <a:ext cx="91440" cy="17556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29968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549" y="2222541"/>
            <a:ext cx="328087" cy="3280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0976" y="2029968"/>
            <a:ext cx="713232" cy="713232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47088" y="2048256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&amp; Types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9264" y="276148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/ const / var, data types, type inference &amp; annotations.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25696" y="1737360"/>
            <a:ext cx="3584448" cy="175564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5696" y="1737360"/>
            <a:ext cx="91440" cy="17556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4718304" y="2029968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877" y="2222541"/>
            <a:ext cx="328087" cy="32808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18304" y="2029968"/>
            <a:ext cx="713232" cy="713232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14416" y="2048256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 &amp; Functions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736592" y="276148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loops, functions and advanced function patterns.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1737360"/>
            <a:ext cx="3584448" cy="175564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024" y="1737360"/>
            <a:ext cx="91440" cy="17556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Shape 16"/>
          <p:cNvSpPr/>
          <p:nvPr/>
        </p:nvSpPr>
        <p:spPr>
          <a:xfrm>
            <a:off x="8485632" y="2029968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205" y="2222541"/>
            <a:ext cx="328087" cy="32808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485632" y="2029968"/>
            <a:ext cx="713232" cy="713232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381744" y="2048256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Arrays, Enums &amp; Tuples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03920" y="276148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methods, enums and strongly-typed tuples.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58368" y="3721608"/>
            <a:ext cx="3584448" cy="175564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" y="3721608"/>
            <a:ext cx="91440" cy="17556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2"/>
          <p:cNvSpPr/>
          <p:nvPr/>
        </p:nvSpPr>
        <p:spPr>
          <a:xfrm>
            <a:off x="950976" y="401421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549" y="4206789"/>
            <a:ext cx="328087" cy="328087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0976" y="4014216"/>
            <a:ext cx="713232" cy="713232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847088" y="403250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 &amp; Interfaces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69264" y="474573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strings, template literals and interface contracts.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4425696" y="3721608"/>
            <a:ext cx="3584448" cy="175564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425696" y="3721608"/>
            <a:ext cx="91440" cy="17556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Shape 28"/>
          <p:cNvSpPr/>
          <p:nvPr/>
        </p:nvSpPr>
        <p:spPr>
          <a:xfrm>
            <a:off x="4718304" y="401421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877" y="4206789"/>
            <a:ext cx="328087" cy="328087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4718304" y="4014216"/>
            <a:ext cx="713232" cy="713232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614416" y="403250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 &amp; OOP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4736592" y="474573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constructors, inheritance, access modifiers &amp; generics.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8193024" y="3721608"/>
            <a:ext cx="3584448" cy="175564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193024" y="3721608"/>
            <a:ext cx="91440" cy="17556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1" name="Shape 34"/>
          <p:cNvSpPr/>
          <p:nvPr/>
        </p:nvSpPr>
        <p:spPr>
          <a:xfrm>
            <a:off x="8485632" y="401421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8205" y="4206789"/>
            <a:ext cx="328087" cy="328087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8485632" y="4014216"/>
            <a:ext cx="713232" cy="713232"/>
          </a:xfrm>
          <a:prstGeom prst="ellipse">
            <a:avLst/>
          </a:prstGeom>
          <a:ln w="19050">
            <a:solidFill>
              <a:srgbClr val="14B8A6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9381744" y="403250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Programming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8503920" y="474573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Callbacks, Promises and async / await for modern code.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AUTOMATION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977640" cy="4160520"/>
          </a:xfrm>
          <a:prstGeom prst="rect">
            <a:avLst/>
          </a:prstGeom>
          <a:solidFill>
            <a:srgbClr val="0F2A3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40280" y="214884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Playwright?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6112" y="37947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open-source framework for fast, reliable end-to-end web testing — driving real browsers through a single API.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Chromium  ·  Firefox  ·  WebKit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1783080"/>
            <a:ext cx="6583680" cy="7680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5102352" y="190195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547" y="2045147"/>
            <a:ext cx="243962" cy="24396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02352" y="1901952"/>
            <a:ext cx="530352" cy="530352"/>
          </a:xfrm>
          <a:prstGeom prst="ellipse">
            <a:avLst/>
          </a:prstGeom>
          <a:ln w="16510">
            <a:solidFill>
              <a:srgbClr val="14B8A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06440" y="18745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Cross-Browser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806440" y="218541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drives Chromium, Firefox &amp; WebKit on all platforms.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937760" y="2628900"/>
            <a:ext cx="6583680" cy="7680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3"/>
          <p:cNvSpPr/>
          <p:nvPr/>
        </p:nvSpPr>
        <p:spPr>
          <a:xfrm>
            <a:off x="5102352" y="274777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547" y="2890967"/>
            <a:ext cx="243962" cy="24396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02352" y="2747772"/>
            <a:ext cx="530352" cy="530352"/>
          </a:xfrm>
          <a:prstGeom prst="ellipse">
            <a:avLst/>
          </a:prstGeom>
          <a:ln w="16510">
            <a:solidFill>
              <a:srgbClr val="14B8A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806440" y="27203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Auto-Waiting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5806440" y="303123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elements automatically — far fewer flaky tests.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937760" y="3474720"/>
            <a:ext cx="6583680" cy="7680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5102352" y="359359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547" y="3736787"/>
            <a:ext cx="243962" cy="24396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102352" y="3593592"/>
            <a:ext cx="530352" cy="530352"/>
          </a:xfrm>
          <a:prstGeom prst="ellipse">
            <a:avLst/>
          </a:prstGeom>
          <a:ln w="16510">
            <a:solidFill>
              <a:srgbClr val="14B8A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806440" y="356616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Codegen Record &amp; Play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5806440" y="387705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by recording your clicks in the browser.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937760" y="4320540"/>
            <a:ext cx="6583680" cy="7680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3"/>
          <p:cNvSpPr/>
          <p:nvPr/>
        </p:nvSpPr>
        <p:spPr>
          <a:xfrm>
            <a:off x="5102352" y="443941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547" y="4582607"/>
            <a:ext cx="243962" cy="24396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102352" y="4439412"/>
            <a:ext cx="530352" cy="530352"/>
          </a:xfrm>
          <a:prstGeom prst="ellipse">
            <a:avLst/>
          </a:prstGeom>
          <a:ln w="16510">
            <a:solidFill>
              <a:srgbClr val="14B8A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806440" y="44119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Execution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5806440" y="472287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in parallel across workers for rapid feedback.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4937760" y="5166360"/>
            <a:ext cx="6583680" cy="76809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28"/>
          <p:cNvSpPr/>
          <p:nvPr/>
        </p:nvSpPr>
        <p:spPr>
          <a:xfrm>
            <a:off x="5102352" y="5285232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547" y="5428427"/>
            <a:ext cx="243962" cy="24396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102352" y="5285232"/>
            <a:ext cx="530352" cy="530352"/>
          </a:xfrm>
          <a:prstGeom prst="ellipse">
            <a:avLst/>
          </a:prstGeom>
          <a:ln w="16510">
            <a:solidFill>
              <a:srgbClr val="14B8A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806440" y="52578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 Tracing &amp; Reports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5806440" y="5568696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trace viewer, screenshots and HTML reports.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YOUR MACHINE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&amp; Setup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584448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358444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075688"/>
            <a:ext cx="566928" cy="56692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696" y="2093976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78892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Node.js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50976" y="3246120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the latest LTS via the enterprise Software Catalog (ServiceNow), or download from nodejs.org.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 a terminal: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32688" y="5001768"/>
            <a:ext cx="3035808" cy="45720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12" name="Text 9"/>
          <p:cNvSpPr/>
          <p:nvPr/>
        </p:nvSpPr>
        <p:spPr>
          <a:xfrm>
            <a:off x="1069848" y="500176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   npm -v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25696" y="1783080"/>
            <a:ext cx="3584448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25696" y="1783080"/>
            <a:ext cx="358444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700016" y="2075688"/>
            <a:ext cx="566928" cy="56692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6" name="Text 13"/>
          <p:cNvSpPr/>
          <p:nvPr/>
        </p:nvSpPr>
        <p:spPr>
          <a:xfrm>
            <a:off x="4700016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2093976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00016" y="278892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VS Code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718304" y="3246120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Visual Studio Code as your editor.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Playwright Test and ESLint extensions for the best experience.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00016" y="5001768"/>
            <a:ext cx="3035808" cy="45720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21" name="Text 17"/>
          <p:cNvSpPr/>
          <p:nvPr/>
        </p:nvSpPr>
        <p:spPr>
          <a:xfrm>
            <a:off x="4837176" y="500176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193024" y="1783080"/>
            <a:ext cx="3584448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93024" y="1783080"/>
            <a:ext cx="3584448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20"/>
          <p:cNvSpPr/>
          <p:nvPr/>
        </p:nvSpPr>
        <p:spPr>
          <a:xfrm>
            <a:off x="8467344" y="2075688"/>
            <a:ext cx="566928" cy="56692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5" name="Text 21"/>
          <p:cNvSpPr/>
          <p:nvPr/>
        </p:nvSpPr>
        <p:spPr>
          <a:xfrm>
            <a:off x="8467344" y="2075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2093976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67344" y="278892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Playwright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485632" y="3246120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Playwright in your project folder — it installs browsers and sample tests.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the example suite: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467344" y="5001768"/>
            <a:ext cx="3035808" cy="457200"/>
          </a:xfrm>
          <a:prstGeom prst="rect">
            <a:avLst/>
          </a:prstGeom>
          <a:solidFill>
            <a:srgbClr val="0F2A3F"/>
          </a:solidFill>
          <a:ln/>
        </p:spPr>
      </p:sp>
      <p:sp>
        <p:nvSpPr>
          <p:cNvPr id="30" name="Text 25"/>
          <p:cNvSpPr/>
          <p:nvPr/>
        </p:nvSpPr>
        <p:spPr>
          <a:xfrm>
            <a:off x="8604504" y="5001768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playwright@latest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SESSIONS · JUN 4 – JUL 8,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Learning 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32688" y="1627632"/>
            <a:ext cx="8586216" cy="0"/>
          </a:xfrm>
          <a:prstGeom prst="line">
            <a:avLst/>
          </a:prstGeom>
          <a:noFill/>
          <a:ln w="38100">
            <a:solidFill>
              <a:srgbClr val="1638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463040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920240"/>
            <a:ext cx="2697480" cy="324612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20240"/>
            <a:ext cx="269748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5237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1–5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Foundations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functions, OOP, generics and async programming.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146304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920240"/>
            <a:ext cx="2697480" cy="324612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1920240"/>
            <a:ext cx="269748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776472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76472" y="25237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6–10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3776472" y="3127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Essentials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776472" y="38862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first scripts, locators, features &amp; CLI options.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28232" y="146304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1920240"/>
            <a:ext cx="2697480" cy="324612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1920240"/>
            <a:ext cx="26974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638544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8544" y="25237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11–15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638544" y="3127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Interactions &amp; Frameworks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638544" y="38862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Frames, windows, files, assertions, hooks &amp; data-driven tests.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90304" y="1463040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9244584" y="1920240"/>
            <a:ext cx="2697480" cy="324612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44584" y="192024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9500616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0616" y="25237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16–20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9500616" y="31272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&amp; CI/CD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500616" y="38862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Fixtures, visual testing, reporting, POM &amp; GitHub Actions.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Sudeshna (TypeScript)   ·   Ajithkumar (Playwright)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3291840" cy="3291840"/>
          </a:xfrm>
          <a:prstGeom prst="ellipse">
            <a:avLst/>
          </a:prstGeom>
          <a:solidFill>
            <a:srgbClr val="16384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234440"/>
            <a:ext cx="868680" cy="8686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824" y="146898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402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Get Started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1371600" y="31546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environment today — we begin TypeScript Fundamentals next session.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58088" y="4160520"/>
            <a:ext cx="3108960" cy="150876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32408" y="461772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85" y="4778197"/>
            <a:ext cx="273406" cy="27340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32408" y="4617720"/>
            <a:ext cx="594360" cy="594360"/>
          </a:xfrm>
          <a:prstGeom prst="ellipse">
            <a:avLst/>
          </a:prstGeom>
          <a:ln w="17780">
            <a:solidFill>
              <a:srgbClr val="14B8A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63928" y="4544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the Stack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163928" y="49286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VS Code · Playwright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41368" y="4160520"/>
            <a:ext cx="3108960" cy="150876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15688" y="4617720"/>
            <a:ext cx="594360" cy="59436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65" y="477819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47208" y="4544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Day 1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547208" y="49286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TypeScript concepts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924648" y="4160520"/>
            <a:ext cx="3108960" cy="1508760"/>
          </a:xfrm>
          <a:prstGeom prst="rect">
            <a:avLst/>
          </a:prstGeom>
          <a:solidFill>
            <a:srgbClr val="16384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98968" y="4617720"/>
            <a:ext cx="594360" cy="5943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A3F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445" y="4778197"/>
            <a:ext cx="273406" cy="27340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98968" y="4617720"/>
            <a:ext cx="594360" cy="594360"/>
          </a:xfrm>
          <a:prstGeom prst="ellipse">
            <a:avLst/>
          </a:prstGeom>
          <a:ln w="17780">
            <a:solidFill>
              <a:srgbClr val="14B8A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930488" y="4544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On Time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930488" y="49286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3:00 – 4:30 PM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Automation Kickoff — Playwright with TypeScript</dc:title>
  <dc:subject>PptxGenJS Presentation</dc:subject>
  <dc:creator>Automation Training Team</dc:creator>
  <cp:lastModifiedBy>Automation Training Team</cp:lastModifiedBy>
  <cp:revision>1</cp:revision>
  <dcterms:created xsi:type="dcterms:W3CDTF">2026-06-05T09:02:39Z</dcterms:created>
  <dcterms:modified xsi:type="dcterms:W3CDTF">2026-06-05T09:02:39Z</dcterms:modified>
</cp:coreProperties>
</file>