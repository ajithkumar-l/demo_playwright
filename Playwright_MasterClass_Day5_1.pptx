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6931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9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14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4864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63040" y="777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800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457200" y="1737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Class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Pages, Files, Assertions &amp; Annotations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457200" y="3840480"/>
            <a:ext cx="914400" cy="45720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Tabs · navigation events · uploads · downloads · expect · @tags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topics · finishing the master class strong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13232" y="1463040"/>
            <a:ext cx="502920" cy="5029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13232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4904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Tabs, Pages &amp; Windows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17556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BrowserContext · popups · multiple tabs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589520" y="15544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13232" y="2148840"/>
            <a:ext cx="502920" cy="5029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13232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21762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&amp; Load Events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24414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load, domcontentloaded, networkidle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589520" y="22402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13232" y="2834640"/>
            <a:ext cx="502920" cy="5029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13232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28620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Files: Upload, Download, Delete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31272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setInputFiles · waitForEvent('download')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589520" y="2926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3232" y="3520440"/>
            <a:ext cx="502920" cy="5029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13232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35478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Assertions &amp; Annotations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38130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 API · test.skip · @smoke tags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589520" y="36118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 ·  Playwright Master Class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· Context · Page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concepts to keep straight before handling multiple tabs.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8046720" cy="9601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73152" cy="960120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459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508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46304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Chromium / Firefox / WebKit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0" y="16459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running browser process. Heavy. Shared across many contexts.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48640" y="2468880"/>
            <a:ext cx="8046720" cy="9601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548640" y="2468880"/>
            <a:ext cx="73152" cy="960120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74320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63040" y="2606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BrowserContext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46304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isolated, incognito-like session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572000" y="27432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Cookies, storage, permissions — all scoped here. Each test gets its own.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48640" y="3566160"/>
            <a:ext cx="8046720" cy="9601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548640" y="3566160"/>
            <a:ext cx="73152" cy="960120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840480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63040" y="3703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1463040" y="4069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tab inside a context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4572000" y="38404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usually interact with. A context can have many pages.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 ·  Playwright Master Class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· Context · Page — Visual Reference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nest inside each other in a running test.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4754880" cy="3383280"/>
          </a:xfrm>
          <a:prstGeom prst="rect">
            <a:avLst/>
          </a:prstGeom>
          <a:solidFill>
            <a:srgbClr val="F1F5F9"/>
          </a:solidFill>
          <a:ln w="190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8988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371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(Chromium process)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77240" y="1783080"/>
            <a:ext cx="4297680" cy="1325880"/>
          </a:xfrm>
          <a:prstGeom prst="rect">
            <a:avLst/>
          </a:prstGeom>
          <a:solidFill>
            <a:srgbClr val="DCFCE7"/>
          </a:solidFill>
          <a:ln w="15240">
            <a:solidFill>
              <a:srgbClr val="2EAD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1874520"/>
            <a:ext cx="228600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61288" y="18562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BrowserContext A — incognito #1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960120" y="2240280"/>
            <a:ext cx="18288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2EAD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848" y="246888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2286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1417320" y="2560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2971800" y="2240280"/>
            <a:ext cx="18288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2EAD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1528" y="2468880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429000" y="2286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3429000" y="25603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</a:t>
            </a:r>
            <a:endParaRPr lang="en-US" sz="850" dirty="0"/>
          </a:p>
        </p:txBody>
      </p:sp>
      <p:sp>
        <p:nvSpPr>
          <p:cNvPr id="19" name="Shape 13"/>
          <p:cNvSpPr/>
          <p:nvPr/>
        </p:nvSpPr>
        <p:spPr>
          <a:xfrm>
            <a:off x="777240" y="3246120"/>
            <a:ext cx="4297680" cy="914400"/>
          </a:xfrm>
          <a:prstGeom prst="rect">
            <a:avLst/>
          </a:prstGeom>
          <a:solidFill>
            <a:srgbClr val="FEF3C7"/>
          </a:solidFill>
          <a:ln w="1524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3337560"/>
            <a:ext cx="228600" cy="2286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61288" y="33192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BrowserContext B — incognito #2</a:t>
            </a:r>
            <a:endParaRPr lang="en-US" sz="1050" dirty="0"/>
          </a:p>
        </p:txBody>
      </p:sp>
      <p:sp>
        <p:nvSpPr>
          <p:cNvPr id="22" name="Shape 15"/>
          <p:cNvSpPr/>
          <p:nvPr/>
        </p:nvSpPr>
        <p:spPr>
          <a:xfrm>
            <a:off x="960120" y="3657600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848" y="3721608"/>
            <a:ext cx="256032" cy="256032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417320" y="36576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</a:t>
            </a:r>
            <a:endParaRPr lang="en-US" sz="100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2120" y="1280160"/>
            <a:ext cx="365760" cy="36576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5989320" y="12801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Contexts are isolated</a:t>
            </a:r>
            <a:endParaRPr lang="en-US" sz="1200" dirty="0"/>
          </a:p>
        </p:txBody>
      </p:sp>
      <p:sp>
        <p:nvSpPr>
          <p:cNvPr id="27" name="Text 18"/>
          <p:cNvSpPr/>
          <p:nvPr/>
        </p:nvSpPr>
        <p:spPr>
          <a:xfrm>
            <a:off x="5989320" y="157276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Cookies, localStorage, permissions — none leak between contexts.</a:t>
            </a:r>
            <a:endParaRPr lang="en-US" sz="100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32120" y="2148840"/>
            <a:ext cx="365760" cy="365760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5989320" y="21488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test = its own context</a:t>
            </a:r>
            <a:endParaRPr lang="en-US" sz="1200" dirty="0"/>
          </a:p>
        </p:txBody>
      </p:sp>
      <p:sp>
        <p:nvSpPr>
          <p:cNvPr id="30" name="Text 20"/>
          <p:cNvSpPr/>
          <p:nvPr/>
        </p:nvSpPr>
        <p:spPr>
          <a:xfrm>
            <a:off x="5989320" y="244144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default the test runner gives every test a fresh context for isolation.</a:t>
            </a:r>
            <a:endParaRPr lang="en-US" sz="1000" dirty="0"/>
          </a:p>
        </p:txBody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3017520"/>
            <a:ext cx="365760" cy="365760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5989320" y="30175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context can hold many pages</a:t>
            </a:r>
            <a:endParaRPr lang="en-US" sz="1200" dirty="0"/>
          </a:p>
        </p:txBody>
      </p:sp>
      <p:sp>
        <p:nvSpPr>
          <p:cNvPr id="33" name="Text 22"/>
          <p:cNvSpPr/>
          <p:nvPr/>
        </p:nvSpPr>
        <p:spPr>
          <a:xfrm>
            <a:off x="5989320" y="331012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multiple tabs for the same user session — they share cookies.</a:t>
            </a:r>
            <a:endParaRPr lang="en-US" sz="1000" dirty="0"/>
          </a:p>
        </p:txBody>
      </p:sp>
      <p:pic>
        <p:nvPicPr>
          <p:cNvPr id="34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32120" y="3886200"/>
            <a:ext cx="365760" cy="365760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5989320" y="38862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browser, many contexts</a:t>
            </a:r>
            <a:endParaRPr lang="en-US" sz="1200" dirty="0"/>
          </a:p>
        </p:txBody>
      </p:sp>
      <p:sp>
        <p:nvSpPr>
          <p:cNvPr id="36" name="Text 24"/>
          <p:cNvSpPr/>
          <p:nvPr/>
        </p:nvSpPr>
        <p:spPr>
          <a:xfrm>
            <a:off x="5989320" y="417880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tests reuse the same browser process but get their own contexts.</a:t>
            </a:r>
            <a:endParaRPr lang="en-US" sz="1000" dirty="0"/>
          </a:p>
        </p:txBody>
      </p:sp>
      <p:sp>
        <p:nvSpPr>
          <p:cNvPr id="37" name="Text 25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 ·  Playwright Master Class</a:t>
            </a:r>
            <a:endParaRPr lang="en-US" sz="900" dirty="0"/>
          </a:p>
        </p:txBody>
      </p:sp>
      <p:sp>
        <p:nvSpPr>
          <p:cNvPr id="38" name="Text 26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Browser · Context · Page in Code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tests get a 'page' fixture for free — but here's what's happening under the hood.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4754880" cy="35204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58368" y="134416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95528" y="134416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932688" y="134416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31520" y="1554480"/>
            <a:ext cx="44805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chromium } from '@playwright/test';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1) Launch the browser PROCESS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browser = await chromium.launch({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headless: false,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2) Create an ISOLATED context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context = await browser.newContext({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viewport: { width: 1280, height: 720 },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locale: 'en-IN',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3) Open a tab (Page)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page = await context.newPage();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page.goto('https://example.com');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4) Tidy up — reverse order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page.close();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context.close();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browser.close();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0" y="1280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Playwright Test — even simpler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0" y="1600200"/>
            <a:ext cx="3108960" cy="15087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5596128" y="170992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733288" y="170992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870448" y="170992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669280" y="1920240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test, expect } from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'@playwright/test';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test('login', async ({ page }) =&gt;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page is auto-injected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page.goto('/login');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0" y="3246120"/>
            <a:ext cx="3108960" cy="1417320"/>
          </a:xfrm>
          <a:prstGeom prst="rect">
            <a:avLst/>
          </a:prstGeom>
          <a:solidFill>
            <a:srgbClr val="F1F5F9"/>
          </a:solidFill>
          <a:ln w="6350">
            <a:solidFill>
              <a:srgbClr val="2EAD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3383280"/>
            <a:ext cx="274320" cy="274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943600" y="33101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runner does for you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623560" y="361188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Launches the browser once per worker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Creates a fresh context per test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Opens one page in that context</a:t>
            </a:r>
            <a:endParaRPr lang="en-US" sz="9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9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Closes everything when the test ends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 ·  Playwright Master Class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the Browser Launches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steps from chromium.launch() to a usable Page.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697480" cy="16916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73152" cy="1691640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173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4173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Spawn the browser process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192024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forks a real Chromium / Firefox / WebKit binary on your machine.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73552" y="1234440"/>
            <a:ext cx="2697480" cy="16916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3273552" y="1234440"/>
            <a:ext cx="73152" cy="1691640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6432" y="141732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13632" y="14173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Open a WebSocket channel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456432" y="192024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bi-directional connection — CDP for Chromium, patched for others.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089904" y="1234440"/>
            <a:ext cx="2697480" cy="16916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6089904" y="1234440"/>
            <a:ext cx="73152" cy="1691640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141732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29984" y="14173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Browser object returned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272784" y="192024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script receives a Browser handle once the channel is ready.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57200" y="3044952"/>
            <a:ext cx="2697480" cy="16916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457200" y="3044952"/>
            <a:ext cx="73152" cy="1691640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227832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97280" y="322783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Create a BrowserContext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640080" y="3730752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session — own cookies, storage, permissions. No data from previous tests.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3273552" y="3044952"/>
            <a:ext cx="2697480" cy="16916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0"/>
          <p:cNvSpPr/>
          <p:nvPr/>
        </p:nvSpPr>
        <p:spPr>
          <a:xfrm>
            <a:off x="3273552" y="3044952"/>
            <a:ext cx="73152" cy="1691640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56432" y="3227832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913632" y="322783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Open a Page (tab)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3456432" y="3730752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context spawns an empty about:blank tab — you now have a Page object.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6089904" y="3044952"/>
            <a:ext cx="2697480" cy="16916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4"/>
          <p:cNvSpPr/>
          <p:nvPr/>
        </p:nvSpPr>
        <p:spPr>
          <a:xfrm>
            <a:off x="6089904" y="3044952"/>
            <a:ext cx="73152" cy="1691640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2784" y="3227832"/>
            <a:ext cx="365760" cy="36576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729984" y="322783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page.goto() navigates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6272784" y="3730752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tells the browser to load the URL and auto-waits to 'load'.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 ·  Playwright Master Class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New Tabs / Pop-ups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tab is a new Page — listen for it before the trigger fires.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4754880" cy="35204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58368" y="134416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95528" y="134416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932688" y="134416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31520" y="1554480"/>
            <a:ext cx="44805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PATTERN: waitForEvent + action (in parallel)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[newTab] = await Promise.all([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context.waitForEvent('page'),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page.getByRole('link', { name: 'Open report' }).click(),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newTab is a fully usable Page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newTab.waitForLoadState();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expect(newTab).toHaveURL(/\/report/);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Use it like any other page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newTab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.getByRole('button', { name: 'Download PDF' })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.click();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Close when done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newTab.close();</a:t>
            </a:r>
            <a:endParaRPr lang="en-US" sz="10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128016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03504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BEFORE the click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035040" y="157276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Promise.all so the listener is registered first. Otherwise you miss the event.</a:t>
            </a:r>
            <a:endParaRPr lang="en-US" sz="10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214884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035040" y="2148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tab is a Page object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035040" y="244144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API — getByRole, fill, expect — all work on the new tab.</a:t>
            </a:r>
            <a:endParaRPr lang="en-US" sz="10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840" y="301752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035040" y="3017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waitForLoadState first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035040" y="33101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use a web-first assertion. Don't act on an empty page.</a:t>
            </a:r>
            <a:endParaRPr lang="en-US" sz="10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840" y="3886200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035040" y="3886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target='_blank' triggers it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6035040" y="417880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popups; sometimes window.open or middle-click also fire 'page'.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 ·  Playwright Master Class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Tabs in One Context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open tabs are reachable via context.pages() — switch by index or URL.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reference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13232" y="1600200"/>
            <a:ext cx="39319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13232" y="1600200"/>
            <a:ext cx="3931920" cy="36576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77240" y="1627632"/>
            <a:ext cx="1234440" cy="310896"/>
          </a:xfrm>
          <a:prstGeom prst="rect">
            <a:avLst/>
          </a:prstGeom>
          <a:solidFill>
            <a:srgbClr val="E2E8F0"/>
          </a:solidFill>
          <a:ln w="508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22960" y="16276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Inbox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737360" y="1627632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[0]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057400" y="1627632"/>
            <a:ext cx="123444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103120" y="16276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017520" y="1627632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337560" y="1627632"/>
            <a:ext cx="1234440" cy="310896"/>
          </a:xfrm>
          <a:prstGeom prst="rect">
            <a:avLst/>
          </a:prstGeom>
          <a:solidFill>
            <a:srgbClr val="E2E8F0"/>
          </a:solidFill>
          <a:ln w="508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383280" y="16276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97680" y="1627632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868680" y="2103120"/>
            <a:ext cx="3657600" cy="274320"/>
          </a:xfrm>
          <a:prstGeom prst="rect">
            <a:avLst/>
          </a:prstGeom>
          <a:solidFill>
            <a:srgbClr val="F1F5F9"/>
          </a:solidFill>
          <a:ln w="508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960120" y="2103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https://app.example.com/report/Q3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68680" y="2560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page content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context.pages()[1] = this tab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68680" y="4160520"/>
            <a:ext cx="3657600" cy="365760"/>
          </a:xfrm>
          <a:prstGeom prst="rect">
            <a:avLst/>
          </a:prstGeom>
          <a:solidFill>
            <a:srgbClr val="DCFC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68680" y="4160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tabs open in one BrowserContext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1280160"/>
            <a:ext cx="3749040" cy="33375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956048" y="138988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5093208" y="138988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5230368" y="138988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029200" y="1600200"/>
            <a:ext cx="34747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1) All pages currently open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pages = context.pages();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console.log(pages.length);   // 3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2) Switch to one by index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pages[1]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.getByRole('button', { name: 'Export' })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.click();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3) Or find one by URL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report = pages.find(p =&gt;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p.url().includes('/report')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report?.bringToFront();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4) Close a specific tab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pages[2].close();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 ·  Playwright Master Class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&amp; Load Events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load states — each fires at a different point of a page's lifecycle.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13232" y="1737360"/>
            <a:ext cx="7772400" cy="73152"/>
          </a:xfrm>
          <a:prstGeom prst="rect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252728" y="1655064"/>
            <a:ext cx="237744" cy="237744"/>
          </a:xfrm>
          <a:prstGeom prst="ellipse">
            <a:avLst/>
          </a:prstGeom>
          <a:solidFill>
            <a:srgbClr val="47556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changed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990088" y="1655064"/>
            <a:ext cx="237744" cy="237744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194560" y="1325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domcontentloaded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94560" y="1965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parsed, DOM ready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93208" y="1655064"/>
            <a:ext cx="237744" cy="237744"/>
          </a:xfrm>
          <a:prstGeom prst="ellipse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297680" y="1325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97680" y="1965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resources loaded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470648" y="1655064"/>
            <a:ext cx="237744" cy="237744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675120" y="1325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networkidle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675120" y="1965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requests for 500ms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13232" y="2331720"/>
            <a:ext cx="7772400" cy="23774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822960" y="244144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960120" y="244144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1097280" y="244144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96112" y="2651760"/>
            <a:ext cx="7498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1) Most tests: just navigate — auto-waits to 'load'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page.goto('https://app.example.com');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2) Faster smoke test — DOM ready is enough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page.goto('/', { waitUntil: 'domcontentloaded' });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3) SPAs / lazy-loaded data — wait for network calm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page.waitForLoadState('networkidle');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4) Wait for a navigation triggered by an action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Promise.all([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page.waitForURL(/\/dashboard/),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page.getByRole('button', { name: 'Sign in' }).click(),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]);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 ·  Playwright Master Class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Load State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13232" y="1188720"/>
            <a:ext cx="502920" cy="502920"/>
          </a:xfrm>
          <a:prstGeom prst="ellipse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13232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1188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'load' (no waitUntil)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600200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155448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page navigations — page.goto() waits here by default.</a:t>
            </a:r>
            <a:endParaRPr lang="en-US" sz="10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1901952"/>
            <a:ext cx="182880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45920" y="185623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in 95% of cases. Slow for sites with heavy images.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713232" y="2331720"/>
            <a:ext cx="502920" cy="502920"/>
          </a:xfrm>
          <a:prstGeom prst="ellipse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713232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1371600" y="2331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'domcontentloaded'</a:t>
            </a:r>
            <a:endParaRPr lang="en-US" sz="14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743200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45920" y="269748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markup is ready; fastest. Good for smoke tests.</a:t>
            </a:r>
            <a:endParaRPr lang="en-US" sz="10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3044952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645920" y="299923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Lazy-loaded content (images, JS chunks) won't be ready yet.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713232" y="3474720"/>
            <a:ext cx="502920" cy="502920"/>
          </a:xfrm>
          <a:prstGeom prst="ellipse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3"/>
          <p:cNvSpPr/>
          <p:nvPr/>
        </p:nvSpPr>
        <p:spPr>
          <a:xfrm>
            <a:off x="713232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1371600" y="3474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'networkidle'</a:t>
            </a:r>
            <a:endParaRPr lang="en-US" sz="14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886200"/>
            <a:ext cx="182880" cy="1828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645920" y="384048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SPAs that fetch data on mount — wait for everything to settle.</a:t>
            </a:r>
            <a:endParaRPr lang="en-US" sz="105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4187952"/>
            <a:ext cx="182880" cy="18288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645920" y="414223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hang if the app keeps polling. Prefer web-first asserts.</a:t>
            </a:r>
            <a:endParaRPr lang="en-US" sz="1050" dirty="0"/>
          </a:p>
        </p:txBody>
      </p:sp>
      <p:sp>
        <p:nvSpPr>
          <p:cNvPr id="25" name="Text 17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 ·  Playwright Master Class</a:t>
            </a:r>
            <a:endParaRPr lang="en-US" sz="900" dirty="0"/>
          </a:p>
        </p:txBody>
      </p:sp>
      <p:sp>
        <p:nvSpPr>
          <p:cNvPr id="26" name="Text 18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setInputFiles() — bypasses the native file picker entirely.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3232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reference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13232" y="1600200"/>
            <a:ext cx="3931920" cy="1280160"/>
          </a:xfrm>
          <a:prstGeom prst="rect">
            <a:avLst/>
          </a:prstGeom>
          <a:solidFill>
            <a:srgbClr val="F1F5F9"/>
          </a:solidFill>
          <a:ln w="12700">
            <a:solidFill>
              <a:srgbClr val="2EAD33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0" y="17830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3232" y="2286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files or click to browse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3232" y="2560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type='file' /&gt;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713232" y="3108960"/>
            <a:ext cx="3931920" cy="411480"/>
          </a:xfrm>
          <a:prstGeom prst="rect">
            <a:avLst/>
          </a:prstGeom>
          <a:solidFill>
            <a:srgbClr val="DCFCE7"/>
          </a:solidFill>
          <a:ln w="6350">
            <a:solidFill>
              <a:srgbClr val="2EAD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182112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88720" y="31089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invoice-2026.pdf  ·  42 KB</a:t>
            </a:r>
            <a:endParaRPr lang="en-US" sz="11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3200400"/>
            <a:ext cx="228600" cy="22860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846320" y="1280160"/>
            <a:ext cx="3749040" cy="35204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0"/>
          <p:cNvSpPr/>
          <p:nvPr/>
        </p:nvSpPr>
        <p:spPr>
          <a:xfrm>
            <a:off x="4956048" y="138988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1"/>
          <p:cNvSpPr/>
          <p:nvPr/>
        </p:nvSpPr>
        <p:spPr>
          <a:xfrm>
            <a:off x="5093208" y="138988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2"/>
          <p:cNvSpPr/>
          <p:nvPr/>
        </p:nvSpPr>
        <p:spPr>
          <a:xfrm>
            <a:off x="5230368" y="138988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3"/>
          <p:cNvSpPr/>
          <p:nvPr/>
        </p:nvSpPr>
        <p:spPr>
          <a:xfrm>
            <a:off x="5029200" y="1600200"/>
            <a:ext cx="34747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1) Single file (path)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page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.getByLabel('Upload invoice')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.setInputFiles('./fixtures/invoice.pdf');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2) Multiple files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page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.getByLabel('Photos')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.setInputFiles(['./a.jpg', './b.jpg']);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3) From a Buffer (no file on disk)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input.setInputFiles({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'data.csv',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mimeType: 'text/csv',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buffer: Buffer.from('a,b,c\n1,2,3'),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4) Clear the selection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input.setInputFiles([]);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 ·  Playwright Master Class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Download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for the 'download' event in parallel with the trigger click.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4754880" cy="35204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58368" y="134416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95528" y="134416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932688" y="134416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31520" y="1554480"/>
            <a:ext cx="44805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PATTERN: waitForEvent + action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[download] = await Promise.all([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page.waitForEvent('download'),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page.getByRole('link', { name: 'Export CSV' }).click(),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1) Suggested filename from the server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console.log(download.suggestedFilename());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2) Save to a chosen path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saveTo = `./downloads/${download.suggestedFilename()}`;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download.saveAs(saveTo);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3) Or read as a stream/Buffer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stream = await download.createReadStream();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4) Assert the file is real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fs from 'fs';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expect(fs.existsSync(saveTo)).toBe(true);</a:t>
            </a:r>
            <a:endParaRPr lang="en-US" sz="10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128016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03504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download.path()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035040" y="157276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temp path Playwright saved it to.</a:t>
            </a:r>
            <a:endParaRPr lang="en-US" sz="10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214884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035040" y="2148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download.saveAs(dest)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035040" y="244144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the file to your chosen location.</a:t>
            </a:r>
            <a:endParaRPr lang="en-US" sz="10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840" y="301752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035040" y="3017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Auto-cleanup after test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035040" y="33101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files are deleted unless preserved by the trace.</a:t>
            </a:r>
            <a:endParaRPr lang="en-US" sz="10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840" y="3886200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035040" y="3886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 / failed downloads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6035040" y="417880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 download.failure() — null on success.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 ·  Playwright Master Class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Deleting an Uploaded File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angles: clearing the input on the page, and removing the test fixture from disk.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4023360" cy="32918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4173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417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the file from the UI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13232" y="1828800"/>
            <a:ext cx="3703320" cy="16916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822960" y="193852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960120" y="193852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1097280" y="193852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896112" y="2148840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1) Empty array clears the input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page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.getByLabel('Resume')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.setInputFiles([]);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2) Or click the app's own X button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page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.getByRole('button', { name: 'Remove' })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.click();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13232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assert the upload is gone: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13232" y="39319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expect(input).toHaveValue('');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13232" y="420624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AD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expect(chip).toBeHidden();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754880" y="1280160"/>
            <a:ext cx="3931920" cy="32918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417320"/>
            <a:ext cx="320040" cy="3200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303520" y="1417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up the file on disk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4919472" y="1828800"/>
            <a:ext cx="3703320" cy="16916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6"/>
          <p:cNvSpPr/>
          <p:nvPr/>
        </p:nvSpPr>
        <p:spPr>
          <a:xfrm>
            <a:off x="5029200" y="193852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7"/>
          <p:cNvSpPr/>
          <p:nvPr/>
        </p:nvSpPr>
        <p:spPr>
          <a:xfrm>
            <a:off x="5166360" y="193852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8"/>
          <p:cNvSpPr/>
          <p:nvPr/>
        </p:nvSpPr>
        <p:spPr>
          <a:xfrm>
            <a:off x="5303520" y="193852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19"/>
          <p:cNvSpPr/>
          <p:nvPr/>
        </p:nvSpPr>
        <p:spPr>
          <a:xfrm>
            <a:off x="5102352" y="2148840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fs from 'fs';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test(‘Check the </a:t>
            </a:r>
            <a:r>
              <a:rPr lang="en-US" sz="1000" dirty="0" err="1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Delete’,async</a:t>
            </a: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() =&gt;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Delete the downloaded file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(fs.existsSync(saveTo))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fs.unlinkSync(saveTo);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4919472" y="365760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clean up in afterEach so tests stay independent.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4919472" y="406908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a tmp dir per test avoids file collisions in parallel runs.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 ·  Playwright Master Class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Assertions — The expect API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Web-first assertions retry until they pass or hit the timeout.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" y="1280160"/>
          <a:ext cx="4572000" cy="2926080"/>
        </p:xfrm>
        <a:graphic>
          <a:graphicData uri="http://schemas.openxmlformats.org/drawingml/2006/table">
            <a:tbl>
              <a:tblPr/>
              <a:tblGrid>
                <a:gridCol w="2606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EAD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toBeVisible() / toBeHidden()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 on / off screen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EAD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toHaveText(value)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text match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EAD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toContainText(value)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text match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EAD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toHaveValue(value)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or select 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EAD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toBeEnabled() / toBeDisabled()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control state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EAD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toBeChecked()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Checkbox / radio state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EAD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toHaveURL(value)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page URL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EAD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toHaveCount(n)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Locator matches n times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2EAD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toHaveScreenshot()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 regression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0" y="1280160"/>
            <a:ext cx="3108960" cy="32918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5596128" y="138988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5733288" y="138988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5870448" y="138988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5669280" y="1600200"/>
            <a:ext cx="2834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1) Standard — retries until pass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expect(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page.getByText('Saved')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).toBeVisible();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2) Soft — keeps test running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expect.soft(price)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.toHaveText('$99');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3) Negated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expect(spinner)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.not.toBeVisible();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4) Custom timeout (default 5s)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expect(banner)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.toBeVisible({ timeout: 15000 });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 ·  Playwright Master Class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Annotations — Skip · Only · Fail · Slow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how the runner treats individual tests.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697480" cy="16916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73152" cy="1691640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1732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399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test.skip()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18745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run this test — marked as skipped in the report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40080" y="25146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test.skip(isMobile, 'desktop only')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273552" y="1234440"/>
            <a:ext cx="2697480" cy="16916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3273552" y="1234440"/>
            <a:ext cx="73152" cy="1691640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6432" y="141732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867912" y="1399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test.only()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456432" y="18745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ONLY this test in the file — great for local dev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3456432" y="25146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test.only('one failing case', ...)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089904" y="1234440"/>
            <a:ext cx="2697480" cy="16916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6089904" y="1234440"/>
            <a:ext cx="73152" cy="1691640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141732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684264" y="1399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test.fail()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272784" y="187452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as expected to fail — passes if it fails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6272784" y="25146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test.fail(); // known bug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457200" y="3044952"/>
            <a:ext cx="2697480" cy="16916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19"/>
          <p:cNvSpPr/>
          <p:nvPr/>
        </p:nvSpPr>
        <p:spPr>
          <a:xfrm>
            <a:off x="457200" y="3044952"/>
            <a:ext cx="73152" cy="1691640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227832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51560" y="32095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test.slow()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640080" y="368503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the timeout for this test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640080" y="432511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test.slow(); // heavy workflow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3273552" y="3044952"/>
            <a:ext cx="2697480" cy="16916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4"/>
          <p:cNvSpPr/>
          <p:nvPr/>
        </p:nvSpPr>
        <p:spPr>
          <a:xfrm>
            <a:off x="3273552" y="3044952"/>
            <a:ext cx="73152" cy="1691640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56432" y="3227832"/>
            <a:ext cx="320040" cy="32004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867912" y="32095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test.fixme()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3456432" y="368503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+ flag for follow-up — appears in reports</a:t>
            </a:r>
            <a:endParaRPr lang="en-US" sz="950" dirty="0"/>
          </a:p>
        </p:txBody>
      </p:sp>
      <p:sp>
        <p:nvSpPr>
          <p:cNvPr id="34" name="Text 27"/>
          <p:cNvSpPr/>
          <p:nvPr/>
        </p:nvSpPr>
        <p:spPr>
          <a:xfrm>
            <a:off x="3456432" y="432511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test.fixme('flaky on Safari')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6089904" y="3044952"/>
            <a:ext cx="2697480" cy="16916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29"/>
          <p:cNvSpPr/>
          <p:nvPr/>
        </p:nvSpPr>
        <p:spPr>
          <a:xfrm>
            <a:off x="6089904" y="3044952"/>
            <a:ext cx="73152" cy="1691640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2784" y="3227832"/>
            <a:ext cx="320040" cy="32004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684264" y="32095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test.info().annotations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6272784" y="368503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custom metadata — links, JIRA IDs, etc.</a:t>
            </a:r>
            <a:endParaRPr lang="en-US" sz="950" dirty="0"/>
          </a:p>
        </p:txBody>
      </p:sp>
      <p:sp>
        <p:nvSpPr>
          <p:cNvPr id="40" name="Text 32"/>
          <p:cNvSpPr/>
          <p:nvPr/>
        </p:nvSpPr>
        <p:spPr>
          <a:xfrm>
            <a:off x="6272784" y="432511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info.annotations.push({ type:'issue' })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 ·  Playwright Master Class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37160" cy="137160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713232" y="32004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— Grouping Tests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@tags in test titles to slice your suite from the CLI.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4754880" cy="35204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58368" y="134416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95528" y="134416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932688" y="134416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31520" y="1554480"/>
            <a:ext cx="44805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1) Tag inside the title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test('@smoke login works', async ({ page }) =&gt;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...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test('@regression password reset', async ({ page }) =&gt;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...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2) Or the modern { tag } field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test('checkout',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tag: ['@smoke', '@critical'] },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async ({ page }) =&gt; { /* ... */ 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3) Whole describe block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test.describe('Payments @flaky', () =&gt;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every test inherits @flaky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0" y="1280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by tag from the CLI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0" y="1600200"/>
            <a:ext cx="3108960" cy="30175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5596128" y="170992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733288" y="170992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870448" y="170992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669280" y="1920240"/>
            <a:ext cx="2834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 only @smoke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playwright test \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--grep @smoke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 @smoke AND @critical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--grep "@smoke.*@critical"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Skip @flaky tests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playwright test \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--grep-invert @flaky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 ·  Playwright Master Class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48640" cy="548640"/>
          </a:xfrm>
          <a:prstGeom prst="ellipse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" y="5029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— Recap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09728" cy="109728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77240" y="114300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&gt; BrowserContext &gt; Page — keep the hierarchy in mind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563624"/>
            <a:ext cx="109728" cy="109728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77240" y="1472184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tabs: Promise.all([ context.waitForEvent('page'), click ])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1892808"/>
            <a:ext cx="109728" cy="109728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77240" y="180136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tabs all live in context.pages() — index or find by URL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221992"/>
            <a:ext cx="109728" cy="109728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77240" y="213055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states: domcontentloaded → load → networkidle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551176"/>
            <a:ext cx="109728" cy="109728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77240" y="2459736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with setInputFiles(path | paths | { buffer })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880360"/>
            <a:ext cx="109728" cy="109728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77240" y="278892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Download: waitForEvent('download') + download.saveAs(path)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209544"/>
            <a:ext cx="109728" cy="109728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77240" y="3118104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Delete: setInputFiles([]) for UI; fs.unlinkSync in afterEach for disk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538728"/>
            <a:ext cx="109728" cy="109728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777240" y="344728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Web-first assertions retry — use expect(locator), not boolean checks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3867912"/>
            <a:ext cx="109728" cy="109728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77240" y="3776472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Annotations: skip · only · fail · slow · fixme · tags for CLI grep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4206240"/>
            <a:ext cx="8229600" cy="594360"/>
          </a:xfrm>
          <a:prstGeom prst="rect">
            <a:avLst/>
          </a:prstGeom>
          <a:solidFill>
            <a:srgbClr val="1E293B"/>
          </a:solidFill>
          <a:ln w="6350">
            <a:solidFill>
              <a:srgbClr val="2EAD3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297680"/>
            <a:ext cx="411480" cy="41148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18872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class complete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188720" y="4480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now build, debug, and scale a real Playwright suite.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57200" y="47777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  ·  Playwright Master Class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8229600" y="47777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91440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6000" dirty="0"/>
          </a:p>
        </p:txBody>
      </p:sp>
      <p:sp>
        <p:nvSpPr>
          <p:cNvPr id="4" name="Shape 1"/>
          <p:cNvSpPr/>
          <p:nvPr/>
        </p:nvSpPr>
        <p:spPr>
          <a:xfrm>
            <a:off x="4114800" y="3017520"/>
            <a:ext cx="914400" cy="45720"/>
          </a:xfrm>
          <a:prstGeom prst="rect">
            <a:avLst/>
          </a:prstGeom>
          <a:solidFill>
            <a:srgbClr val="2EAD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days · 78 slides · one solid foundation in Playwright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go build something with it.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playwright.dev   ·   github.com/microsoft/playwright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2534</Words>
  <Application>Microsoft Office PowerPoint</Application>
  <PresentationFormat>On-screen Show (16:9)</PresentationFormat>
  <Paragraphs>433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Playwright Master Class - Day 5</dc:title>
  <dc:subject>PptxGenJS Presentation</dc:subject>
  <dc:creator>Master Class Instructor</dc:creator>
  <cp:lastModifiedBy>Lakshmanan, Ajithkumar (Cognizant)</cp:lastModifiedBy>
  <cp:revision>2</cp:revision>
  <dcterms:created xsi:type="dcterms:W3CDTF">2026-05-17T19:01:53Z</dcterms:created>
  <dcterms:modified xsi:type="dcterms:W3CDTF">2026-05-17T19:12:33Z</dcterms:modified>
</cp:coreProperties>
</file>