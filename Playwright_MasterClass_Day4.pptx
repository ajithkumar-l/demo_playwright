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9" r:id="rId13"/>
    <p:sldId id="270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0623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4864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63040" y="777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457200" y="1737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Class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7200" dirty="0"/>
          </a:p>
        </p:txBody>
      </p:sp>
      <p:sp>
        <p:nvSpPr>
          <p:cNvPr id="6" name="Text 3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Pickers &amp; Handling Frames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457200" y="3840480"/>
            <a:ext cx="914400" cy="45720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Calendars · iframe locators · nested frames · navigation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Agenda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topics · date pickers and frame-based UIs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13232" y="1371600"/>
            <a:ext cx="502920" cy="4572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13232" y="13716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39903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Pickers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162763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input, custom calendars, range pickers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589520" y="14630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13232" y="1965960"/>
            <a:ext cx="502920" cy="4572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13232" y="19659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19933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Selectors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222199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frameLocator() vs. page.frame() — when to use what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589520" y="20574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13232" y="2560320"/>
            <a:ext cx="502920" cy="4572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13232" y="25603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258775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Accessing Elements in Frames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281635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Locating, clicking, typing inside an iframe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589520" y="26517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13232" y="3154680"/>
            <a:ext cx="502920" cy="4572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13232" y="31546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31821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Frames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71600" y="341071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inside frames — chain frameLocator calls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589520" y="32461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 ·  Playwright Master Class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Pickers — Three Common Flavors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HTML decides the strategy — check the input first.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2788920" cy="32918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2788920" cy="73152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900" y="146304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21031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&lt;input type=date&gt;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02920" y="24231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Mobile-first, browser-rendered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48640" y="27889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spot it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306324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&lt;input type='date'&gt;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ISO format YYYY-MM-DD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48640" y="37947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48640" y="40690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.fill('2026-05-14')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319272" y="1234440"/>
            <a:ext cx="2788920" cy="32918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3319272" y="1234440"/>
            <a:ext cx="2788920" cy="73152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9412" y="1463040"/>
            <a:ext cx="548640" cy="5486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456432" y="21031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calendar widget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3456432" y="24231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MUI, AntD, Bootstrap, jQuery UI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502152" y="27889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spot it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3502152" y="306324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 No date input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Grid of day buttons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3502152" y="37947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3502152" y="40690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click + click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6272784" y="1234440"/>
            <a:ext cx="2788920" cy="32918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0"/>
          <p:cNvSpPr/>
          <p:nvPr/>
        </p:nvSpPr>
        <p:spPr>
          <a:xfrm>
            <a:off x="6272784" y="1234440"/>
            <a:ext cx="2788920" cy="73152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2924" y="1463040"/>
            <a:ext cx="548640" cy="54864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409944" y="21031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with calendar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6409944" y="24231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that opens a popup picker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6455664" y="27889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spot it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6455664" y="306324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Input is read-only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Popup with month nav</a:t>
            </a:r>
            <a:endParaRPr lang="en-US" sz="950" dirty="0"/>
          </a:p>
        </p:txBody>
      </p:sp>
      <p:sp>
        <p:nvSpPr>
          <p:cNvPr id="30" name="Text 25"/>
          <p:cNvSpPr/>
          <p:nvPr/>
        </p:nvSpPr>
        <p:spPr>
          <a:xfrm>
            <a:off x="6455664" y="37947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6455664" y="40690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+ navigate + pick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 ·  Playwright Master Class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&lt;input type='date'&gt;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simplest case — fill() with ISO format and you're done.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3232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reference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13232" y="1600200"/>
            <a:ext cx="3931920" cy="1645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14400" y="1783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of birth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103120"/>
            <a:ext cx="35204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AD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097280" y="2103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14/05/2026</a:t>
            </a:r>
            <a:endParaRPr lang="en-US" sz="13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2212848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14400" y="269748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YYYY-MM-DD (ISO)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13232" y="3474720"/>
            <a:ext cx="3931920" cy="1097280"/>
          </a:xfrm>
          <a:prstGeom prst="rect">
            <a:avLst/>
          </a:prstGeom>
          <a:solidFill>
            <a:srgbClr val="DCFCE7"/>
          </a:solidFill>
          <a:ln w="6350">
            <a:solidFill>
              <a:srgbClr val="2EAD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61188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34440" y="3566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Locale-independent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868680" y="38404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input always accepts ISO format (YYYY-MM-DD) regardless of the user's locale — your test isn't affected by display format.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846320" y="1280160"/>
            <a:ext cx="3749040" cy="33375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4956048" y="138988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5093208" y="138988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5230368" y="138988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6"/>
          <p:cNvSpPr/>
          <p:nvPr/>
        </p:nvSpPr>
        <p:spPr>
          <a:xfrm>
            <a:off x="4924044" y="1954530"/>
            <a:ext cx="359359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1) Plain fill — works on every browser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page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.getByLabel('Date of birth')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.fill('2026-05-14');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2) Assert the value (always ISO)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expect(</a:t>
            </a:r>
            <a:r>
              <a:rPr lang="en-US" sz="1000" dirty="0" err="1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page.getByLabel</a:t>
            </a: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('Date of birth’))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</a:t>
            </a:r>
            <a:r>
              <a:rPr lang="en-US" sz="1000" dirty="0" err="1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toHaveValue</a:t>
            </a: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('2026-05-14');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3) For datetime-local inputs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</a:t>
            </a:r>
            <a:r>
              <a:rPr lang="en-US" sz="1000" dirty="0" err="1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page.getByLabel</a:t>
            </a: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('Appointment')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.fill('2026-05-14T10:30');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 ·  Playwright Master Class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Calendar Widget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· navigate to the right month · click the day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13232" y="1280160"/>
            <a:ext cx="393192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13232" y="1280160"/>
            <a:ext cx="3931920" cy="41148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1389888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70432" y="12801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6824" y="1389888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50392" y="1737360"/>
            <a:ext cx="522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372906" y="1737360"/>
            <a:ext cx="522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895421" y="1737360"/>
            <a:ext cx="522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2417935" y="1737360"/>
            <a:ext cx="522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2940449" y="1737360"/>
            <a:ext cx="522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3462963" y="1737360"/>
            <a:ext cx="522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3985478" y="1737360"/>
            <a:ext cx="522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3462963" y="2057400"/>
            <a:ext cx="5225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3985478" y="2057400"/>
            <a:ext cx="5225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850392" y="2423160"/>
            <a:ext cx="5225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1372906" y="2423160"/>
            <a:ext cx="5225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1895421" y="2423160"/>
            <a:ext cx="5225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2417935" y="2423160"/>
            <a:ext cx="5225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2940449" y="2423160"/>
            <a:ext cx="5225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3462963" y="2423160"/>
            <a:ext cx="5225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3985478" y="2423160"/>
            <a:ext cx="5225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850392" y="2788920"/>
            <a:ext cx="5225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1372906" y="2788920"/>
            <a:ext cx="5225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1895421" y="2788920"/>
            <a:ext cx="5225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2417935" y="2788920"/>
            <a:ext cx="5225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3055402" y="2825496"/>
            <a:ext cx="292608" cy="292608"/>
          </a:xfrm>
          <a:prstGeom prst="ellipse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7"/>
          <p:cNvSpPr/>
          <p:nvPr/>
        </p:nvSpPr>
        <p:spPr>
          <a:xfrm>
            <a:off x="2940449" y="2788920"/>
            <a:ext cx="5225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3462963" y="2788920"/>
            <a:ext cx="5225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3985478" y="2788920"/>
            <a:ext cx="5225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850392" y="3154680"/>
            <a:ext cx="5225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35" name="Text 31"/>
          <p:cNvSpPr/>
          <p:nvPr/>
        </p:nvSpPr>
        <p:spPr>
          <a:xfrm>
            <a:off x="1372906" y="3154680"/>
            <a:ext cx="5225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1895421" y="3154680"/>
            <a:ext cx="5225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37" name="Text 33"/>
          <p:cNvSpPr/>
          <p:nvPr/>
        </p:nvSpPr>
        <p:spPr>
          <a:xfrm>
            <a:off x="2417935" y="3154680"/>
            <a:ext cx="5225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38" name="Text 34"/>
          <p:cNvSpPr/>
          <p:nvPr/>
        </p:nvSpPr>
        <p:spPr>
          <a:xfrm>
            <a:off x="2940449" y="3154680"/>
            <a:ext cx="5225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3462963" y="3154680"/>
            <a:ext cx="5225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40" name="Text 36"/>
          <p:cNvSpPr/>
          <p:nvPr/>
        </p:nvSpPr>
        <p:spPr>
          <a:xfrm>
            <a:off x="3985478" y="3154680"/>
            <a:ext cx="5225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41" name="Text 37"/>
          <p:cNvSpPr/>
          <p:nvPr/>
        </p:nvSpPr>
        <p:spPr>
          <a:xfrm>
            <a:off x="850392" y="3520440"/>
            <a:ext cx="5225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1372906" y="3520440"/>
            <a:ext cx="5225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43" name="Text 39"/>
          <p:cNvSpPr/>
          <p:nvPr/>
        </p:nvSpPr>
        <p:spPr>
          <a:xfrm>
            <a:off x="1895421" y="3520440"/>
            <a:ext cx="5225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44" name="Text 40"/>
          <p:cNvSpPr/>
          <p:nvPr/>
        </p:nvSpPr>
        <p:spPr>
          <a:xfrm>
            <a:off x="2417935" y="3520440"/>
            <a:ext cx="5225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2940449" y="3520440"/>
            <a:ext cx="5225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46" name="Text 42"/>
          <p:cNvSpPr/>
          <p:nvPr/>
        </p:nvSpPr>
        <p:spPr>
          <a:xfrm>
            <a:off x="3462963" y="3520440"/>
            <a:ext cx="5225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47" name="Text 43"/>
          <p:cNvSpPr/>
          <p:nvPr/>
        </p:nvSpPr>
        <p:spPr>
          <a:xfrm>
            <a:off x="3985478" y="3520440"/>
            <a:ext cx="5225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850392" y="3886200"/>
            <a:ext cx="5225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sp>
        <p:nvSpPr>
          <p:cNvPr id="49" name="Shape 45"/>
          <p:cNvSpPr/>
          <p:nvPr/>
        </p:nvSpPr>
        <p:spPr>
          <a:xfrm>
            <a:off x="4846320" y="1280160"/>
            <a:ext cx="3749040" cy="33375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Shape 46"/>
          <p:cNvSpPr/>
          <p:nvPr/>
        </p:nvSpPr>
        <p:spPr>
          <a:xfrm>
            <a:off x="4956048" y="138988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Shape 47"/>
          <p:cNvSpPr/>
          <p:nvPr/>
        </p:nvSpPr>
        <p:spPr>
          <a:xfrm>
            <a:off x="5093208" y="138988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Shape 48"/>
          <p:cNvSpPr/>
          <p:nvPr/>
        </p:nvSpPr>
        <p:spPr>
          <a:xfrm>
            <a:off x="5230368" y="138988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Text 49"/>
          <p:cNvSpPr/>
          <p:nvPr/>
        </p:nvSpPr>
        <p:spPr>
          <a:xfrm>
            <a:off x="5029200" y="1600200"/>
            <a:ext cx="3474720" cy="2628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1) Open the picker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page.getByLabel('Date').click();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2) Navigate months if needed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(await page.getByRole('heading')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.textContent() !== 'May 2026'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page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.getByRole('button', { name: 'Next' })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.click();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3) Click the day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page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.getByRole('button', { name: '14' })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.click();</a:t>
            </a:r>
            <a:endParaRPr lang="en-US" sz="1000" dirty="0"/>
          </a:p>
        </p:txBody>
      </p:sp>
      <p:sp>
        <p:nvSpPr>
          <p:cNvPr id="54" name="Text 50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 ·  Playwright Master Class</a:t>
            </a:r>
            <a:endParaRPr lang="en-US" sz="900" dirty="0"/>
          </a:p>
        </p:txBody>
      </p:sp>
      <p:sp>
        <p:nvSpPr>
          <p:cNvPr id="55" name="Text 51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Picker — Strategies &amp; Tips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13232" y="118872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13232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25880" y="11704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fill() if the input accepts it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25880" y="143560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custom widgets often back onto a real input. Try .fill('2026-05-14') first — if the calendar updates, you're done.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13232" y="1901952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13232" y="1901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25880" y="1883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aria-label on day buttons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25880" y="2148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calendars render &lt;button aria-label='May 14, 2026'&gt;. getByRole('button', { name: 'May 14, 2026' }) is the most stable locator.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13232" y="2615184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13232" y="2615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25880" y="2596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hardcoding 'today'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25880" y="286207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that pick 'today' break in CI across timezones. Compute the target date in code, then use a deterministic locator.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13232" y="3328416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13232" y="3328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25880" y="33101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pickers — two clicks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25880" y="357530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start day, then the end day. Don't drag — clicking is more reliable across libraries.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13232" y="4041648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13232" y="4041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25880" y="4023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the popup to close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25880" y="4288536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selecting, assert the input has the value — this also waits for the popup to dismiss before the next action.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 ·  Playwright Master Class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iframe?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embedded document — its own DOM tree inside the page.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3232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reference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13232" y="1600200"/>
            <a:ext cx="393192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868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page (page)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68680" y="2011680"/>
            <a:ext cx="3657600" cy="3200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960120" y="2011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— accessible via page.locator()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68680" y="2468880"/>
            <a:ext cx="3657600" cy="1828800"/>
          </a:xfrm>
          <a:prstGeom prst="rect">
            <a:avLst/>
          </a:prstGeom>
          <a:solidFill>
            <a:srgbClr val="DCFCE7"/>
          </a:solidFill>
          <a:ln w="19050">
            <a:solidFill>
              <a:srgbClr val="2EAD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005840" y="2560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&lt;iframe&gt; — separate DOM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05840" y="2926080"/>
            <a:ext cx="33832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097280" y="2926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number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005840" y="3337560"/>
            <a:ext cx="16002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097280" y="33375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CVC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697480" y="3337560"/>
            <a:ext cx="16916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788920" y="33375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 MM/YY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05840" y="38404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via page.frameLocator() — NOT page.locator()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iframes exist</a:t>
            </a:r>
            <a:endParaRPr lang="en-US" sz="130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691640"/>
            <a:ext cx="320040" cy="32004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440680" y="1691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widgets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440680" y="1965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Elements, reCAPTCHA, YouTube embeds</a:t>
            </a:r>
            <a:endParaRPr lang="en-US" sz="1000" dirty="0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404872"/>
            <a:ext cx="320040" cy="32004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440680" y="24048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app integration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5440680" y="26791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an older app inside a modern shell</a:t>
            </a:r>
            <a:endParaRPr lang="en-US" sz="1000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3118104"/>
            <a:ext cx="320040" cy="32004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5440680" y="31181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Sandboxed content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5440680" y="339242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&amp; untrusted HTML run in isolation</a:t>
            </a:r>
            <a:endParaRPr lang="en-US" sz="100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3831336"/>
            <a:ext cx="320040" cy="32004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440680" y="38313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Editors &amp; previews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5440680" y="410565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WYSIWYG editors, doc previews, dashboards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 ·  Playwright Master Class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Selectors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APIs for two situations — prefer frameLocator() in modern tests.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4023360" cy="3291840"/>
          </a:xfrm>
          <a:prstGeom prst="rect">
            <a:avLst/>
          </a:prstGeom>
          <a:solidFill>
            <a:srgbClr val="DCFCE7"/>
          </a:solidFill>
          <a:ln w="9525">
            <a:solidFill>
              <a:srgbClr val="2EAD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4173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417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frameLocator() — RECOMMENDED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13232" y="1828800"/>
            <a:ext cx="3703320" cy="178308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822960" y="193852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960120" y="193852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1097280" y="193852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896112" y="2148840"/>
            <a:ext cx="3429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Locate by iframe selector — lazy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paymentFrame = page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.frameLocator('#payment-iframe');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Then chain locators as usual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paymentFrame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.getByLabel('Card number')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.fill('4242424242424242');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13232" y="370332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· auto-waits · plays well with built-in locators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13232" y="402336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anything Playwright &gt;= 1.17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754880" y="1280160"/>
            <a:ext cx="3931920" cy="3291840"/>
          </a:xfrm>
          <a:prstGeom prst="rect">
            <a:avLst/>
          </a:prstGeom>
          <a:solidFill>
            <a:srgbClr val="F1F5F9"/>
          </a:solidFill>
          <a:ln w="9525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417320"/>
            <a:ext cx="320040" cy="3200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303520" y="1417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page.frame() — when you need a Frame object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4919472" y="1828800"/>
            <a:ext cx="3703320" cy="178308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5029200" y="193852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6"/>
          <p:cNvSpPr/>
          <p:nvPr/>
        </p:nvSpPr>
        <p:spPr>
          <a:xfrm>
            <a:off x="5166360" y="193852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7"/>
          <p:cNvSpPr/>
          <p:nvPr/>
        </p:nvSpPr>
        <p:spPr>
          <a:xfrm>
            <a:off x="5303520" y="193852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8"/>
          <p:cNvSpPr/>
          <p:nvPr/>
        </p:nvSpPr>
        <p:spPr>
          <a:xfrm>
            <a:off x="5102352" y="2148840"/>
            <a:ext cx="3429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Resolves NOW — frame must exist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frame = page.frame({ name: 'payment' });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(frame)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frame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.getByLabel('Card')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.fill('4242...');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4919472" y="370332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Eager · can return null · use for navigation events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4919472" y="402336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waiting on frame.url() or frame.title()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 ·  Playwright Master Class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Accessing Elements in Frames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frameLocator, then chain the same getBy* methods you already know.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4754880" cy="35204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58368" y="134416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95528" y="134416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932688" y="134416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31520" y="1554480"/>
            <a:ext cx="44805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Locate the frame ONCE, reuse it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frame = page.frameLocator(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'iframe[name="checkout"]'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Fill — same API as on page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frame.getByLabel('Email').fill('me@x.com');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frame.getByLabel('Card').fill('4242 4242 4242 4242');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frame.getByLabel('CVC').fill('123');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Click inside the frame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frame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.getByRole('button', { name: 'Pay' })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.click();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Assert inside the frame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expect(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frame.getByText('Payment succeeded')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).toBeVisible();</a:t>
            </a:r>
            <a:endParaRPr lang="en-US" sz="10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128016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03504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frame once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035040" y="157276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frameLocator to a const — reuse it across many actions.</a:t>
            </a:r>
            <a:endParaRPr lang="en-US" sz="10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214884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035040" y="2148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API as page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035040" y="244144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getByRole, getByLabel, getByText all work — and auto-wait.</a:t>
            </a:r>
            <a:endParaRPr lang="en-US" sz="10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840" y="301752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035040" y="3017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Inherits auto-waiting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035040" y="331012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waits for the iframe AND the element to be ready.</a:t>
            </a:r>
            <a:endParaRPr lang="en-US" sz="10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7840" y="3886200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035040" y="3886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Cross-origin = no DOM access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6035040" y="417880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browser security — Playwright cannot pierce it.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 ·  Playwright Master Class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Frames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frame inside a frame — chain frameLocator() calls.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3232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reference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13232" y="1600200"/>
            <a:ext cx="39319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868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60120" y="2011680"/>
            <a:ext cx="3520440" cy="2468880"/>
          </a:xfrm>
          <a:prstGeom prst="rect">
            <a:avLst/>
          </a:prstGeom>
          <a:solidFill>
            <a:srgbClr val="DCFCE7"/>
          </a:solidFill>
          <a:ln w="15240">
            <a:solidFill>
              <a:srgbClr val="2EAD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097280" y="2103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iframe#outer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188720" y="2423160"/>
            <a:ext cx="3063240" cy="1920240"/>
          </a:xfrm>
          <a:prstGeom prst="rect">
            <a:avLst/>
          </a:prstGeom>
          <a:solidFill>
            <a:srgbClr val="BBF7D0"/>
          </a:solidFill>
          <a:ln w="19050">
            <a:solidFill>
              <a:srgbClr val="2EAD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325880" y="2514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65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iframe#inner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417320" y="3291840"/>
            <a:ext cx="2606040" cy="457200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417320" y="32918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 ←  the target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41148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  →  outer  →  inner  →  button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46320" y="1280160"/>
            <a:ext cx="3749040" cy="33375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956048" y="138988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093208" y="138988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5230368" y="138988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029200" y="1600200"/>
            <a:ext cx="34747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Chain frameLocator() calls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outer = page.frameLocator('#outer');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inner = outer.frameLocator('#inner');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Now act inside the nested frame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inner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.getByRole('button', { name: 'Submit' })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.click();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Or inline, if you only need it once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page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.frameLocator('#outer')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.frameLocator('#inner')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.getByRole('button', { name: 'Submit' })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.click();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 ·  Playwright Master Class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— Common Gotchas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13232" y="118872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13232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25880" y="11704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page.locator() can't see inside frames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25880" y="143560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with a CSS that looks right — the DOM is genuinely separate. You MUST go through frameLocator() or page.frame().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13232" y="1901952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13232" y="1901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25880" y="1883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Cross-origin frames are sandboxed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25880" y="2148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iframes, YouTube embeds, etc. are cross-origin — Playwright cannot read their DOM. You'll see them in the tree but locators won't resolve.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13232" y="2615184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13232" y="2615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25880" y="2596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load order isn't guaranteed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25880" y="286207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iframes load asynchronously. If frameLocator() fails, the iframe element may exist but its DOM isn't ready — use expect to retry.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13232" y="3328416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13232" y="3328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25880" y="33101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iframes with the same selector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25880" y="357530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specific: name, id, or src. Use page.frameLocator('iframe[title="Payment"]') over the bare tag.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13232" y="4041648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13232" y="4041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25880" y="4023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page.pause() shows frame structure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25880" y="4288536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debugging frames, page.pause() and hovering in the inspector reveals which frame each element belongs to.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 ·  Playwright Master Class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0" cy="548640"/>
          </a:xfrm>
          <a:prstGeom prst="ellipse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" y="5029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— Recap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307592"/>
            <a:ext cx="109728" cy="109728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77240" y="118872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date input → .fill('YYYY-MM-DD'), locale-independent ISO format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673352"/>
            <a:ext cx="109728" cy="109728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77240" y="15544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calendars → open · navigate months · click day (prefer aria-label)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039112"/>
            <a:ext cx="109728" cy="109728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77240" y="192024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hardcode 'today' — compute target date deterministically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404872"/>
            <a:ext cx="109728" cy="109728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77240" y="228600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are separate DOM trees — page.locator() can't reach inside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770632"/>
            <a:ext cx="109728" cy="109728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77240" y="265176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frameLocator() is the recommended API: lazy, auto-waiting, chainable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136392"/>
            <a:ext cx="109728" cy="109728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77240" y="301752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frames → chain frameLocator() calls, one per level of nesting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897630"/>
            <a:ext cx="8229600" cy="594360"/>
          </a:xfrm>
          <a:prstGeom prst="rect">
            <a:avLst/>
          </a:prstGeom>
          <a:solidFill>
            <a:srgbClr val="1E293B"/>
          </a:solidFill>
          <a:ln w="6350">
            <a:solidFill>
              <a:srgbClr val="2EAD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989070"/>
            <a:ext cx="411480" cy="41148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188720" y="389763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preview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188720" y="417195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windows / tabs, file uploads &amp; downloads, popups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 ·  Playwright Master Class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09728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6000" dirty="0"/>
          </a:p>
        </p:txBody>
      </p:sp>
      <p:sp>
        <p:nvSpPr>
          <p:cNvPr id="4" name="Shape 1"/>
          <p:cNvSpPr/>
          <p:nvPr/>
        </p:nvSpPr>
        <p:spPr>
          <a:xfrm>
            <a:off x="4114800" y="3200400"/>
            <a:ext cx="914400" cy="45720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automate a Stripe iframe together.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playwright.dev/docs/frames   ·   playwright.dev/docs/input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</TotalTime>
  <Words>1550</Words>
  <Application>Microsoft Office PowerPoint</Application>
  <PresentationFormat>On-screen Show (16:9)</PresentationFormat>
  <Paragraphs>298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Playwright Master Class - Day 4</dc:title>
  <dc:subject>PptxGenJS Presentation</dc:subject>
  <dc:creator>Master Class Instructor</dc:creator>
  <cp:lastModifiedBy>Lakshmanan, Ajithkumar (Cognizant)</cp:lastModifiedBy>
  <cp:revision>2</cp:revision>
  <dcterms:created xsi:type="dcterms:W3CDTF">2026-05-14T07:02:31Z</dcterms:created>
  <dcterms:modified xsi:type="dcterms:W3CDTF">2026-05-14T12:17:02Z</dcterms:modified>
</cp:coreProperties>
</file>