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908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69D3A7"/>
          </a:solidFill>
          <a:ln w="12700">
            <a:solidFill>
              <a:srgbClr val="69D3A7"/>
            </a:solidFill>
            <a:prstDash val="solid"/>
          </a:ln>
        </p:spPr>
        <p:txBody>
          <a:bodyPr/>
          <a:lstStyle/>
          <a:p>
            <a:endParaRPr lang="en-IN"/>
          </a:p>
        </p:txBody>
      </p:sp>
      <p:sp>
        <p:nvSpPr>
          <p:cNvPr id="3" name="Text 1"/>
          <p:cNvSpPr/>
          <p:nvPr/>
        </p:nvSpPr>
        <p:spPr>
          <a:xfrm>
            <a:off x="548640" y="914400"/>
            <a:ext cx="8229600" cy="365760"/>
          </a:xfrm>
          <a:prstGeom prst="rect">
            <a:avLst/>
          </a:prstGeom>
          <a:noFill/>
          <a:ln/>
        </p:spPr>
        <p:txBody>
          <a:bodyPr wrap="square" rtlCol="0" anchor="ctr"/>
          <a:lstStyle/>
          <a:p>
            <a:pPr marL="0" indent="0">
              <a:buNone/>
            </a:pPr>
            <a:r>
              <a:rPr lang="en-US" sz="1200" b="1" kern="0" spc="600" dirty="0">
                <a:solidFill>
                  <a:srgbClr val="69D3A7"/>
                </a:solidFill>
                <a:latin typeface="Calibri" pitchFamily="34" charset="0"/>
                <a:ea typeface="Calibri" pitchFamily="34" charset="-122"/>
                <a:cs typeface="Calibri" pitchFamily="34" charset="-120"/>
              </a:rPr>
              <a:t>1-HOUR SESSION  ·  DAY 10</a:t>
            </a:r>
            <a:endParaRPr lang="en-US" sz="1200" dirty="0"/>
          </a:p>
        </p:txBody>
      </p:sp>
      <p:sp>
        <p:nvSpPr>
          <p:cNvPr id="4" name="Text 2"/>
          <p:cNvSpPr/>
          <p:nvPr/>
        </p:nvSpPr>
        <p:spPr>
          <a:xfrm>
            <a:off x="548640" y="1371600"/>
            <a:ext cx="8229600" cy="82296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Network &amp; API Testing</a:t>
            </a:r>
            <a:endParaRPr lang="en-US" sz="4200" dirty="0"/>
          </a:p>
        </p:txBody>
      </p:sp>
      <p:sp>
        <p:nvSpPr>
          <p:cNvPr id="5" name="Text 3"/>
          <p:cNvSpPr/>
          <p:nvPr/>
        </p:nvSpPr>
        <p:spPr>
          <a:xfrm>
            <a:off x="548640" y="2240280"/>
            <a:ext cx="8229600" cy="457200"/>
          </a:xfrm>
          <a:prstGeom prst="rect">
            <a:avLst/>
          </a:prstGeom>
          <a:noFill/>
          <a:ln/>
        </p:spPr>
        <p:txBody>
          <a:bodyPr wrap="square" lIns="0" tIns="0" rIns="0" bIns="0" rtlCol="0" anchor="ctr"/>
          <a:lstStyle/>
          <a:p>
            <a:pPr marL="0" indent="0">
              <a:buNone/>
            </a:pPr>
            <a:r>
              <a:rPr lang="en-US" sz="1600" i="1" dirty="0">
                <a:solidFill>
                  <a:srgbClr val="CADCFC"/>
                </a:solidFill>
                <a:latin typeface="Georgia" pitchFamily="34" charset="0"/>
                <a:ea typeface="Georgia" pitchFamily="34" charset="-122"/>
                <a:cs typeface="Georgia" pitchFamily="34" charset="-120"/>
              </a:rPr>
              <a:t>+ cy.request, </a:t>
            </a:r>
            <a:r>
              <a:rPr lang="en-US" sz="1600" i="1" dirty="0" err="1">
                <a:solidFill>
                  <a:srgbClr val="CADCFC"/>
                </a:solidFill>
                <a:latin typeface="Georgia" pitchFamily="34" charset="0"/>
                <a:ea typeface="Georgia" pitchFamily="34" charset="-122"/>
                <a:cs typeface="Georgia" pitchFamily="34" charset="-120"/>
              </a:rPr>
              <a:t>cy.intercept</a:t>
            </a:r>
            <a:r>
              <a:rPr lang="en-US" sz="1600" i="1" dirty="0">
                <a:solidFill>
                  <a:srgbClr val="CADCFC"/>
                </a:solidFill>
                <a:latin typeface="Georgia" pitchFamily="34" charset="0"/>
                <a:ea typeface="Georgia" pitchFamily="34" charset="-122"/>
                <a:cs typeface="Georgia" pitchFamily="34" charset="-120"/>
              </a:rPr>
              <a:t>, response validation — with Copilot's help</a:t>
            </a:r>
            <a:endParaRPr lang="en-US" sz="1600" dirty="0"/>
          </a:p>
        </p:txBody>
      </p:sp>
      <p:sp>
        <p:nvSpPr>
          <p:cNvPr id="6" name="Shape 4"/>
          <p:cNvSpPr/>
          <p:nvPr/>
        </p:nvSpPr>
        <p:spPr>
          <a:xfrm>
            <a:off x="548640" y="3246120"/>
            <a:ext cx="3657600" cy="777240"/>
          </a:xfrm>
          <a:prstGeom prst="rect">
            <a:avLst/>
          </a:prstGeom>
          <a:solidFill>
            <a:srgbClr val="1E2761"/>
          </a:solidFill>
          <a:ln w="19050">
            <a:solidFill>
              <a:srgbClr val="69D3A7"/>
            </a:solidFill>
            <a:prstDash val="solid"/>
          </a:ln>
        </p:spPr>
        <p:txBody>
          <a:bodyPr/>
          <a:lstStyle/>
          <a:p>
            <a:endParaRPr lang="en-IN"/>
          </a:p>
        </p:txBody>
      </p:sp>
      <p:sp>
        <p:nvSpPr>
          <p:cNvPr id="7" name="Text 5"/>
          <p:cNvSpPr/>
          <p:nvPr/>
        </p:nvSpPr>
        <p:spPr>
          <a:xfrm>
            <a:off x="731520" y="3337560"/>
            <a:ext cx="3383280" cy="274320"/>
          </a:xfrm>
          <a:prstGeom prst="rect">
            <a:avLst/>
          </a:prstGeom>
          <a:noFill/>
          <a:ln/>
        </p:spPr>
        <p:txBody>
          <a:bodyPr wrap="square" lIns="0" tIns="0" rIns="0" bIns="0" rtlCol="0" anchor="ctr"/>
          <a:lstStyle/>
          <a:p>
            <a:pPr marL="0" indent="0">
              <a:buNone/>
            </a:pPr>
            <a:r>
              <a:rPr lang="en-US" sz="1000" b="1" kern="0" spc="400" dirty="0">
                <a:solidFill>
                  <a:srgbClr val="69D3A7"/>
                </a:solidFill>
                <a:latin typeface="Calibri" pitchFamily="34" charset="0"/>
                <a:ea typeface="Calibri" pitchFamily="34" charset="-122"/>
                <a:cs typeface="Calibri" pitchFamily="34" charset="-120"/>
              </a:rPr>
              <a:t>PART 1  ·  30 MIN</a:t>
            </a:r>
            <a:endParaRPr lang="en-US" sz="1000" dirty="0"/>
          </a:p>
        </p:txBody>
      </p:sp>
      <p:sp>
        <p:nvSpPr>
          <p:cNvPr id="8" name="Text 6"/>
          <p:cNvSpPr/>
          <p:nvPr/>
        </p:nvSpPr>
        <p:spPr>
          <a:xfrm>
            <a:off x="731520" y="3611880"/>
            <a:ext cx="3383280" cy="365760"/>
          </a:xfrm>
          <a:prstGeom prst="rect">
            <a:avLst/>
          </a:prstGeom>
          <a:noFill/>
          <a:ln/>
        </p:spPr>
        <p:txBody>
          <a:bodyPr wrap="square" lIns="0" tIns="0" rIns="0" bIns="0" rtlCol="0" anchor="ctr"/>
          <a:lstStyle/>
          <a:p>
            <a:pPr marL="0" indent="0">
              <a:buNone/>
            </a:pPr>
            <a:r>
              <a:rPr lang="en-US" sz="1200" dirty="0">
                <a:solidFill>
                  <a:srgbClr val="FFFFFF"/>
                </a:solidFill>
                <a:latin typeface="Georgia" pitchFamily="34" charset="0"/>
                <a:ea typeface="Georgia" pitchFamily="34" charset="-122"/>
                <a:cs typeface="Georgia" pitchFamily="34" charset="-120"/>
              </a:rPr>
              <a:t>request · intercept · assert</a:t>
            </a:r>
            <a:endParaRPr lang="en-US" sz="1200" dirty="0"/>
          </a:p>
        </p:txBody>
      </p:sp>
      <p:sp>
        <p:nvSpPr>
          <p:cNvPr id="9" name="Shape 7"/>
          <p:cNvSpPr/>
          <p:nvPr/>
        </p:nvSpPr>
        <p:spPr>
          <a:xfrm>
            <a:off x="4572000" y="3246120"/>
            <a:ext cx="3657600" cy="777240"/>
          </a:xfrm>
          <a:prstGeom prst="rect">
            <a:avLst/>
          </a:prstGeom>
          <a:solidFill>
            <a:srgbClr val="1E2761"/>
          </a:solidFill>
          <a:ln w="19050">
            <a:solidFill>
              <a:srgbClr val="7C4DFF"/>
            </a:solidFill>
            <a:prstDash val="solid"/>
          </a:ln>
        </p:spPr>
        <p:txBody>
          <a:bodyPr/>
          <a:lstStyle/>
          <a:p>
            <a:endParaRPr lang="en-IN"/>
          </a:p>
        </p:txBody>
      </p:sp>
      <p:sp>
        <p:nvSpPr>
          <p:cNvPr id="10" name="Text 8"/>
          <p:cNvSpPr/>
          <p:nvPr/>
        </p:nvSpPr>
        <p:spPr>
          <a:xfrm>
            <a:off x="4754880" y="3337560"/>
            <a:ext cx="3383280" cy="274320"/>
          </a:xfrm>
          <a:prstGeom prst="rect">
            <a:avLst/>
          </a:prstGeom>
          <a:noFill/>
          <a:ln/>
        </p:spPr>
        <p:txBody>
          <a:bodyPr wrap="square" lIns="0" tIns="0" rIns="0" bIns="0" rtlCol="0" anchor="ctr"/>
          <a:lstStyle/>
          <a:p>
            <a:pPr marL="0" indent="0">
              <a:buNone/>
            </a:pPr>
            <a:r>
              <a:rPr lang="en-US" sz="1000" b="1" kern="0" spc="400" dirty="0">
                <a:solidFill>
                  <a:srgbClr val="7C4DFF"/>
                </a:solidFill>
                <a:latin typeface="Calibri" pitchFamily="34" charset="0"/>
                <a:ea typeface="Calibri" pitchFamily="34" charset="-122"/>
                <a:cs typeface="Calibri" pitchFamily="34" charset="-120"/>
              </a:rPr>
              <a:t>PART 2  ·  30 MIN</a:t>
            </a:r>
            <a:endParaRPr lang="en-US" sz="1000" dirty="0"/>
          </a:p>
        </p:txBody>
      </p:sp>
      <p:sp>
        <p:nvSpPr>
          <p:cNvPr id="11" name="Text 9"/>
          <p:cNvSpPr/>
          <p:nvPr/>
        </p:nvSpPr>
        <p:spPr>
          <a:xfrm>
            <a:off x="4754880" y="3611880"/>
            <a:ext cx="3383280" cy="365760"/>
          </a:xfrm>
          <a:prstGeom prst="rect">
            <a:avLst/>
          </a:prstGeom>
          <a:noFill/>
          <a:ln/>
        </p:spPr>
        <p:txBody>
          <a:bodyPr wrap="square" lIns="0" tIns="0" rIns="0" bIns="0" rtlCol="0" anchor="ctr"/>
          <a:lstStyle/>
          <a:p>
            <a:pPr marL="0" indent="0">
              <a:buNone/>
            </a:pPr>
            <a:r>
              <a:rPr lang="en-US" sz="1300" dirty="0">
                <a:solidFill>
                  <a:srgbClr val="FFFFFF"/>
                </a:solidFill>
                <a:latin typeface="Georgia" pitchFamily="34" charset="0"/>
                <a:ea typeface="Georgia" pitchFamily="34" charset="-122"/>
                <a:cs typeface="Georgia" pitchFamily="34" charset="-120"/>
              </a:rPr>
              <a:t>Copilot writes API tests</a:t>
            </a:r>
            <a:endParaRPr lang="en-US" sz="1300" dirty="0"/>
          </a:p>
        </p:txBody>
      </p:sp>
      <p:sp>
        <p:nvSpPr>
          <p:cNvPr id="12" name="Text 10"/>
          <p:cNvSpPr/>
          <p:nvPr/>
        </p:nvSpPr>
        <p:spPr>
          <a:xfrm>
            <a:off x="548640" y="4343400"/>
            <a:ext cx="8229600" cy="27432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Test below the UI — faster, more stable, and far easier to debug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200" b="1" dirty="0">
                <a:solidFill>
                  <a:srgbClr val="1E2761"/>
                </a:solidFill>
                <a:latin typeface="Georgia" pitchFamily="34" charset="0"/>
                <a:ea typeface="Georgia" pitchFamily="34" charset="-122"/>
                <a:cs typeface="Georgia" pitchFamily="34" charset="-120"/>
              </a:rPr>
              <a:t>How This Hour Runs</a:t>
            </a:r>
            <a:endParaRPr lang="en-US" sz="32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From clicking buttons to testing the API directly — faster, more stable, easier to debug</a:t>
            </a:r>
            <a:endParaRPr lang="en-US" sz="1300" dirty="0"/>
          </a:p>
        </p:txBody>
      </p:sp>
      <p:sp>
        <p:nvSpPr>
          <p:cNvPr id="4" name="Shape 2"/>
          <p:cNvSpPr/>
          <p:nvPr/>
        </p:nvSpPr>
        <p:spPr>
          <a:xfrm>
            <a:off x="457200" y="1417320"/>
            <a:ext cx="4023360" cy="3200400"/>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457200" y="1417320"/>
            <a:ext cx="73152" cy="3200400"/>
          </a:xfrm>
          <a:prstGeom prst="rect">
            <a:avLst/>
          </a:prstGeom>
          <a:solidFill>
            <a:srgbClr val="69D3A7"/>
          </a:solidFill>
          <a:ln w="12700">
            <a:solidFill>
              <a:srgbClr val="69D3A7"/>
            </a:solidFill>
            <a:prstDash val="solid"/>
          </a:ln>
        </p:spPr>
        <p:txBody>
          <a:bodyPr/>
          <a:lstStyle/>
          <a:p>
            <a:endParaRPr lang="en-IN"/>
          </a:p>
        </p:txBody>
      </p:sp>
      <p:sp>
        <p:nvSpPr>
          <p:cNvPr id="6" name="Text 4"/>
          <p:cNvSpPr/>
          <p:nvPr/>
        </p:nvSpPr>
        <p:spPr>
          <a:xfrm>
            <a:off x="685800" y="1554480"/>
            <a:ext cx="3657600" cy="274320"/>
          </a:xfrm>
          <a:prstGeom prst="rect">
            <a:avLst/>
          </a:prstGeom>
          <a:noFill/>
          <a:ln/>
        </p:spPr>
        <p:txBody>
          <a:bodyPr wrap="square" lIns="0" tIns="0" rIns="0" bIns="0" rtlCol="0" anchor="ctr"/>
          <a:lstStyle/>
          <a:p>
            <a:pPr marL="0" indent="0">
              <a:buNone/>
            </a:pPr>
            <a:r>
              <a:rPr lang="en-US" sz="1000" b="1" kern="0" spc="400" dirty="0">
                <a:solidFill>
                  <a:srgbClr val="69D3A7"/>
                </a:solidFill>
                <a:latin typeface="Calibri" pitchFamily="34" charset="0"/>
                <a:ea typeface="Calibri" pitchFamily="34" charset="-122"/>
                <a:cs typeface="Calibri" pitchFamily="34" charset="-120"/>
              </a:rPr>
              <a:t>PART 1  ·  30 MIN</a:t>
            </a:r>
            <a:endParaRPr lang="en-US" sz="1000" dirty="0"/>
          </a:p>
        </p:txBody>
      </p:sp>
      <p:sp>
        <p:nvSpPr>
          <p:cNvPr id="7" name="Text 5"/>
          <p:cNvSpPr/>
          <p:nvPr/>
        </p:nvSpPr>
        <p:spPr>
          <a:xfrm>
            <a:off x="685800" y="1874520"/>
            <a:ext cx="3657600" cy="36576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Network &amp; API Testing</a:t>
            </a:r>
            <a:endParaRPr lang="en-US" sz="1700" dirty="0"/>
          </a:p>
        </p:txBody>
      </p:sp>
      <p:sp>
        <p:nvSpPr>
          <p:cNvPr id="8" name="Text 6"/>
          <p:cNvSpPr/>
          <p:nvPr/>
        </p:nvSpPr>
        <p:spPr>
          <a:xfrm>
            <a:off x="777240" y="2377440"/>
            <a:ext cx="365760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What is API testing?</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cy.request — real HTTP calls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cy.intercept — watch </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Validating status, body, headers</a:t>
            </a:r>
            <a:endParaRPr lang="en-US" sz="1200" dirty="0"/>
          </a:p>
        </p:txBody>
      </p:sp>
      <p:sp>
        <p:nvSpPr>
          <p:cNvPr id="9" name="Shape 7"/>
          <p:cNvSpPr/>
          <p:nvPr/>
        </p:nvSpPr>
        <p:spPr>
          <a:xfrm>
            <a:off x="4663440" y="1417320"/>
            <a:ext cx="4023360" cy="3200400"/>
          </a:xfrm>
          <a:prstGeom prst="rect">
            <a:avLst/>
          </a:prstGeom>
          <a:solidFill>
            <a:srgbClr val="F7F9FC"/>
          </a:solidFill>
          <a:ln w="12700">
            <a:solidFill>
              <a:srgbClr val="F7F9FC"/>
            </a:solidFill>
            <a:prstDash val="solid"/>
          </a:ln>
        </p:spPr>
        <p:txBody>
          <a:bodyPr/>
          <a:lstStyle/>
          <a:p>
            <a:endParaRPr lang="en-IN"/>
          </a:p>
        </p:txBody>
      </p:sp>
      <p:sp>
        <p:nvSpPr>
          <p:cNvPr id="10" name="Shape 8"/>
          <p:cNvSpPr/>
          <p:nvPr/>
        </p:nvSpPr>
        <p:spPr>
          <a:xfrm>
            <a:off x="4663440" y="1417320"/>
            <a:ext cx="73152" cy="3200400"/>
          </a:xfrm>
          <a:prstGeom prst="rect">
            <a:avLst/>
          </a:prstGeom>
          <a:solidFill>
            <a:srgbClr val="7C4DFF"/>
          </a:solidFill>
          <a:ln w="12700">
            <a:solidFill>
              <a:srgbClr val="7C4DFF"/>
            </a:solidFill>
            <a:prstDash val="solid"/>
          </a:ln>
        </p:spPr>
        <p:txBody>
          <a:bodyPr/>
          <a:lstStyle/>
          <a:p>
            <a:endParaRPr lang="en-IN"/>
          </a:p>
        </p:txBody>
      </p:sp>
      <p:sp>
        <p:nvSpPr>
          <p:cNvPr id="11" name="Text 9"/>
          <p:cNvSpPr/>
          <p:nvPr/>
        </p:nvSpPr>
        <p:spPr>
          <a:xfrm>
            <a:off x="4892040" y="1554480"/>
            <a:ext cx="3657600" cy="274320"/>
          </a:xfrm>
          <a:prstGeom prst="rect">
            <a:avLst/>
          </a:prstGeom>
          <a:noFill/>
          <a:ln/>
        </p:spPr>
        <p:txBody>
          <a:bodyPr wrap="square" lIns="0" tIns="0" rIns="0" bIns="0" rtlCol="0" anchor="ctr"/>
          <a:lstStyle/>
          <a:p>
            <a:pPr marL="0" indent="0">
              <a:buNone/>
            </a:pPr>
            <a:r>
              <a:rPr lang="en-US" sz="1000" b="1" kern="0" spc="400" dirty="0">
                <a:solidFill>
                  <a:srgbClr val="7C4DFF"/>
                </a:solidFill>
                <a:latin typeface="Calibri" pitchFamily="34" charset="0"/>
                <a:ea typeface="Calibri" pitchFamily="34" charset="-122"/>
                <a:cs typeface="Calibri" pitchFamily="34" charset="-120"/>
              </a:rPr>
              <a:t>PART 2  ·  30 MIN</a:t>
            </a:r>
            <a:endParaRPr lang="en-US" sz="1000" dirty="0"/>
          </a:p>
        </p:txBody>
      </p:sp>
      <p:sp>
        <p:nvSpPr>
          <p:cNvPr id="12" name="Text 10"/>
          <p:cNvSpPr/>
          <p:nvPr/>
        </p:nvSpPr>
        <p:spPr>
          <a:xfrm>
            <a:off x="4892040" y="1874520"/>
            <a:ext cx="3657600" cy="36576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Copilot for API Testing</a:t>
            </a:r>
            <a:endParaRPr lang="en-US" sz="1700" dirty="0"/>
          </a:p>
        </p:txBody>
      </p:sp>
      <p:sp>
        <p:nvSpPr>
          <p:cNvPr id="13" name="Text 11"/>
          <p:cNvSpPr/>
          <p:nvPr/>
        </p:nvSpPr>
        <p:spPr>
          <a:xfrm>
            <a:off x="4983480" y="2377440"/>
            <a:ext cx="365760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Generate request + assertions from docs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Refactor: UI setup → cy.request setup</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Use Copilot well — three principles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Tips, tricks, and best practices</a:t>
            </a:r>
            <a:endParaRPr lang="en-US" sz="1200" dirty="0"/>
          </a:p>
        </p:txBody>
      </p:sp>
      <p:sp>
        <p:nvSpPr>
          <p:cNvPr id="14" name="Text 12"/>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15" name="Text 13"/>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69D3A7"/>
          </a:solidFill>
          <a:ln w="12700">
            <a:solidFill>
              <a:srgbClr val="69D3A7"/>
            </a:solidFill>
            <a:prstDash val="solid"/>
          </a:ln>
        </p:spPr>
        <p:txBody>
          <a:bodyPr/>
          <a:lstStyle/>
          <a:p>
            <a:endParaRPr lang="en-IN"/>
          </a:p>
        </p:txBody>
      </p:sp>
      <p:sp>
        <p:nvSpPr>
          <p:cNvPr id="3" name="Text 1"/>
          <p:cNvSpPr/>
          <p:nvPr/>
        </p:nvSpPr>
        <p:spPr>
          <a:xfrm>
            <a:off x="731520" y="2148840"/>
            <a:ext cx="8229600" cy="365760"/>
          </a:xfrm>
          <a:prstGeom prst="rect">
            <a:avLst/>
          </a:prstGeom>
          <a:noFill/>
          <a:ln/>
        </p:spPr>
        <p:txBody>
          <a:bodyPr wrap="square" rtlCol="0" anchor="ctr"/>
          <a:lstStyle/>
          <a:p>
            <a:pPr marL="0" indent="0">
              <a:buNone/>
            </a:pPr>
            <a:r>
              <a:rPr lang="en-US" sz="1400" b="1" kern="0" spc="800" dirty="0">
                <a:solidFill>
                  <a:srgbClr val="69D3A7"/>
                </a:solidFill>
                <a:latin typeface="Calibri" pitchFamily="34" charset="0"/>
                <a:ea typeface="Calibri" pitchFamily="34" charset="-122"/>
                <a:cs typeface="Calibri" pitchFamily="34" charset="-120"/>
              </a:rPr>
              <a:t>PART 1</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Network &amp; API Testing</a:t>
            </a:r>
            <a:endParaRPr lang="en-US" sz="3800" dirty="0"/>
          </a:p>
        </p:txBody>
      </p:sp>
      <p:sp>
        <p:nvSpPr>
          <p:cNvPr id="5" name="Text 3"/>
          <p:cNvSpPr/>
          <p:nvPr/>
        </p:nvSpPr>
        <p:spPr>
          <a:xfrm>
            <a:off x="731520" y="3383280"/>
            <a:ext cx="8229600" cy="502920"/>
          </a:xfrm>
          <a:prstGeom prst="rect">
            <a:avLst/>
          </a:prstGeom>
          <a:noFill/>
          <a:ln/>
        </p:spPr>
        <p:txBody>
          <a:bodyPr wrap="square" lIns="0" tIns="0" rIns="0" bIns="0" rtlCol="0" anchor="ctr"/>
          <a:lstStyle/>
          <a:p>
            <a:pPr marL="0" indent="0">
              <a:buNone/>
            </a:pPr>
            <a:r>
              <a:rPr lang="en-US" sz="1400" i="1" dirty="0">
                <a:solidFill>
                  <a:srgbClr val="CADCFC"/>
                </a:solidFill>
                <a:latin typeface="Georgia" pitchFamily="34" charset="0"/>
                <a:ea typeface="Georgia" pitchFamily="34" charset="-122"/>
                <a:cs typeface="Georgia" pitchFamily="34" charset="-120"/>
              </a:rPr>
              <a:t>Two tools, two jobs — cy.request talks to the API directly, cy.intercept watches the browser.</a:t>
            </a:r>
            <a:endParaRPr lang="en-US" sz="1400" dirty="0"/>
          </a:p>
        </p:txBody>
      </p:sp>
      <p:sp>
        <p:nvSpPr>
          <p:cNvPr id="6" name="Text 4"/>
          <p:cNvSpPr/>
          <p:nvPr/>
        </p:nvSpPr>
        <p:spPr>
          <a:xfrm>
            <a:off x="731520" y="4023360"/>
            <a:ext cx="8229600" cy="320040"/>
          </a:xfrm>
          <a:prstGeom prst="rect">
            <a:avLst/>
          </a:prstGeom>
          <a:noFill/>
          <a:ln/>
        </p:spPr>
        <p:txBody>
          <a:bodyPr wrap="square" lIns="0" tIns="0" rIns="0" bIns="0" rtlCol="0" anchor="ctr"/>
          <a:lstStyle/>
          <a:p>
            <a:pPr marL="0" indent="0">
              <a:buNone/>
            </a:pPr>
            <a:r>
              <a:rPr lang="en-US" sz="1200" kern="0" spc="400" dirty="0">
                <a:solidFill>
                  <a:srgbClr val="69D3A7"/>
                </a:solidFill>
                <a:latin typeface="Calibri" pitchFamily="34" charset="0"/>
                <a:ea typeface="Calibri" pitchFamily="34" charset="-122"/>
                <a:cs typeface="Calibri" pitchFamily="34" charset="-120"/>
              </a:rPr>
              <a:t>⏱  30 minutes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UI Testing  vs  API Testing</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Same app, two layers — testing each one in isolation gives faster, more reliable feedback</a:t>
            </a:r>
            <a:endParaRPr lang="en-US" sz="1300" dirty="0"/>
          </a:p>
        </p:txBody>
      </p:sp>
      <p:sp>
        <p:nvSpPr>
          <p:cNvPr id="4" name="Shape 2"/>
          <p:cNvSpPr/>
          <p:nvPr/>
        </p:nvSpPr>
        <p:spPr>
          <a:xfrm>
            <a:off x="457200" y="1417320"/>
            <a:ext cx="4023360" cy="3108960"/>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457200" y="1417320"/>
            <a:ext cx="4023360" cy="502920"/>
          </a:xfrm>
          <a:prstGeom prst="rect">
            <a:avLst/>
          </a:prstGeom>
          <a:solidFill>
            <a:srgbClr val="1E2761"/>
          </a:solidFill>
          <a:ln w="12700">
            <a:solidFill>
              <a:srgbClr val="1E2761"/>
            </a:solidFill>
            <a:prstDash val="solid"/>
          </a:ln>
        </p:spPr>
        <p:txBody>
          <a:bodyPr/>
          <a:lstStyle/>
          <a:p>
            <a:endParaRPr lang="en-IN"/>
          </a:p>
        </p:txBody>
      </p:sp>
      <p:sp>
        <p:nvSpPr>
          <p:cNvPr id="6" name="Text 4"/>
          <p:cNvSpPr/>
          <p:nvPr/>
        </p:nvSpPr>
        <p:spPr>
          <a:xfrm>
            <a:off x="594360" y="1417320"/>
            <a:ext cx="3749040" cy="502920"/>
          </a:xfrm>
          <a:prstGeom prst="rect">
            <a:avLst/>
          </a:prstGeom>
          <a:noFill/>
          <a:ln/>
        </p:spPr>
        <p:txBody>
          <a:bodyPr wrap="square" lIns="0" tIns="0" rIns="0" bIns="0" rtlCol="0" anchor="ctr"/>
          <a:lstStyle/>
          <a:p>
            <a:pPr marL="0" indent="0">
              <a:buNone/>
            </a:pPr>
            <a:r>
              <a:rPr lang="en-US" sz="1500" b="1" dirty="0">
                <a:solidFill>
                  <a:srgbClr val="69D3A7"/>
                </a:solidFill>
                <a:latin typeface="Georgia" pitchFamily="34" charset="0"/>
                <a:ea typeface="Georgia" pitchFamily="34" charset="-122"/>
                <a:cs typeface="Georgia" pitchFamily="34" charset="-120"/>
              </a:rPr>
              <a:t>UI Testing</a:t>
            </a:r>
            <a:endParaRPr lang="en-US" sz="1500" dirty="0"/>
          </a:p>
        </p:txBody>
      </p:sp>
      <p:sp>
        <p:nvSpPr>
          <p:cNvPr id="7" name="Text 5"/>
          <p:cNvSpPr/>
          <p:nvPr/>
        </p:nvSpPr>
        <p:spPr>
          <a:xfrm>
            <a:off x="640080" y="2011680"/>
            <a:ext cx="36576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What you've been doing</a:t>
            </a:r>
            <a:endParaRPr lang="en-US" sz="1100" dirty="0"/>
          </a:p>
        </p:txBody>
      </p:sp>
      <p:sp>
        <p:nvSpPr>
          <p:cNvPr id="8" name="Text 6"/>
          <p:cNvSpPr/>
          <p:nvPr/>
        </p:nvSpPr>
        <p:spPr>
          <a:xfrm>
            <a:off x="640080" y="2331720"/>
            <a:ext cx="3657600" cy="73152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Drives the browser — clicks buttons, types in inputs, asserts what the user sees.</a:t>
            </a:r>
            <a:endParaRPr lang="en-US" sz="1150" dirty="0"/>
          </a:p>
        </p:txBody>
      </p:sp>
      <p:sp>
        <p:nvSpPr>
          <p:cNvPr id="9" name="Text 7"/>
          <p:cNvSpPr/>
          <p:nvPr/>
        </p:nvSpPr>
        <p:spPr>
          <a:xfrm>
            <a:off x="640080" y="3200400"/>
            <a:ext cx="3749040" cy="1280160"/>
          </a:xfrm>
          <a:prstGeom prst="rect">
            <a:avLst/>
          </a:prstGeom>
          <a:noFill/>
          <a:ln/>
        </p:spPr>
        <p:txBody>
          <a:bodyPr wrap="square" lIns="0" tIns="0" rIns="0" bIns="0" rtlCol="0" anchor="t"/>
          <a:lstStyle/>
          <a:p>
            <a:pPr marL="0" indent="0">
              <a:spcAft>
                <a:spcPts val="200"/>
              </a:spcAft>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Tests what users actually see</a:t>
            </a:r>
            <a:endParaRPr lang="en-US" sz="1100" dirty="0"/>
          </a:p>
          <a:p>
            <a:pPr marL="0" indent="0">
              <a:spcAft>
                <a:spcPts val="200"/>
              </a:spcAft>
              <a:buNone/>
            </a:pPr>
            <a:r>
              <a:rPr lang="en-US" sz="1100" b="1" dirty="0">
                <a:solidFill>
                  <a:srgbClr val="C62828"/>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Slow — full page renders</a:t>
            </a:r>
            <a:endParaRPr lang="en-US" sz="1100" dirty="0"/>
          </a:p>
          <a:p>
            <a:pPr marL="0" indent="0">
              <a:spcAft>
                <a:spcPts val="200"/>
              </a:spcAft>
              <a:buNone/>
            </a:pPr>
            <a:r>
              <a:rPr lang="en-US" sz="1100" b="1" dirty="0">
                <a:solidFill>
                  <a:srgbClr val="C62828"/>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Breaks on cosmetic UI changes</a:t>
            </a:r>
            <a:endParaRPr lang="en-US" sz="1100" dirty="0"/>
          </a:p>
          <a:p>
            <a:pPr marL="0" indent="0">
              <a:spcAft>
                <a:spcPts val="200"/>
              </a:spcAft>
              <a:buNone/>
            </a:pPr>
            <a:r>
              <a:rPr lang="en-US" sz="1100" b="1" dirty="0">
                <a:solidFill>
                  <a:srgbClr val="C62828"/>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Hard to test all edge cases</a:t>
            </a:r>
            <a:endParaRPr lang="en-US" sz="1100" dirty="0"/>
          </a:p>
        </p:txBody>
      </p:sp>
      <p:sp>
        <p:nvSpPr>
          <p:cNvPr id="10" name="Shape 8"/>
          <p:cNvSpPr/>
          <p:nvPr/>
        </p:nvSpPr>
        <p:spPr>
          <a:xfrm>
            <a:off x="4663440" y="1417320"/>
            <a:ext cx="4023360" cy="310896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663440" y="1417320"/>
            <a:ext cx="4023360" cy="502920"/>
          </a:xfrm>
          <a:prstGeom prst="rect">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00600" y="1417320"/>
            <a:ext cx="3749040" cy="502920"/>
          </a:xfrm>
          <a:prstGeom prst="rect">
            <a:avLst/>
          </a:prstGeom>
          <a:noFill/>
          <a:ln/>
        </p:spPr>
        <p:txBody>
          <a:bodyPr wrap="square" lIns="0" tIns="0" rIns="0" bIns="0" rtlCol="0" anchor="ctr"/>
          <a:lstStyle/>
          <a:p>
            <a:pPr marL="0" indent="0">
              <a:buNone/>
            </a:pPr>
            <a:r>
              <a:rPr lang="en-US" sz="1500" b="1" dirty="0">
                <a:solidFill>
                  <a:srgbClr val="69D3A7"/>
                </a:solidFill>
                <a:latin typeface="Georgia" pitchFamily="34" charset="0"/>
                <a:ea typeface="Georgia" pitchFamily="34" charset="-122"/>
                <a:cs typeface="Georgia" pitchFamily="34" charset="-120"/>
              </a:rPr>
              <a:t>API Testing</a:t>
            </a:r>
            <a:endParaRPr lang="en-US" sz="1500" dirty="0"/>
          </a:p>
        </p:txBody>
      </p:sp>
      <p:sp>
        <p:nvSpPr>
          <p:cNvPr id="13" name="Text 11"/>
          <p:cNvSpPr/>
          <p:nvPr/>
        </p:nvSpPr>
        <p:spPr>
          <a:xfrm>
            <a:off x="4846320" y="2011680"/>
            <a:ext cx="36576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What you'll learn today</a:t>
            </a:r>
            <a:endParaRPr lang="en-US" sz="1100" dirty="0"/>
          </a:p>
        </p:txBody>
      </p:sp>
      <p:sp>
        <p:nvSpPr>
          <p:cNvPr id="14" name="Text 12"/>
          <p:cNvSpPr/>
          <p:nvPr/>
        </p:nvSpPr>
        <p:spPr>
          <a:xfrm>
            <a:off x="4846320" y="2331720"/>
            <a:ext cx="3657600" cy="73152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Talks to your backend directly — sends HTTP requests, asserts on status codes and JSON.</a:t>
            </a:r>
            <a:endParaRPr lang="en-US" sz="1150" dirty="0"/>
          </a:p>
        </p:txBody>
      </p:sp>
      <p:sp>
        <p:nvSpPr>
          <p:cNvPr id="15" name="Text 13"/>
          <p:cNvSpPr/>
          <p:nvPr/>
        </p:nvSpPr>
        <p:spPr>
          <a:xfrm>
            <a:off x="4846320" y="3200400"/>
            <a:ext cx="3749040" cy="1280160"/>
          </a:xfrm>
          <a:prstGeom prst="rect">
            <a:avLst/>
          </a:prstGeom>
          <a:noFill/>
          <a:ln/>
        </p:spPr>
        <p:txBody>
          <a:bodyPr wrap="square" lIns="0" tIns="0" rIns="0" bIns="0" rtlCol="0" anchor="t"/>
          <a:lstStyle/>
          <a:p>
            <a:pPr marL="0" indent="0">
              <a:spcAft>
                <a:spcPts val="200"/>
              </a:spcAft>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Fast — no browser, no rendering</a:t>
            </a:r>
            <a:endParaRPr lang="en-US" sz="1100" dirty="0"/>
          </a:p>
          <a:p>
            <a:pPr marL="0" indent="0">
              <a:spcAft>
                <a:spcPts val="200"/>
              </a:spcAft>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Stable — survives UI redesigns</a:t>
            </a:r>
            <a:endParaRPr lang="en-US" sz="1100" dirty="0"/>
          </a:p>
          <a:p>
            <a:pPr marL="0" indent="0">
              <a:spcAft>
                <a:spcPts val="200"/>
              </a:spcAft>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Easy to test errors &amp; edge cases</a:t>
            </a:r>
            <a:endParaRPr lang="en-US" sz="1100" dirty="0"/>
          </a:p>
          <a:p>
            <a:pPr marL="0" indent="0">
              <a:spcAft>
                <a:spcPts val="200"/>
              </a:spcAft>
              <a:buNone/>
            </a:pPr>
            <a:r>
              <a:rPr lang="en-US" sz="1100" b="1" dirty="0">
                <a:solidFill>
                  <a:srgbClr val="C62828"/>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Doesn't test what users see</a:t>
            </a:r>
            <a:endParaRPr lang="en-US" sz="1100" dirty="0"/>
          </a:p>
        </p:txBody>
      </p:sp>
      <p:sp>
        <p:nvSpPr>
          <p:cNvPr id="16" name="Text 1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17" name="Text 1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200" b="1" dirty="0">
                <a:solidFill>
                  <a:srgbClr val="1E2761"/>
                </a:solidFill>
                <a:latin typeface="Georgia" pitchFamily="34" charset="0"/>
                <a:ea typeface="Georgia" pitchFamily="34" charset="-122"/>
                <a:cs typeface="Georgia" pitchFamily="34" charset="-120"/>
              </a:rPr>
              <a:t>What Is an API?</a:t>
            </a:r>
            <a:endParaRPr lang="en-US" sz="32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A contract between two pieces of software — one asks, the other answers</a:t>
            </a:r>
            <a:endParaRPr lang="en-US" sz="1300" dirty="0"/>
          </a:p>
        </p:txBody>
      </p:sp>
      <p:sp>
        <p:nvSpPr>
          <p:cNvPr id="4" name="Shape 2"/>
          <p:cNvSpPr/>
          <p:nvPr/>
        </p:nvSpPr>
        <p:spPr>
          <a:xfrm>
            <a:off x="457200" y="1417320"/>
            <a:ext cx="2286000" cy="1097280"/>
          </a:xfrm>
          <a:prstGeom prst="rect">
            <a:avLst/>
          </a:prstGeom>
          <a:solidFill>
            <a:srgbClr val="F7F9FC"/>
          </a:solidFill>
          <a:ln w="25400">
            <a:solidFill>
              <a:srgbClr val="69D3A7"/>
            </a:solidFill>
            <a:prstDash val="solid"/>
          </a:ln>
        </p:spPr>
        <p:txBody>
          <a:bodyPr/>
          <a:lstStyle/>
          <a:p>
            <a:endParaRPr lang="en-IN"/>
          </a:p>
        </p:txBody>
      </p:sp>
      <p:sp>
        <p:nvSpPr>
          <p:cNvPr id="5" name="Text 3"/>
          <p:cNvSpPr/>
          <p:nvPr/>
        </p:nvSpPr>
        <p:spPr>
          <a:xfrm>
            <a:off x="457200" y="1508760"/>
            <a:ext cx="2286000" cy="320040"/>
          </a:xfrm>
          <a:prstGeom prst="rect">
            <a:avLst/>
          </a:prstGeom>
          <a:noFill/>
          <a:ln/>
        </p:spPr>
        <p:txBody>
          <a:bodyPr wrap="square" lIns="0" tIns="0" rIns="0" bIns="0" rtlCol="0" anchor="ctr"/>
          <a:lstStyle/>
          <a:p>
            <a:pPr marL="0" indent="0" algn="ctr">
              <a:buNone/>
            </a:pPr>
            <a:r>
              <a:rPr lang="en-US" sz="1300" b="1" kern="0" spc="300" dirty="0">
                <a:solidFill>
                  <a:srgbClr val="69D3A7"/>
                </a:solidFill>
                <a:latin typeface="Calibri" pitchFamily="34" charset="0"/>
                <a:ea typeface="Calibri" pitchFamily="34" charset="-122"/>
                <a:cs typeface="Calibri" pitchFamily="34" charset="-120"/>
              </a:rPr>
              <a:t>Client</a:t>
            </a:r>
            <a:endParaRPr lang="en-US" sz="1300" dirty="0"/>
          </a:p>
        </p:txBody>
      </p:sp>
      <p:sp>
        <p:nvSpPr>
          <p:cNvPr id="6" name="Text 4"/>
          <p:cNvSpPr/>
          <p:nvPr/>
        </p:nvSpPr>
        <p:spPr>
          <a:xfrm>
            <a:off x="457200" y="1783080"/>
            <a:ext cx="2286000" cy="27432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Browser, app, or test</a:t>
            </a:r>
            <a:endParaRPr lang="en-US" sz="1100" dirty="0"/>
          </a:p>
        </p:txBody>
      </p:sp>
      <p:sp>
        <p:nvSpPr>
          <p:cNvPr id="7" name="Text 5"/>
          <p:cNvSpPr/>
          <p:nvPr/>
        </p:nvSpPr>
        <p:spPr>
          <a:xfrm>
            <a:off x="457200" y="2103120"/>
            <a:ext cx="22860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"What can you tell me?"</a:t>
            </a:r>
            <a:endParaRPr lang="en-US" sz="1000" dirty="0"/>
          </a:p>
        </p:txBody>
      </p:sp>
      <p:sp>
        <p:nvSpPr>
          <p:cNvPr id="8" name="Text 6"/>
          <p:cNvSpPr/>
          <p:nvPr/>
        </p:nvSpPr>
        <p:spPr>
          <a:xfrm>
            <a:off x="2834640" y="1417320"/>
            <a:ext cx="3474720" cy="365760"/>
          </a:xfrm>
          <a:prstGeom prst="rect">
            <a:avLst/>
          </a:prstGeom>
          <a:noFill/>
          <a:ln/>
        </p:spPr>
        <p:txBody>
          <a:bodyPr wrap="square" lIns="0" tIns="0" rIns="0" bIns="0" rtlCol="0" anchor="ctr"/>
          <a:lstStyle/>
          <a:p>
            <a:pPr marL="0" indent="0" algn="ctr">
              <a:buNone/>
            </a:pPr>
            <a:r>
              <a:rPr lang="en-US" sz="1200" b="1" kern="0" spc="300" dirty="0">
                <a:solidFill>
                  <a:srgbClr val="F5B700"/>
                </a:solidFill>
                <a:latin typeface="Calibri" pitchFamily="34" charset="0"/>
                <a:ea typeface="Calibri" pitchFamily="34" charset="-122"/>
                <a:cs typeface="Calibri" pitchFamily="34" charset="-120"/>
              </a:rPr>
              <a:t>→  REQUEST  →</a:t>
            </a:r>
            <a:endParaRPr lang="en-US" sz="1200" dirty="0"/>
          </a:p>
        </p:txBody>
      </p:sp>
      <p:sp>
        <p:nvSpPr>
          <p:cNvPr id="9" name="Text 7"/>
          <p:cNvSpPr/>
          <p:nvPr/>
        </p:nvSpPr>
        <p:spPr>
          <a:xfrm>
            <a:off x="2834640" y="1828800"/>
            <a:ext cx="3474720" cy="274320"/>
          </a:xfrm>
          <a:prstGeom prst="rect">
            <a:avLst/>
          </a:prstGeom>
          <a:noFill/>
          <a:ln/>
        </p:spPr>
        <p:txBody>
          <a:bodyPr wrap="square" lIns="0" tIns="0" rIns="0" bIns="0" rtlCol="0" anchor="ctr"/>
          <a:lstStyle/>
          <a:p>
            <a:pPr marL="0" indent="0" algn="ctr">
              <a:buNone/>
            </a:pPr>
            <a:r>
              <a:rPr lang="en-US" sz="1100" dirty="0">
                <a:solidFill>
                  <a:srgbClr val="1A1A2E"/>
                </a:solidFill>
                <a:latin typeface="Consolas" pitchFamily="34" charset="0"/>
                <a:ea typeface="Consolas" pitchFamily="34" charset="-122"/>
                <a:cs typeface="Consolas" pitchFamily="34" charset="-120"/>
              </a:rPr>
              <a:t>GET /api/users/1</a:t>
            </a:r>
            <a:endParaRPr lang="en-US" sz="1100" dirty="0"/>
          </a:p>
        </p:txBody>
      </p:sp>
      <p:sp>
        <p:nvSpPr>
          <p:cNvPr id="10" name="Text 8"/>
          <p:cNvSpPr/>
          <p:nvPr/>
        </p:nvSpPr>
        <p:spPr>
          <a:xfrm>
            <a:off x="2834640" y="2103120"/>
            <a:ext cx="347472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with headers + body</a:t>
            </a:r>
            <a:endParaRPr lang="en-US" sz="1000" dirty="0"/>
          </a:p>
        </p:txBody>
      </p:sp>
      <p:sp>
        <p:nvSpPr>
          <p:cNvPr id="11" name="Shape 9"/>
          <p:cNvSpPr/>
          <p:nvPr/>
        </p:nvSpPr>
        <p:spPr>
          <a:xfrm>
            <a:off x="6400800" y="1417320"/>
            <a:ext cx="2286000" cy="1097280"/>
          </a:xfrm>
          <a:prstGeom prst="rect">
            <a:avLst/>
          </a:prstGeom>
          <a:solidFill>
            <a:srgbClr val="F7F9FC"/>
          </a:solidFill>
          <a:ln w="25400">
            <a:solidFill>
              <a:srgbClr val="69D3A7"/>
            </a:solidFill>
            <a:prstDash val="solid"/>
          </a:ln>
        </p:spPr>
        <p:txBody>
          <a:bodyPr/>
          <a:lstStyle/>
          <a:p>
            <a:endParaRPr lang="en-IN"/>
          </a:p>
        </p:txBody>
      </p:sp>
      <p:sp>
        <p:nvSpPr>
          <p:cNvPr id="12" name="Text 10"/>
          <p:cNvSpPr/>
          <p:nvPr/>
        </p:nvSpPr>
        <p:spPr>
          <a:xfrm>
            <a:off x="6400800" y="1508760"/>
            <a:ext cx="2286000" cy="320040"/>
          </a:xfrm>
          <a:prstGeom prst="rect">
            <a:avLst/>
          </a:prstGeom>
          <a:noFill/>
          <a:ln/>
        </p:spPr>
        <p:txBody>
          <a:bodyPr wrap="square" lIns="0" tIns="0" rIns="0" bIns="0" rtlCol="0" anchor="ctr"/>
          <a:lstStyle/>
          <a:p>
            <a:pPr marL="0" indent="0" algn="ctr">
              <a:buNone/>
            </a:pPr>
            <a:r>
              <a:rPr lang="en-US" sz="1300" b="1" kern="0" spc="300" dirty="0">
                <a:solidFill>
                  <a:srgbClr val="69D3A7"/>
                </a:solidFill>
                <a:latin typeface="Calibri" pitchFamily="34" charset="0"/>
                <a:ea typeface="Calibri" pitchFamily="34" charset="-122"/>
                <a:cs typeface="Calibri" pitchFamily="34" charset="-120"/>
              </a:rPr>
              <a:t>Server</a:t>
            </a:r>
            <a:endParaRPr lang="en-US" sz="1300" dirty="0"/>
          </a:p>
        </p:txBody>
      </p:sp>
      <p:sp>
        <p:nvSpPr>
          <p:cNvPr id="13" name="Text 11"/>
          <p:cNvSpPr/>
          <p:nvPr/>
        </p:nvSpPr>
        <p:spPr>
          <a:xfrm>
            <a:off x="6400800" y="1783080"/>
            <a:ext cx="2286000" cy="274320"/>
          </a:xfrm>
          <a:prstGeom prst="rect">
            <a:avLst/>
          </a:prstGeom>
          <a:noFill/>
          <a:ln/>
        </p:spPr>
        <p:txBody>
          <a:bodyPr wrap="square" lIns="0" tIns="0" rIns="0" bIns="0"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Your backend, a 3rd-party API</a:t>
            </a:r>
            <a:endParaRPr lang="en-US" sz="1000" dirty="0"/>
          </a:p>
        </p:txBody>
      </p:sp>
      <p:sp>
        <p:nvSpPr>
          <p:cNvPr id="14" name="Text 12"/>
          <p:cNvSpPr/>
          <p:nvPr/>
        </p:nvSpPr>
        <p:spPr>
          <a:xfrm>
            <a:off x="6400800" y="2103120"/>
            <a:ext cx="22860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"Here's the answer."</a:t>
            </a:r>
            <a:endParaRPr lang="en-US" sz="1000" dirty="0"/>
          </a:p>
        </p:txBody>
      </p:sp>
      <p:sp>
        <p:nvSpPr>
          <p:cNvPr id="15" name="Text 13"/>
          <p:cNvSpPr/>
          <p:nvPr/>
        </p:nvSpPr>
        <p:spPr>
          <a:xfrm>
            <a:off x="2834640" y="2651760"/>
            <a:ext cx="3474720" cy="365760"/>
          </a:xfrm>
          <a:prstGeom prst="rect">
            <a:avLst/>
          </a:prstGeom>
          <a:noFill/>
          <a:ln/>
        </p:spPr>
        <p:txBody>
          <a:bodyPr wrap="square" lIns="0" tIns="0" rIns="0" bIns="0" rtlCol="0" anchor="ctr"/>
          <a:lstStyle/>
          <a:p>
            <a:pPr marL="0" indent="0" algn="ctr">
              <a:buNone/>
            </a:pPr>
            <a:r>
              <a:rPr lang="en-US" sz="1200" b="1" kern="0" spc="300" dirty="0">
                <a:solidFill>
                  <a:srgbClr val="F5B700"/>
                </a:solidFill>
                <a:latin typeface="Calibri" pitchFamily="34" charset="0"/>
                <a:ea typeface="Calibri" pitchFamily="34" charset="-122"/>
                <a:cs typeface="Calibri" pitchFamily="34" charset="-120"/>
              </a:rPr>
              <a:t>←  RESPONSE  ←</a:t>
            </a:r>
            <a:endParaRPr lang="en-US" sz="1200" dirty="0"/>
          </a:p>
        </p:txBody>
      </p:sp>
      <p:sp>
        <p:nvSpPr>
          <p:cNvPr id="16" name="Text 14"/>
          <p:cNvSpPr/>
          <p:nvPr/>
        </p:nvSpPr>
        <p:spPr>
          <a:xfrm>
            <a:off x="2834640" y="3017520"/>
            <a:ext cx="3474720" cy="274320"/>
          </a:xfrm>
          <a:prstGeom prst="rect">
            <a:avLst/>
          </a:prstGeom>
          <a:noFill/>
          <a:ln/>
        </p:spPr>
        <p:txBody>
          <a:bodyPr wrap="square" lIns="0" tIns="0" rIns="0" bIns="0" rtlCol="0" anchor="ctr"/>
          <a:lstStyle/>
          <a:p>
            <a:pPr marL="0" indent="0" algn="ctr">
              <a:buNone/>
            </a:pPr>
            <a:r>
              <a:rPr lang="en-US" sz="1100" dirty="0">
                <a:solidFill>
                  <a:srgbClr val="1A1A2E"/>
                </a:solidFill>
                <a:latin typeface="Consolas" pitchFamily="34" charset="0"/>
                <a:ea typeface="Consolas" pitchFamily="34" charset="-122"/>
                <a:cs typeface="Consolas" pitchFamily="34" charset="-120"/>
              </a:rPr>
              <a:t>200 OK + JSON body</a:t>
            </a:r>
            <a:endParaRPr lang="en-US" sz="1100" dirty="0"/>
          </a:p>
        </p:txBody>
      </p:sp>
      <p:sp>
        <p:nvSpPr>
          <p:cNvPr id="17" name="Shape 15"/>
          <p:cNvSpPr/>
          <p:nvPr/>
        </p:nvSpPr>
        <p:spPr>
          <a:xfrm>
            <a:off x="457200" y="3611880"/>
            <a:ext cx="8229600" cy="914400"/>
          </a:xfrm>
          <a:prstGeom prst="rect">
            <a:avLst/>
          </a:prstGeom>
          <a:solidFill>
            <a:srgbClr val="F7F9FC"/>
          </a:solidFill>
          <a:ln w="12700">
            <a:solidFill>
              <a:srgbClr val="F7F9FC"/>
            </a:solidFill>
            <a:prstDash val="solid"/>
          </a:ln>
        </p:spPr>
        <p:txBody>
          <a:bodyPr/>
          <a:lstStyle/>
          <a:p>
            <a:endParaRPr lang="en-IN"/>
          </a:p>
        </p:txBody>
      </p:sp>
      <p:sp>
        <p:nvSpPr>
          <p:cNvPr id="18" name="Shape 16"/>
          <p:cNvSpPr/>
          <p:nvPr/>
        </p:nvSpPr>
        <p:spPr>
          <a:xfrm>
            <a:off x="457200" y="3611880"/>
            <a:ext cx="73152" cy="914400"/>
          </a:xfrm>
          <a:prstGeom prst="rect">
            <a:avLst/>
          </a:prstGeom>
          <a:solidFill>
            <a:srgbClr val="F5B700"/>
          </a:solidFill>
          <a:ln w="12700">
            <a:solidFill>
              <a:srgbClr val="F5B700"/>
            </a:solidFill>
            <a:prstDash val="solid"/>
          </a:ln>
        </p:spPr>
        <p:txBody>
          <a:bodyPr/>
          <a:lstStyle/>
          <a:p>
            <a:endParaRPr lang="en-IN"/>
          </a:p>
        </p:txBody>
      </p:sp>
      <p:sp>
        <p:nvSpPr>
          <p:cNvPr id="19" name="Text 17"/>
          <p:cNvSpPr/>
          <p:nvPr/>
        </p:nvSpPr>
        <p:spPr>
          <a:xfrm>
            <a:off x="685800" y="3703320"/>
            <a:ext cx="77724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Every API call has four parts you control</a:t>
            </a:r>
            <a:endParaRPr lang="en-US" sz="1100" dirty="0"/>
          </a:p>
        </p:txBody>
      </p:sp>
      <p:sp>
        <p:nvSpPr>
          <p:cNvPr id="20" name="Text 18"/>
          <p:cNvSpPr/>
          <p:nvPr/>
        </p:nvSpPr>
        <p:spPr>
          <a:xfrm>
            <a:off x="685800" y="4023360"/>
            <a:ext cx="7772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Method </a:t>
            </a:r>
            <a:r>
              <a:rPr lang="en-US" sz="1100" dirty="0">
                <a:solidFill>
                  <a:srgbClr val="1A1A2E"/>
                </a:solidFill>
                <a:latin typeface="Calibri" pitchFamily="34" charset="0"/>
                <a:ea typeface="Calibri" pitchFamily="34" charset="-122"/>
                <a:cs typeface="Calibri" pitchFamily="34" charset="-120"/>
              </a:rPr>
              <a:t>(GET, POST, PUT, DELETE)  ·  </a:t>
            </a:r>
            <a:r>
              <a:rPr lang="en-US" sz="1100" b="1" dirty="0">
                <a:solidFill>
                  <a:srgbClr val="1E2761"/>
                </a:solidFill>
                <a:latin typeface="Consolas" pitchFamily="34" charset="0"/>
                <a:ea typeface="Consolas" pitchFamily="34" charset="-122"/>
                <a:cs typeface="Consolas" pitchFamily="34" charset="-120"/>
              </a:rPr>
              <a:t>URL </a:t>
            </a:r>
            <a:r>
              <a:rPr lang="en-US" sz="1100" dirty="0">
                <a:solidFill>
                  <a:srgbClr val="1A1A2E"/>
                </a:solidFill>
                <a:latin typeface="Calibri" pitchFamily="34" charset="0"/>
                <a:ea typeface="Calibri" pitchFamily="34" charset="-122"/>
                <a:cs typeface="Calibri" pitchFamily="34" charset="-120"/>
              </a:rPr>
              <a:t>(the endpoint)  ·  </a:t>
            </a:r>
            <a:r>
              <a:rPr lang="en-US" sz="1100" b="1" dirty="0">
                <a:solidFill>
                  <a:srgbClr val="1E2761"/>
                </a:solidFill>
                <a:latin typeface="Consolas" pitchFamily="34" charset="0"/>
                <a:ea typeface="Consolas" pitchFamily="34" charset="-122"/>
                <a:cs typeface="Consolas" pitchFamily="34" charset="-120"/>
              </a:rPr>
              <a:t>Headers </a:t>
            </a:r>
            <a:r>
              <a:rPr lang="en-US" sz="1100" dirty="0">
                <a:solidFill>
                  <a:srgbClr val="1A1A2E"/>
                </a:solidFill>
                <a:latin typeface="Calibri" pitchFamily="34" charset="0"/>
                <a:ea typeface="Calibri" pitchFamily="34" charset="-122"/>
                <a:cs typeface="Calibri" pitchFamily="34" charset="-120"/>
              </a:rPr>
              <a:t>(metadata)  ·  </a:t>
            </a:r>
            <a:r>
              <a:rPr lang="en-US" sz="1100" b="1" dirty="0">
                <a:solidFill>
                  <a:srgbClr val="1E2761"/>
                </a:solidFill>
                <a:latin typeface="Consolas" pitchFamily="34" charset="0"/>
                <a:ea typeface="Consolas" pitchFamily="34" charset="-122"/>
                <a:cs typeface="Consolas" pitchFamily="34" charset="-120"/>
              </a:rPr>
              <a:t>Body </a:t>
            </a:r>
            <a:r>
              <a:rPr lang="en-US" sz="1100" dirty="0">
                <a:solidFill>
                  <a:srgbClr val="1A1A2E"/>
                </a:solidFill>
                <a:latin typeface="Calibri" pitchFamily="34" charset="0"/>
                <a:ea typeface="Calibri" pitchFamily="34" charset="-122"/>
                <a:cs typeface="Calibri" pitchFamily="34" charset="-120"/>
              </a:rPr>
              <a:t>(the payload)</a:t>
            </a:r>
            <a:endParaRPr lang="en-US" sz="1100" dirty="0"/>
          </a:p>
        </p:txBody>
      </p:sp>
      <p:sp>
        <p:nvSpPr>
          <p:cNvPr id="21" name="Text 19"/>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2" name="Text 20"/>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JSON — The Language of APIs</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JavaScript Object Notation — how data travels in headers, bodies, and responses</a:t>
            </a:r>
            <a:endParaRPr lang="en-US" sz="1300" dirty="0"/>
          </a:p>
        </p:txBody>
      </p:sp>
      <p:sp>
        <p:nvSpPr>
          <p:cNvPr id="4" name="Text 2"/>
          <p:cNvSpPr/>
          <p:nvPr/>
        </p:nvSpPr>
        <p:spPr>
          <a:xfrm>
            <a:off x="45720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Sample JSON response</a:t>
            </a:r>
            <a:endParaRPr lang="en-US" sz="1200" dirty="0"/>
          </a:p>
        </p:txBody>
      </p:sp>
      <p:sp>
        <p:nvSpPr>
          <p:cNvPr id="5" name="Shape 3"/>
          <p:cNvSpPr/>
          <p:nvPr/>
        </p:nvSpPr>
        <p:spPr>
          <a:xfrm>
            <a:off x="457200" y="1737360"/>
            <a:ext cx="4023360" cy="2788920"/>
          </a:xfrm>
          <a:prstGeom prst="rect">
            <a:avLst/>
          </a:prstGeom>
          <a:solidFill>
            <a:srgbClr val="0F1A3A"/>
          </a:solidFill>
          <a:ln w="12700">
            <a:solidFill>
              <a:srgbClr val="0F1A3A"/>
            </a:solidFill>
            <a:prstDash val="solid"/>
          </a:ln>
        </p:spPr>
        <p:txBody>
          <a:bodyPr/>
          <a:lstStyle/>
          <a:p>
            <a:endParaRPr lang="en-IN"/>
          </a:p>
        </p:txBody>
      </p:sp>
      <p:sp>
        <p:nvSpPr>
          <p:cNvPr id="6" name="Text 4"/>
          <p:cNvSpPr/>
          <p:nvPr/>
        </p:nvSpPr>
        <p:spPr>
          <a:xfrm>
            <a:off x="640080" y="1828800"/>
            <a:ext cx="3749040" cy="2697480"/>
          </a:xfrm>
          <a:prstGeom prst="rect">
            <a:avLst/>
          </a:prstGeom>
          <a:noFill/>
          <a:ln/>
        </p:spPr>
        <p:txBody>
          <a:bodyPr wrap="square" lIns="0" tIns="0" rIns="0" bIns="0" rtlCol="0" anchor="t"/>
          <a:lstStyle/>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"id":      </a:t>
            </a:r>
            <a:r>
              <a:rPr lang="en-US" sz="1050" dirty="0">
                <a:solidFill>
                  <a:srgbClr val="F06292"/>
                </a:solidFill>
                <a:latin typeface="Consolas" pitchFamily="34" charset="0"/>
                <a:ea typeface="Consolas" pitchFamily="34" charset="-122"/>
                <a:cs typeface="Consolas" pitchFamily="34" charset="-120"/>
              </a:rPr>
              <a:t>1042</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"name":    </a:t>
            </a:r>
            <a:r>
              <a:rPr lang="en-US" sz="1050" dirty="0">
                <a:solidFill>
                  <a:srgbClr val="FFD54F"/>
                </a:solidFill>
                <a:latin typeface="Consolas" pitchFamily="34" charset="0"/>
                <a:ea typeface="Consolas" pitchFamily="34" charset="-122"/>
                <a:cs typeface="Consolas" pitchFamily="34" charset="-120"/>
              </a:rPr>
              <a:t>"Priya Nair"</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"email":   </a:t>
            </a:r>
            <a:r>
              <a:rPr lang="en-US" sz="1050" dirty="0">
                <a:solidFill>
                  <a:srgbClr val="FFD54F"/>
                </a:solidFill>
                <a:latin typeface="Consolas" pitchFamily="34" charset="0"/>
                <a:ea typeface="Consolas" pitchFamily="34" charset="-122"/>
                <a:cs typeface="Consolas" pitchFamily="34" charset="-120"/>
              </a:rPr>
              <a:t>"priya@x.co"</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"active":  </a:t>
            </a:r>
            <a:r>
              <a:rPr lang="en-US" sz="1050" dirty="0">
                <a:solidFill>
                  <a:srgbClr val="F06292"/>
                </a:solidFill>
                <a:latin typeface="Consolas" pitchFamily="34" charset="0"/>
                <a:ea typeface="Consolas" pitchFamily="34" charset="-122"/>
                <a:cs typeface="Consolas" pitchFamily="34" charset="-120"/>
              </a:rPr>
              <a:t>true</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"roles":   [</a:t>
            </a:r>
            <a:r>
              <a:rPr lang="en-US" sz="1050" dirty="0">
                <a:solidFill>
                  <a:srgbClr val="FFD54F"/>
                </a:solidFill>
                <a:latin typeface="Consolas" pitchFamily="34" charset="0"/>
                <a:ea typeface="Consolas" pitchFamily="34" charset="-122"/>
                <a:cs typeface="Consolas" pitchFamily="34" charset="-120"/>
              </a:rPr>
              <a:t>"admin"</a:t>
            </a:r>
            <a:r>
              <a:rPr lang="en-US" sz="1050" dirty="0">
                <a:solidFill>
                  <a:srgbClr val="E2E8F0"/>
                </a:solidFill>
                <a:latin typeface="Consolas" pitchFamily="34" charset="0"/>
                <a:ea typeface="Consolas" pitchFamily="34" charset="-122"/>
                <a:cs typeface="Consolas" pitchFamily="34" charset="-120"/>
              </a:rPr>
              <a:t>, </a:t>
            </a:r>
            <a:r>
              <a:rPr lang="en-US" sz="1050" dirty="0">
                <a:solidFill>
                  <a:srgbClr val="FFD54F"/>
                </a:solidFill>
                <a:latin typeface="Consolas" pitchFamily="34" charset="0"/>
                <a:ea typeface="Consolas" pitchFamily="34" charset="-122"/>
                <a:cs typeface="Consolas" pitchFamily="34" charset="-120"/>
              </a:rPr>
              <a:t>"editor"</a:t>
            </a:r>
            <a:r>
              <a:rPr lang="en-US" sz="1050" dirty="0">
                <a:solidFill>
                  <a:srgbClr val="81D4FA"/>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"address": {</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"city":  </a:t>
            </a:r>
            <a:r>
              <a:rPr lang="en-US" sz="1050" dirty="0">
                <a:solidFill>
                  <a:srgbClr val="FFD54F"/>
                </a:solidFill>
                <a:latin typeface="Consolas" pitchFamily="34" charset="0"/>
                <a:ea typeface="Consolas" pitchFamily="34" charset="-122"/>
                <a:cs typeface="Consolas" pitchFamily="34" charset="-120"/>
              </a:rPr>
              <a:t>"Chennai"</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"zip":   </a:t>
            </a:r>
            <a:r>
              <a:rPr lang="en-US" sz="1050" dirty="0">
                <a:solidFill>
                  <a:srgbClr val="FFD54F"/>
                </a:solidFill>
                <a:latin typeface="Consolas" pitchFamily="34" charset="0"/>
                <a:ea typeface="Consolas" pitchFamily="34" charset="-122"/>
                <a:cs typeface="Consolas" pitchFamily="34" charset="-120"/>
              </a:rPr>
              <a:t>"600001"</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466344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Data types you'll see</a:t>
            </a:r>
            <a:endParaRPr lang="en-US" sz="1200" dirty="0"/>
          </a:p>
        </p:txBody>
      </p:sp>
      <p:sp>
        <p:nvSpPr>
          <p:cNvPr id="8" name="Shape 6"/>
          <p:cNvSpPr/>
          <p:nvPr/>
        </p:nvSpPr>
        <p:spPr>
          <a:xfrm>
            <a:off x="4663440" y="1737360"/>
            <a:ext cx="4023360" cy="457200"/>
          </a:xfrm>
          <a:prstGeom prst="rect">
            <a:avLst/>
          </a:prstGeom>
          <a:solidFill>
            <a:srgbClr val="F7F9FC"/>
          </a:solidFill>
          <a:ln w="12700">
            <a:solidFill>
              <a:srgbClr val="F7F9FC"/>
            </a:solidFill>
            <a:prstDash val="solid"/>
          </a:ln>
        </p:spPr>
        <p:txBody>
          <a:bodyPr/>
          <a:lstStyle/>
          <a:p>
            <a:endParaRPr lang="en-IN"/>
          </a:p>
        </p:txBody>
      </p:sp>
      <p:sp>
        <p:nvSpPr>
          <p:cNvPr id="9" name="Text 7"/>
          <p:cNvSpPr/>
          <p:nvPr/>
        </p:nvSpPr>
        <p:spPr>
          <a:xfrm>
            <a:off x="4754880" y="1737360"/>
            <a:ext cx="914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string</a:t>
            </a:r>
            <a:endParaRPr lang="en-US" sz="1100" dirty="0"/>
          </a:p>
        </p:txBody>
      </p:sp>
      <p:sp>
        <p:nvSpPr>
          <p:cNvPr id="10" name="Text 8"/>
          <p:cNvSpPr/>
          <p:nvPr/>
        </p:nvSpPr>
        <p:spPr>
          <a:xfrm>
            <a:off x="5715000" y="1737360"/>
            <a:ext cx="1554480" cy="457200"/>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"Priya"</a:t>
            </a:r>
            <a:endParaRPr lang="en-US" sz="1000" dirty="0"/>
          </a:p>
        </p:txBody>
      </p:sp>
      <p:sp>
        <p:nvSpPr>
          <p:cNvPr id="11" name="Text 9"/>
          <p:cNvSpPr/>
          <p:nvPr/>
        </p:nvSpPr>
        <p:spPr>
          <a:xfrm>
            <a:off x="7315200" y="1737360"/>
            <a:ext cx="1325880" cy="457200"/>
          </a:xfrm>
          <a:prstGeom prst="rect">
            <a:avLst/>
          </a:prstGeom>
          <a:noFill/>
          <a:ln/>
        </p:spPr>
        <p:txBody>
          <a:bodyPr wrap="square" lIns="0" tIns="0" rIns="0" bIns="0" rtlCol="0" anchor="ctr"/>
          <a:lstStyle/>
          <a:p>
            <a:pPr marL="0" indent="0">
              <a:buNone/>
            </a:pPr>
            <a:r>
              <a:rPr lang="en-US" sz="950" i="1" dirty="0">
                <a:solidFill>
                  <a:srgbClr val="5B6582"/>
                </a:solidFill>
                <a:latin typeface="Calibri" pitchFamily="34" charset="0"/>
                <a:ea typeface="Calibri" pitchFamily="34" charset="-122"/>
                <a:cs typeface="Calibri" pitchFamily="34" charset="-120"/>
              </a:rPr>
              <a:t>Names, emails, IDs as text</a:t>
            </a:r>
            <a:endParaRPr lang="en-US" sz="950" dirty="0"/>
          </a:p>
        </p:txBody>
      </p:sp>
      <p:sp>
        <p:nvSpPr>
          <p:cNvPr id="12" name="Shape 10"/>
          <p:cNvSpPr/>
          <p:nvPr/>
        </p:nvSpPr>
        <p:spPr>
          <a:xfrm>
            <a:off x="4663440" y="2194560"/>
            <a:ext cx="4023360" cy="457200"/>
          </a:xfrm>
          <a:prstGeom prst="rect">
            <a:avLst/>
          </a:prstGeom>
          <a:solidFill>
            <a:srgbClr val="FFFFFF"/>
          </a:solidFill>
          <a:ln w="12700">
            <a:solidFill>
              <a:srgbClr val="FFFFFF"/>
            </a:solidFill>
            <a:prstDash val="solid"/>
          </a:ln>
        </p:spPr>
        <p:txBody>
          <a:bodyPr/>
          <a:lstStyle/>
          <a:p>
            <a:endParaRPr lang="en-IN"/>
          </a:p>
        </p:txBody>
      </p:sp>
      <p:sp>
        <p:nvSpPr>
          <p:cNvPr id="13" name="Text 11"/>
          <p:cNvSpPr/>
          <p:nvPr/>
        </p:nvSpPr>
        <p:spPr>
          <a:xfrm>
            <a:off x="4754880" y="2194560"/>
            <a:ext cx="914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number</a:t>
            </a:r>
            <a:endParaRPr lang="en-US" sz="1100" dirty="0"/>
          </a:p>
        </p:txBody>
      </p:sp>
      <p:sp>
        <p:nvSpPr>
          <p:cNvPr id="14" name="Text 12"/>
          <p:cNvSpPr/>
          <p:nvPr/>
        </p:nvSpPr>
        <p:spPr>
          <a:xfrm>
            <a:off x="5715000" y="2194560"/>
            <a:ext cx="1554480" cy="457200"/>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1042  ·  42.50</a:t>
            </a:r>
            <a:endParaRPr lang="en-US" sz="1000" dirty="0"/>
          </a:p>
        </p:txBody>
      </p:sp>
      <p:sp>
        <p:nvSpPr>
          <p:cNvPr id="15" name="Text 13"/>
          <p:cNvSpPr/>
          <p:nvPr/>
        </p:nvSpPr>
        <p:spPr>
          <a:xfrm>
            <a:off x="7315200" y="2194560"/>
            <a:ext cx="1325880" cy="457200"/>
          </a:xfrm>
          <a:prstGeom prst="rect">
            <a:avLst/>
          </a:prstGeom>
          <a:noFill/>
          <a:ln/>
        </p:spPr>
        <p:txBody>
          <a:bodyPr wrap="square" lIns="0" tIns="0" rIns="0" bIns="0" rtlCol="0" anchor="ctr"/>
          <a:lstStyle/>
          <a:p>
            <a:pPr marL="0" indent="0">
              <a:buNone/>
            </a:pPr>
            <a:r>
              <a:rPr lang="en-US" sz="950" i="1" dirty="0">
                <a:solidFill>
                  <a:srgbClr val="5B6582"/>
                </a:solidFill>
                <a:latin typeface="Calibri" pitchFamily="34" charset="0"/>
                <a:ea typeface="Calibri" pitchFamily="34" charset="-122"/>
                <a:cs typeface="Calibri" pitchFamily="34" charset="-120"/>
              </a:rPr>
              <a:t>IDs, counts, prices</a:t>
            </a:r>
            <a:endParaRPr lang="en-US" sz="950" dirty="0"/>
          </a:p>
        </p:txBody>
      </p:sp>
      <p:sp>
        <p:nvSpPr>
          <p:cNvPr id="16" name="Shape 14"/>
          <p:cNvSpPr/>
          <p:nvPr/>
        </p:nvSpPr>
        <p:spPr>
          <a:xfrm>
            <a:off x="4663440" y="2651760"/>
            <a:ext cx="4023360" cy="457200"/>
          </a:xfrm>
          <a:prstGeom prst="rect">
            <a:avLst/>
          </a:prstGeom>
          <a:solidFill>
            <a:srgbClr val="F7F9FC"/>
          </a:solidFill>
          <a:ln w="12700">
            <a:solidFill>
              <a:srgbClr val="F7F9FC"/>
            </a:solidFill>
            <a:prstDash val="solid"/>
          </a:ln>
        </p:spPr>
        <p:txBody>
          <a:bodyPr/>
          <a:lstStyle/>
          <a:p>
            <a:endParaRPr lang="en-IN"/>
          </a:p>
        </p:txBody>
      </p:sp>
      <p:sp>
        <p:nvSpPr>
          <p:cNvPr id="17" name="Text 15"/>
          <p:cNvSpPr/>
          <p:nvPr/>
        </p:nvSpPr>
        <p:spPr>
          <a:xfrm>
            <a:off x="4754880" y="2651760"/>
            <a:ext cx="914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boolean</a:t>
            </a:r>
            <a:endParaRPr lang="en-US" sz="1100" dirty="0"/>
          </a:p>
        </p:txBody>
      </p:sp>
      <p:sp>
        <p:nvSpPr>
          <p:cNvPr id="18" name="Text 16"/>
          <p:cNvSpPr/>
          <p:nvPr/>
        </p:nvSpPr>
        <p:spPr>
          <a:xfrm>
            <a:off x="5715000" y="2651760"/>
            <a:ext cx="1554480" cy="457200"/>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true · false</a:t>
            </a:r>
            <a:endParaRPr lang="en-US" sz="1000" dirty="0"/>
          </a:p>
        </p:txBody>
      </p:sp>
      <p:sp>
        <p:nvSpPr>
          <p:cNvPr id="19" name="Text 17"/>
          <p:cNvSpPr/>
          <p:nvPr/>
        </p:nvSpPr>
        <p:spPr>
          <a:xfrm>
            <a:off x="7315200" y="2651760"/>
            <a:ext cx="1325880" cy="457200"/>
          </a:xfrm>
          <a:prstGeom prst="rect">
            <a:avLst/>
          </a:prstGeom>
          <a:noFill/>
          <a:ln/>
        </p:spPr>
        <p:txBody>
          <a:bodyPr wrap="square" lIns="0" tIns="0" rIns="0" bIns="0" rtlCol="0" anchor="ctr"/>
          <a:lstStyle/>
          <a:p>
            <a:pPr marL="0" indent="0">
              <a:buNone/>
            </a:pPr>
            <a:r>
              <a:rPr lang="en-US" sz="950" i="1" dirty="0">
                <a:solidFill>
                  <a:srgbClr val="5B6582"/>
                </a:solidFill>
                <a:latin typeface="Calibri" pitchFamily="34" charset="0"/>
                <a:ea typeface="Calibri" pitchFamily="34" charset="-122"/>
                <a:cs typeface="Calibri" pitchFamily="34" charset="-120"/>
              </a:rPr>
              <a:t>Flags, toggles</a:t>
            </a:r>
            <a:endParaRPr lang="en-US" sz="950" dirty="0"/>
          </a:p>
        </p:txBody>
      </p:sp>
      <p:sp>
        <p:nvSpPr>
          <p:cNvPr id="20" name="Shape 18"/>
          <p:cNvSpPr/>
          <p:nvPr/>
        </p:nvSpPr>
        <p:spPr>
          <a:xfrm>
            <a:off x="4663440" y="3108960"/>
            <a:ext cx="4023360" cy="457200"/>
          </a:xfrm>
          <a:prstGeom prst="rect">
            <a:avLst/>
          </a:prstGeom>
          <a:solidFill>
            <a:srgbClr val="FFFFFF"/>
          </a:solidFill>
          <a:ln w="12700">
            <a:solidFill>
              <a:srgbClr val="FFFFFF"/>
            </a:solidFill>
            <a:prstDash val="solid"/>
          </a:ln>
        </p:spPr>
        <p:txBody>
          <a:bodyPr/>
          <a:lstStyle/>
          <a:p>
            <a:endParaRPr lang="en-IN"/>
          </a:p>
        </p:txBody>
      </p:sp>
      <p:sp>
        <p:nvSpPr>
          <p:cNvPr id="21" name="Text 19"/>
          <p:cNvSpPr/>
          <p:nvPr/>
        </p:nvSpPr>
        <p:spPr>
          <a:xfrm>
            <a:off x="4754880" y="3108960"/>
            <a:ext cx="914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array</a:t>
            </a:r>
            <a:endParaRPr lang="en-US" sz="1100" dirty="0"/>
          </a:p>
        </p:txBody>
      </p:sp>
      <p:sp>
        <p:nvSpPr>
          <p:cNvPr id="22" name="Text 20"/>
          <p:cNvSpPr/>
          <p:nvPr/>
        </p:nvSpPr>
        <p:spPr>
          <a:xfrm>
            <a:off x="5715000" y="3108960"/>
            <a:ext cx="1554480" cy="457200"/>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["admin", ...]</a:t>
            </a:r>
            <a:endParaRPr lang="en-US" sz="1000" dirty="0"/>
          </a:p>
        </p:txBody>
      </p:sp>
      <p:sp>
        <p:nvSpPr>
          <p:cNvPr id="23" name="Text 21"/>
          <p:cNvSpPr/>
          <p:nvPr/>
        </p:nvSpPr>
        <p:spPr>
          <a:xfrm>
            <a:off x="7315200" y="3108960"/>
            <a:ext cx="1325880" cy="457200"/>
          </a:xfrm>
          <a:prstGeom prst="rect">
            <a:avLst/>
          </a:prstGeom>
          <a:noFill/>
          <a:ln/>
        </p:spPr>
        <p:txBody>
          <a:bodyPr wrap="square" lIns="0" tIns="0" rIns="0" bIns="0" rtlCol="0" anchor="ctr"/>
          <a:lstStyle/>
          <a:p>
            <a:pPr marL="0" indent="0">
              <a:buNone/>
            </a:pPr>
            <a:r>
              <a:rPr lang="en-US" sz="950" i="1" dirty="0">
                <a:solidFill>
                  <a:srgbClr val="5B6582"/>
                </a:solidFill>
                <a:latin typeface="Calibri" pitchFamily="34" charset="0"/>
                <a:ea typeface="Calibri" pitchFamily="34" charset="-122"/>
                <a:cs typeface="Calibri" pitchFamily="34" charset="-120"/>
              </a:rPr>
              <a:t>Lists of items</a:t>
            </a:r>
            <a:endParaRPr lang="en-US" sz="950" dirty="0"/>
          </a:p>
        </p:txBody>
      </p:sp>
      <p:sp>
        <p:nvSpPr>
          <p:cNvPr id="24" name="Shape 22"/>
          <p:cNvSpPr/>
          <p:nvPr/>
        </p:nvSpPr>
        <p:spPr>
          <a:xfrm>
            <a:off x="4663440" y="3566160"/>
            <a:ext cx="4023360" cy="457200"/>
          </a:xfrm>
          <a:prstGeom prst="rect">
            <a:avLst/>
          </a:prstGeom>
          <a:solidFill>
            <a:srgbClr val="F7F9FC"/>
          </a:solidFill>
          <a:ln w="12700">
            <a:solidFill>
              <a:srgbClr val="F7F9FC"/>
            </a:solidFill>
            <a:prstDash val="solid"/>
          </a:ln>
        </p:spPr>
        <p:txBody>
          <a:bodyPr/>
          <a:lstStyle/>
          <a:p>
            <a:endParaRPr lang="en-IN"/>
          </a:p>
        </p:txBody>
      </p:sp>
      <p:sp>
        <p:nvSpPr>
          <p:cNvPr id="25" name="Text 23"/>
          <p:cNvSpPr/>
          <p:nvPr/>
        </p:nvSpPr>
        <p:spPr>
          <a:xfrm>
            <a:off x="4754880" y="3566160"/>
            <a:ext cx="914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object</a:t>
            </a:r>
            <a:endParaRPr lang="en-US" sz="1100" dirty="0"/>
          </a:p>
        </p:txBody>
      </p:sp>
      <p:sp>
        <p:nvSpPr>
          <p:cNvPr id="26" name="Text 24"/>
          <p:cNvSpPr/>
          <p:nvPr/>
        </p:nvSpPr>
        <p:spPr>
          <a:xfrm>
            <a:off x="5715000" y="3566160"/>
            <a:ext cx="1554480" cy="457200"/>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 city: ... }</a:t>
            </a:r>
            <a:endParaRPr lang="en-US" sz="1000" dirty="0"/>
          </a:p>
        </p:txBody>
      </p:sp>
      <p:sp>
        <p:nvSpPr>
          <p:cNvPr id="27" name="Text 25"/>
          <p:cNvSpPr/>
          <p:nvPr/>
        </p:nvSpPr>
        <p:spPr>
          <a:xfrm>
            <a:off x="7315200" y="3566160"/>
            <a:ext cx="1325880" cy="457200"/>
          </a:xfrm>
          <a:prstGeom prst="rect">
            <a:avLst/>
          </a:prstGeom>
          <a:noFill/>
          <a:ln/>
        </p:spPr>
        <p:txBody>
          <a:bodyPr wrap="square" lIns="0" tIns="0" rIns="0" bIns="0" rtlCol="0" anchor="ctr"/>
          <a:lstStyle/>
          <a:p>
            <a:pPr marL="0" indent="0">
              <a:buNone/>
            </a:pPr>
            <a:r>
              <a:rPr lang="en-US" sz="950" i="1" dirty="0">
                <a:solidFill>
                  <a:srgbClr val="5B6582"/>
                </a:solidFill>
                <a:latin typeface="Calibri" pitchFamily="34" charset="0"/>
                <a:ea typeface="Calibri" pitchFamily="34" charset="-122"/>
                <a:cs typeface="Calibri" pitchFamily="34" charset="-120"/>
              </a:rPr>
              <a:t>Nested structure</a:t>
            </a:r>
            <a:endParaRPr lang="en-US" sz="950" dirty="0"/>
          </a:p>
        </p:txBody>
      </p:sp>
      <p:sp>
        <p:nvSpPr>
          <p:cNvPr id="28" name="Shape 26"/>
          <p:cNvSpPr/>
          <p:nvPr/>
        </p:nvSpPr>
        <p:spPr>
          <a:xfrm>
            <a:off x="4663440" y="4023360"/>
            <a:ext cx="4023360" cy="457200"/>
          </a:xfrm>
          <a:prstGeom prst="rect">
            <a:avLst/>
          </a:prstGeom>
          <a:solidFill>
            <a:srgbClr val="FFFFFF"/>
          </a:solidFill>
          <a:ln w="12700">
            <a:solidFill>
              <a:srgbClr val="FFFFFF"/>
            </a:solidFill>
            <a:prstDash val="solid"/>
          </a:ln>
        </p:spPr>
        <p:txBody>
          <a:bodyPr/>
          <a:lstStyle/>
          <a:p>
            <a:endParaRPr lang="en-IN"/>
          </a:p>
        </p:txBody>
      </p:sp>
      <p:sp>
        <p:nvSpPr>
          <p:cNvPr id="29" name="Text 27"/>
          <p:cNvSpPr/>
          <p:nvPr/>
        </p:nvSpPr>
        <p:spPr>
          <a:xfrm>
            <a:off x="4754880" y="4023360"/>
            <a:ext cx="914400" cy="457200"/>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null</a:t>
            </a:r>
            <a:endParaRPr lang="en-US" sz="1100" dirty="0"/>
          </a:p>
        </p:txBody>
      </p:sp>
      <p:sp>
        <p:nvSpPr>
          <p:cNvPr id="30" name="Text 28"/>
          <p:cNvSpPr/>
          <p:nvPr/>
        </p:nvSpPr>
        <p:spPr>
          <a:xfrm>
            <a:off x="5715000" y="4023360"/>
            <a:ext cx="1554480" cy="457200"/>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null</a:t>
            </a:r>
            <a:endParaRPr lang="en-US" sz="1000" dirty="0"/>
          </a:p>
        </p:txBody>
      </p:sp>
      <p:sp>
        <p:nvSpPr>
          <p:cNvPr id="31" name="Text 29"/>
          <p:cNvSpPr/>
          <p:nvPr/>
        </p:nvSpPr>
        <p:spPr>
          <a:xfrm>
            <a:off x="7315200" y="4023360"/>
            <a:ext cx="1325880" cy="457200"/>
          </a:xfrm>
          <a:prstGeom prst="rect">
            <a:avLst/>
          </a:prstGeom>
          <a:noFill/>
          <a:ln/>
        </p:spPr>
        <p:txBody>
          <a:bodyPr wrap="square" lIns="0" tIns="0" rIns="0" bIns="0" rtlCol="0" anchor="ctr"/>
          <a:lstStyle/>
          <a:p>
            <a:pPr marL="0" indent="0">
              <a:buNone/>
            </a:pPr>
            <a:r>
              <a:rPr lang="en-US" sz="950" i="1" dirty="0">
                <a:solidFill>
                  <a:srgbClr val="5B6582"/>
                </a:solidFill>
                <a:latin typeface="Calibri" pitchFamily="34" charset="0"/>
                <a:ea typeface="Calibri" pitchFamily="34" charset="-122"/>
                <a:cs typeface="Calibri" pitchFamily="34" charset="-120"/>
              </a:rPr>
              <a:t>Missing or unset value</a:t>
            </a:r>
            <a:endParaRPr lang="en-US" sz="950" dirty="0"/>
          </a:p>
        </p:txBody>
      </p:sp>
      <p:sp>
        <p:nvSpPr>
          <p:cNvPr id="32" name="Text 30"/>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33" name="Text 31"/>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HTTP Headers — Metadata for Every Request</a:t>
            </a:r>
            <a:endParaRPr lang="en-US" sz="24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200" i="1" dirty="0">
                <a:solidFill>
                  <a:srgbClr val="5B6582"/>
                </a:solidFill>
                <a:latin typeface="Calibri" pitchFamily="34" charset="0"/>
                <a:ea typeface="Calibri" pitchFamily="34" charset="-122"/>
                <a:cs typeface="Calibri" pitchFamily="34" charset="-120"/>
              </a:rPr>
              <a:t>Key-value pairs sent alongside every request — who you are, what you accept, how to read the body</a:t>
            </a:r>
            <a:endParaRPr lang="en-US" sz="1200" dirty="0"/>
          </a:p>
        </p:txBody>
      </p:sp>
      <p:sp>
        <p:nvSpPr>
          <p:cNvPr id="4" name="Shape 2"/>
          <p:cNvSpPr/>
          <p:nvPr/>
        </p:nvSpPr>
        <p:spPr>
          <a:xfrm>
            <a:off x="457200" y="1280160"/>
            <a:ext cx="8229600" cy="1371600"/>
          </a:xfrm>
          <a:prstGeom prst="rect">
            <a:avLst/>
          </a:prstGeom>
          <a:solidFill>
            <a:srgbClr val="0F1A3A"/>
          </a:solidFill>
          <a:ln w="12700">
            <a:solidFill>
              <a:srgbClr val="0F1A3A"/>
            </a:solidFill>
            <a:prstDash val="solid"/>
          </a:ln>
        </p:spPr>
        <p:txBody>
          <a:bodyPr/>
          <a:lstStyle/>
          <a:p>
            <a:endParaRPr lang="en-IN"/>
          </a:p>
        </p:txBody>
      </p:sp>
      <p:sp>
        <p:nvSpPr>
          <p:cNvPr id="5" name="Text 3"/>
          <p:cNvSpPr/>
          <p:nvPr/>
        </p:nvSpPr>
        <p:spPr>
          <a:xfrm>
            <a:off x="640080" y="1371600"/>
            <a:ext cx="7863840" cy="1143000"/>
          </a:xfrm>
          <a:prstGeom prst="rect">
            <a:avLst/>
          </a:prstGeom>
          <a:noFill/>
          <a:ln/>
        </p:spPr>
        <p:txBody>
          <a:bodyPr wrap="square" lIns="0" tIns="0" rIns="0" bIns="0" rtlCol="0" anchor="t"/>
          <a:lstStyle/>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cy.request({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method: </a:t>
            </a:r>
            <a:r>
              <a:rPr lang="en-US" sz="1050" dirty="0">
                <a:solidFill>
                  <a:srgbClr val="FFD54F"/>
                </a:solidFill>
                <a:latin typeface="Consolas" pitchFamily="34" charset="0"/>
                <a:ea typeface="Consolas" pitchFamily="34" charset="-122"/>
                <a:cs typeface="Consolas" pitchFamily="34" charset="-120"/>
              </a:rPr>
              <a:t>"GET"</a:t>
            </a:r>
            <a:r>
              <a:rPr lang="en-US" sz="1050" dirty="0">
                <a:solidFill>
                  <a:srgbClr val="81D4FA"/>
                </a:solidFill>
                <a:latin typeface="Consolas" pitchFamily="34" charset="0"/>
                <a:ea typeface="Consolas" pitchFamily="34" charset="-122"/>
                <a:cs typeface="Consolas" pitchFamily="34" charset="-120"/>
              </a:rPr>
              <a:t>, url: </a:t>
            </a:r>
            <a:r>
              <a:rPr lang="en-US" sz="1050" dirty="0">
                <a:solidFill>
                  <a:srgbClr val="FFD54F"/>
                </a:solidFill>
                <a:latin typeface="Consolas" pitchFamily="34" charset="0"/>
                <a:ea typeface="Consolas" pitchFamily="34" charset="-122"/>
                <a:cs typeface="Consolas" pitchFamily="34" charset="-120"/>
              </a:rPr>
              <a:t>"/api/users/1"</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9FBF6A"/>
                </a:solidFill>
                <a:latin typeface="Consolas" pitchFamily="34" charset="0"/>
                <a:ea typeface="Consolas" pitchFamily="34" charset="-122"/>
                <a:cs typeface="Consolas" pitchFamily="34" charset="-120"/>
              </a:rPr>
              <a:t>  headers: {                                </a:t>
            </a:r>
            <a:r>
              <a:rPr lang="en-US" sz="1050" dirty="0">
                <a:solidFill>
                  <a:srgbClr val="78909C"/>
                </a:solidFill>
                <a:latin typeface="Consolas" pitchFamily="34" charset="0"/>
                <a:ea typeface="Consolas" pitchFamily="34" charset="-122"/>
                <a:cs typeface="Consolas" pitchFamily="34" charset="-120"/>
              </a:rPr>
              <a:t>// ← key-value pairs</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Authorization: </a:t>
            </a:r>
            <a:r>
              <a:rPr lang="en-US" sz="1050" dirty="0">
                <a:solidFill>
                  <a:srgbClr val="FFD54F"/>
                </a:solidFill>
                <a:latin typeface="Consolas" pitchFamily="34" charset="0"/>
                <a:ea typeface="Consolas" pitchFamily="34" charset="-122"/>
                <a:cs typeface="Consolas" pitchFamily="34" charset="-120"/>
              </a:rPr>
              <a:t>"Bearer abc123"</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"Content-Type": </a:t>
            </a:r>
            <a:r>
              <a:rPr lang="en-US" sz="1050" dirty="0">
                <a:solidFill>
                  <a:srgbClr val="FFD54F"/>
                </a:solidFill>
                <a:latin typeface="Consolas" pitchFamily="34" charset="0"/>
                <a:ea typeface="Consolas" pitchFamily="34" charset="-122"/>
                <a:cs typeface="Consolas" pitchFamily="34" charset="-120"/>
              </a:rPr>
              <a:t>"application/json"</a:t>
            </a:r>
            <a:endParaRPr lang="en-US" sz="1050" dirty="0"/>
          </a:p>
          <a:p>
            <a:pPr marL="0" indent="0">
              <a:spcAft>
                <a:spcPts val="100"/>
              </a:spcAft>
              <a:buNone/>
            </a:pPr>
            <a:r>
              <a:rPr lang="en-US" sz="1050" dirty="0">
                <a:solidFill>
                  <a:srgbClr val="9FBF6A"/>
                </a:solidFill>
                <a:latin typeface="Consolas" pitchFamily="34" charset="0"/>
                <a:ea typeface="Consolas" pitchFamily="34" charset="-122"/>
                <a:cs typeface="Consolas" pitchFamily="34" charset="-120"/>
              </a:rPr>
              <a:t>  }</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
        <p:nvSpPr>
          <p:cNvPr id="6" name="Text 4"/>
          <p:cNvSpPr/>
          <p:nvPr/>
        </p:nvSpPr>
        <p:spPr>
          <a:xfrm>
            <a:off x="457200" y="2697480"/>
            <a:ext cx="8229600" cy="274320"/>
          </a:xfrm>
          <a:prstGeom prst="rect">
            <a:avLst/>
          </a:prstGeom>
          <a:noFill/>
          <a:ln/>
        </p:spPr>
        <p:txBody>
          <a:bodyPr wrap="square" lIns="0" tIns="0" rIns="0" bIns="0" rtlCol="0" anchor="ctr"/>
          <a:lstStyle/>
          <a:p>
            <a:pPr marL="0" indent="0">
              <a:buNone/>
            </a:pPr>
            <a:r>
              <a:rPr lang="en-US" sz="1100" b="1" kern="0" spc="300" dirty="0">
                <a:solidFill>
                  <a:srgbClr val="69D3A7"/>
                </a:solidFill>
                <a:latin typeface="Calibri" pitchFamily="34" charset="0"/>
                <a:ea typeface="Calibri" pitchFamily="34" charset="-122"/>
                <a:cs typeface="Calibri" pitchFamily="34" charset="-120"/>
              </a:rPr>
              <a:t>Common headers you'll send</a:t>
            </a:r>
            <a:endParaRPr lang="en-US" sz="1100" dirty="0"/>
          </a:p>
        </p:txBody>
      </p:sp>
      <p:sp>
        <p:nvSpPr>
          <p:cNvPr id="7" name="Shape 5"/>
          <p:cNvSpPr/>
          <p:nvPr/>
        </p:nvSpPr>
        <p:spPr>
          <a:xfrm>
            <a:off x="457200" y="3017520"/>
            <a:ext cx="8229600" cy="420624"/>
          </a:xfrm>
          <a:prstGeom prst="rect">
            <a:avLst/>
          </a:prstGeom>
          <a:solidFill>
            <a:srgbClr val="F7F9FC"/>
          </a:solidFill>
          <a:ln w="12700">
            <a:solidFill>
              <a:srgbClr val="F7F9FC"/>
            </a:solidFill>
            <a:prstDash val="solid"/>
          </a:ln>
        </p:spPr>
        <p:txBody>
          <a:bodyPr/>
          <a:lstStyle/>
          <a:p>
            <a:endParaRPr lang="en-IN"/>
          </a:p>
        </p:txBody>
      </p:sp>
      <p:sp>
        <p:nvSpPr>
          <p:cNvPr id="8" name="Text 6"/>
          <p:cNvSpPr/>
          <p:nvPr/>
        </p:nvSpPr>
        <p:spPr>
          <a:xfrm>
            <a:off x="548640" y="3017520"/>
            <a:ext cx="1645920" cy="420624"/>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Authorization</a:t>
            </a:r>
            <a:endParaRPr lang="en-US" sz="1100" dirty="0"/>
          </a:p>
        </p:txBody>
      </p:sp>
      <p:sp>
        <p:nvSpPr>
          <p:cNvPr id="9" name="Text 7"/>
          <p:cNvSpPr/>
          <p:nvPr/>
        </p:nvSpPr>
        <p:spPr>
          <a:xfrm>
            <a:off x="2194560" y="3017520"/>
            <a:ext cx="2377440" cy="420624"/>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Bearer abc123…</a:t>
            </a:r>
            <a:endParaRPr lang="en-US" sz="1000" dirty="0"/>
          </a:p>
        </p:txBody>
      </p:sp>
      <p:sp>
        <p:nvSpPr>
          <p:cNvPr id="10" name="Text 8"/>
          <p:cNvSpPr/>
          <p:nvPr/>
        </p:nvSpPr>
        <p:spPr>
          <a:xfrm>
            <a:off x="4663440" y="3017520"/>
            <a:ext cx="3931920" cy="420624"/>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Proves who you are — tokens, API keys</a:t>
            </a:r>
            <a:endParaRPr lang="en-US" sz="1050" dirty="0"/>
          </a:p>
        </p:txBody>
      </p:sp>
      <p:sp>
        <p:nvSpPr>
          <p:cNvPr id="11" name="Shape 9"/>
          <p:cNvSpPr/>
          <p:nvPr/>
        </p:nvSpPr>
        <p:spPr>
          <a:xfrm>
            <a:off x="457200" y="3438144"/>
            <a:ext cx="8229600" cy="420624"/>
          </a:xfrm>
          <a:prstGeom prst="rect">
            <a:avLst/>
          </a:prstGeom>
          <a:solidFill>
            <a:srgbClr val="FFFFFF"/>
          </a:solidFill>
          <a:ln w="12700">
            <a:solidFill>
              <a:srgbClr val="FFFFFF"/>
            </a:solidFill>
            <a:prstDash val="solid"/>
          </a:ln>
        </p:spPr>
        <p:txBody>
          <a:bodyPr/>
          <a:lstStyle/>
          <a:p>
            <a:endParaRPr lang="en-IN"/>
          </a:p>
        </p:txBody>
      </p:sp>
      <p:sp>
        <p:nvSpPr>
          <p:cNvPr id="12" name="Text 10"/>
          <p:cNvSpPr/>
          <p:nvPr/>
        </p:nvSpPr>
        <p:spPr>
          <a:xfrm>
            <a:off x="548640" y="3438144"/>
            <a:ext cx="1645920" cy="420624"/>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Content-Type</a:t>
            </a:r>
            <a:endParaRPr lang="en-US" sz="1100" dirty="0"/>
          </a:p>
        </p:txBody>
      </p:sp>
      <p:sp>
        <p:nvSpPr>
          <p:cNvPr id="13" name="Text 11"/>
          <p:cNvSpPr/>
          <p:nvPr/>
        </p:nvSpPr>
        <p:spPr>
          <a:xfrm>
            <a:off x="2194560" y="3438144"/>
            <a:ext cx="2377440" cy="420624"/>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application/json</a:t>
            </a:r>
            <a:endParaRPr lang="en-US" sz="1000" dirty="0"/>
          </a:p>
        </p:txBody>
      </p:sp>
      <p:sp>
        <p:nvSpPr>
          <p:cNvPr id="14" name="Text 12"/>
          <p:cNvSpPr/>
          <p:nvPr/>
        </p:nvSpPr>
        <p:spPr>
          <a:xfrm>
            <a:off x="4663440" y="3438144"/>
            <a:ext cx="3931920" cy="420624"/>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Tells the server how to read your body</a:t>
            </a:r>
            <a:endParaRPr lang="en-US" sz="1050" dirty="0"/>
          </a:p>
        </p:txBody>
      </p:sp>
      <p:sp>
        <p:nvSpPr>
          <p:cNvPr id="15" name="Shape 13"/>
          <p:cNvSpPr/>
          <p:nvPr/>
        </p:nvSpPr>
        <p:spPr>
          <a:xfrm>
            <a:off x="457200" y="3858768"/>
            <a:ext cx="8229600" cy="420624"/>
          </a:xfrm>
          <a:prstGeom prst="rect">
            <a:avLst/>
          </a:prstGeom>
          <a:solidFill>
            <a:srgbClr val="F7F9FC"/>
          </a:solidFill>
          <a:ln w="12700">
            <a:solidFill>
              <a:srgbClr val="F7F9FC"/>
            </a:solidFill>
            <a:prstDash val="solid"/>
          </a:ln>
        </p:spPr>
        <p:txBody>
          <a:bodyPr/>
          <a:lstStyle/>
          <a:p>
            <a:endParaRPr lang="en-IN"/>
          </a:p>
        </p:txBody>
      </p:sp>
      <p:sp>
        <p:nvSpPr>
          <p:cNvPr id="16" name="Text 14"/>
          <p:cNvSpPr/>
          <p:nvPr/>
        </p:nvSpPr>
        <p:spPr>
          <a:xfrm>
            <a:off x="548640" y="3858768"/>
            <a:ext cx="1645920" cy="420624"/>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Accept</a:t>
            </a:r>
            <a:endParaRPr lang="en-US" sz="1100" dirty="0"/>
          </a:p>
        </p:txBody>
      </p:sp>
      <p:sp>
        <p:nvSpPr>
          <p:cNvPr id="17" name="Text 15"/>
          <p:cNvSpPr/>
          <p:nvPr/>
        </p:nvSpPr>
        <p:spPr>
          <a:xfrm>
            <a:off x="2194560" y="3858768"/>
            <a:ext cx="2377440" cy="420624"/>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application/json</a:t>
            </a:r>
            <a:endParaRPr lang="en-US" sz="1000" dirty="0"/>
          </a:p>
        </p:txBody>
      </p:sp>
      <p:sp>
        <p:nvSpPr>
          <p:cNvPr id="18" name="Text 16"/>
          <p:cNvSpPr/>
          <p:nvPr/>
        </p:nvSpPr>
        <p:spPr>
          <a:xfrm>
            <a:off x="4663440" y="3858768"/>
            <a:ext cx="3931920" cy="420624"/>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Tells the server what response format you want</a:t>
            </a:r>
            <a:endParaRPr lang="en-US" sz="1050" dirty="0"/>
          </a:p>
        </p:txBody>
      </p:sp>
      <p:sp>
        <p:nvSpPr>
          <p:cNvPr id="19" name="Shape 17"/>
          <p:cNvSpPr/>
          <p:nvPr/>
        </p:nvSpPr>
        <p:spPr>
          <a:xfrm>
            <a:off x="457200" y="4279392"/>
            <a:ext cx="8229600" cy="420624"/>
          </a:xfrm>
          <a:prstGeom prst="rect">
            <a:avLst/>
          </a:prstGeom>
          <a:solidFill>
            <a:srgbClr val="FFFFFF"/>
          </a:solidFill>
          <a:ln w="12700">
            <a:solidFill>
              <a:srgbClr val="FFFFFF"/>
            </a:solidFill>
            <a:prstDash val="solid"/>
          </a:ln>
        </p:spPr>
        <p:txBody>
          <a:bodyPr/>
          <a:lstStyle/>
          <a:p>
            <a:endParaRPr lang="en-IN"/>
          </a:p>
        </p:txBody>
      </p:sp>
      <p:sp>
        <p:nvSpPr>
          <p:cNvPr id="20" name="Text 18"/>
          <p:cNvSpPr/>
          <p:nvPr/>
        </p:nvSpPr>
        <p:spPr>
          <a:xfrm>
            <a:off x="548640" y="4279392"/>
            <a:ext cx="1645920" cy="420624"/>
          </a:xfrm>
          <a:prstGeom prst="rect">
            <a:avLst/>
          </a:prstGeom>
          <a:noFill/>
          <a:ln/>
        </p:spPr>
        <p:txBody>
          <a:bodyPr wrap="square" lIns="0" tIns="0" rIns="0" bIns="0" rtlCol="0" anchor="ctr"/>
          <a:lstStyle/>
          <a:p>
            <a:pPr marL="0" indent="0">
              <a:buNone/>
            </a:pPr>
            <a:r>
              <a:rPr lang="en-US" sz="1100" b="1" dirty="0">
                <a:solidFill>
                  <a:srgbClr val="1E2761"/>
                </a:solidFill>
                <a:latin typeface="Consolas" pitchFamily="34" charset="0"/>
                <a:ea typeface="Consolas" pitchFamily="34" charset="-122"/>
                <a:cs typeface="Consolas" pitchFamily="34" charset="-120"/>
              </a:rPr>
              <a:t>Cookie</a:t>
            </a:r>
            <a:endParaRPr lang="en-US" sz="1100" dirty="0"/>
          </a:p>
        </p:txBody>
      </p:sp>
      <p:sp>
        <p:nvSpPr>
          <p:cNvPr id="21" name="Text 19"/>
          <p:cNvSpPr/>
          <p:nvPr/>
        </p:nvSpPr>
        <p:spPr>
          <a:xfrm>
            <a:off x="2194560" y="4279392"/>
            <a:ext cx="2377440" cy="420624"/>
          </a:xfrm>
          <a:prstGeom prst="rect">
            <a:avLst/>
          </a:prstGeom>
          <a:noFill/>
          <a:ln/>
        </p:spPr>
        <p:txBody>
          <a:bodyPr wrap="square" lIns="0" tIns="0" rIns="0" bIns="0" rtlCol="0" anchor="ctr"/>
          <a:lstStyle/>
          <a:p>
            <a:pPr marL="0" indent="0">
              <a:buNone/>
            </a:pPr>
            <a:r>
              <a:rPr lang="en-US" sz="1000" dirty="0">
                <a:solidFill>
                  <a:srgbClr val="5D4037"/>
                </a:solidFill>
                <a:latin typeface="Consolas" pitchFamily="34" charset="0"/>
                <a:ea typeface="Consolas" pitchFamily="34" charset="-122"/>
                <a:cs typeface="Consolas" pitchFamily="34" charset="-120"/>
              </a:rPr>
              <a:t>session=xyz789</a:t>
            </a:r>
            <a:endParaRPr lang="en-US" sz="1000" dirty="0"/>
          </a:p>
        </p:txBody>
      </p:sp>
      <p:sp>
        <p:nvSpPr>
          <p:cNvPr id="22" name="Text 20"/>
          <p:cNvSpPr/>
          <p:nvPr/>
        </p:nvSpPr>
        <p:spPr>
          <a:xfrm>
            <a:off x="4663440" y="4279392"/>
            <a:ext cx="3931920" cy="420624"/>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Session info — browsers send this automatically</a:t>
            </a:r>
            <a:endParaRPr lang="en-US" sz="105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HTTP Body — The Payload You Send</a:t>
            </a:r>
            <a:endParaRPr lang="en-US" sz="28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200" i="1" dirty="0">
                <a:solidFill>
                  <a:srgbClr val="5B6582"/>
                </a:solidFill>
                <a:latin typeface="Calibri" pitchFamily="34" charset="0"/>
                <a:ea typeface="Calibri" pitchFamily="34" charset="-122"/>
                <a:cs typeface="Calibri" pitchFamily="34" charset="-120"/>
              </a:rPr>
              <a:t>The data being sent to the server — only needed for POST, PUT, PATCH (not GET or DELETE)</a:t>
            </a:r>
            <a:endParaRPr lang="en-US" sz="1200" dirty="0"/>
          </a:p>
        </p:txBody>
      </p:sp>
      <p:sp>
        <p:nvSpPr>
          <p:cNvPr id="4" name="Shape 2"/>
          <p:cNvSpPr/>
          <p:nvPr/>
        </p:nvSpPr>
        <p:spPr>
          <a:xfrm>
            <a:off x="457200" y="1417320"/>
            <a:ext cx="4023360" cy="3108960"/>
          </a:xfrm>
          <a:prstGeom prst="rect">
            <a:avLst/>
          </a:prstGeom>
          <a:solidFill>
            <a:srgbClr val="F7F9FC"/>
          </a:solidFill>
          <a:ln w="12700">
            <a:solidFill>
              <a:srgbClr val="F7F9FC"/>
            </a:solidFill>
            <a:prstDash val="solid"/>
          </a:ln>
        </p:spPr>
        <p:txBody>
          <a:bodyPr/>
          <a:lstStyle/>
          <a:p>
            <a:endParaRPr lang="en-IN"/>
          </a:p>
        </p:txBody>
      </p:sp>
      <p:sp>
        <p:nvSpPr>
          <p:cNvPr id="5" name="Text 3"/>
          <p:cNvSpPr/>
          <p:nvPr/>
        </p:nvSpPr>
        <p:spPr>
          <a:xfrm>
            <a:off x="640080" y="1554480"/>
            <a:ext cx="374904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Which methods carry a body?</a:t>
            </a:r>
            <a:endParaRPr lang="en-US" sz="1200" dirty="0"/>
          </a:p>
        </p:txBody>
      </p:sp>
      <p:sp>
        <p:nvSpPr>
          <p:cNvPr id="6" name="Shape 4"/>
          <p:cNvSpPr/>
          <p:nvPr/>
        </p:nvSpPr>
        <p:spPr>
          <a:xfrm>
            <a:off x="640080" y="1920240"/>
            <a:ext cx="3657600" cy="457200"/>
          </a:xfrm>
          <a:prstGeom prst="rect">
            <a:avLst/>
          </a:prstGeom>
          <a:solidFill>
            <a:srgbClr val="FFFFFF"/>
          </a:solidFill>
          <a:ln w="12700">
            <a:solidFill>
              <a:srgbClr val="FFFFFF"/>
            </a:solidFill>
            <a:prstDash val="solid"/>
          </a:ln>
        </p:spPr>
        <p:txBody>
          <a:bodyPr/>
          <a:lstStyle/>
          <a:p>
            <a:endParaRPr lang="en-IN"/>
          </a:p>
        </p:txBody>
      </p:sp>
      <p:sp>
        <p:nvSpPr>
          <p:cNvPr id="7" name="Text 5"/>
          <p:cNvSpPr/>
          <p:nvPr/>
        </p:nvSpPr>
        <p:spPr>
          <a:xfrm>
            <a:off x="731520" y="1920240"/>
            <a:ext cx="822960" cy="45720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GET</a:t>
            </a:r>
            <a:endParaRPr lang="en-US" sz="1200" dirty="0"/>
          </a:p>
        </p:txBody>
      </p:sp>
      <p:sp>
        <p:nvSpPr>
          <p:cNvPr id="8" name="Text 6"/>
          <p:cNvSpPr/>
          <p:nvPr/>
        </p:nvSpPr>
        <p:spPr>
          <a:xfrm>
            <a:off x="1600200" y="1920240"/>
            <a:ext cx="502920" cy="457200"/>
          </a:xfrm>
          <a:prstGeom prst="rect">
            <a:avLst/>
          </a:prstGeom>
          <a:noFill/>
          <a:ln/>
        </p:spPr>
        <p:txBody>
          <a:bodyPr wrap="square" lIns="0" tIns="0" rIns="0" bIns="0"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No</a:t>
            </a:r>
            <a:endParaRPr lang="en-US" sz="1100" dirty="0"/>
          </a:p>
        </p:txBody>
      </p:sp>
      <p:sp>
        <p:nvSpPr>
          <p:cNvPr id="9" name="Text 7"/>
          <p:cNvSpPr/>
          <p:nvPr/>
        </p:nvSpPr>
        <p:spPr>
          <a:xfrm>
            <a:off x="2103120" y="1920240"/>
            <a:ext cx="2194560" cy="45720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Read data — params go in URL</a:t>
            </a:r>
            <a:endParaRPr lang="en-US" sz="1000" dirty="0"/>
          </a:p>
        </p:txBody>
      </p:sp>
      <p:sp>
        <p:nvSpPr>
          <p:cNvPr id="10" name="Shape 8"/>
          <p:cNvSpPr/>
          <p:nvPr/>
        </p:nvSpPr>
        <p:spPr>
          <a:xfrm>
            <a:off x="640080" y="2423160"/>
            <a:ext cx="3657600" cy="457200"/>
          </a:xfrm>
          <a:prstGeom prst="rect">
            <a:avLst/>
          </a:prstGeom>
          <a:solidFill>
            <a:srgbClr val="FFFFFF"/>
          </a:solidFill>
          <a:ln w="12700">
            <a:solidFill>
              <a:srgbClr val="FFFFFF"/>
            </a:solidFill>
            <a:prstDash val="solid"/>
          </a:ln>
        </p:spPr>
        <p:txBody>
          <a:bodyPr/>
          <a:lstStyle/>
          <a:p>
            <a:endParaRPr lang="en-IN"/>
          </a:p>
        </p:txBody>
      </p:sp>
      <p:sp>
        <p:nvSpPr>
          <p:cNvPr id="11" name="Text 9"/>
          <p:cNvSpPr/>
          <p:nvPr/>
        </p:nvSpPr>
        <p:spPr>
          <a:xfrm>
            <a:off x="731520" y="2423160"/>
            <a:ext cx="822960" cy="45720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POST</a:t>
            </a:r>
            <a:endParaRPr lang="en-US" sz="1200" dirty="0"/>
          </a:p>
        </p:txBody>
      </p:sp>
      <p:sp>
        <p:nvSpPr>
          <p:cNvPr id="12" name="Text 10"/>
          <p:cNvSpPr/>
          <p:nvPr/>
        </p:nvSpPr>
        <p:spPr>
          <a:xfrm>
            <a:off x="1600200" y="2423160"/>
            <a:ext cx="502920" cy="457200"/>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Yes</a:t>
            </a:r>
            <a:endParaRPr lang="en-US" sz="1100" dirty="0"/>
          </a:p>
        </p:txBody>
      </p:sp>
      <p:sp>
        <p:nvSpPr>
          <p:cNvPr id="13" name="Text 11"/>
          <p:cNvSpPr/>
          <p:nvPr/>
        </p:nvSpPr>
        <p:spPr>
          <a:xfrm>
            <a:off x="2103120" y="2423160"/>
            <a:ext cx="2194560" cy="45720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Create something new</a:t>
            </a:r>
            <a:endParaRPr lang="en-US" sz="1000" dirty="0"/>
          </a:p>
        </p:txBody>
      </p:sp>
      <p:sp>
        <p:nvSpPr>
          <p:cNvPr id="14" name="Shape 12"/>
          <p:cNvSpPr/>
          <p:nvPr/>
        </p:nvSpPr>
        <p:spPr>
          <a:xfrm>
            <a:off x="640080" y="2926080"/>
            <a:ext cx="3657600" cy="457200"/>
          </a:xfrm>
          <a:prstGeom prst="rect">
            <a:avLst/>
          </a:prstGeom>
          <a:solidFill>
            <a:srgbClr val="FFFFFF"/>
          </a:solidFill>
          <a:ln w="12700">
            <a:solidFill>
              <a:srgbClr val="FFFFFF"/>
            </a:solidFill>
            <a:prstDash val="solid"/>
          </a:ln>
        </p:spPr>
        <p:txBody>
          <a:bodyPr/>
          <a:lstStyle/>
          <a:p>
            <a:endParaRPr lang="en-IN"/>
          </a:p>
        </p:txBody>
      </p:sp>
      <p:sp>
        <p:nvSpPr>
          <p:cNvPr id="15" name="Text 13"/>
          <p:cNvSpPr/>
          <p:nvPr/>
        </p:nvSpPr>
        <p:spPr>
          <a:xfrm>
            <a:off x="731520" y="2926080"/>
            <a:ext cx="822960" cy="45720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PUT</a:t>
            </a:r>
            <a:endParaRPr lang="en-US" sz="1200" dirty="0"/>
          </a:p>
        </p:txBody>
      </p:sp>
      <p:sp>
        <p:nvSpPr>
          <p:cNvPr id="16" name="Text 14"/>
          <p:cNvSpPr/>
          <p:nvPr/>
        </p:nvSpPr>
        <p:spPr>
          <a:xfrm>
            <a:off x="1600200" y="2926080"/>
            <a:ext cx="502920" cy="457200"/>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Yes</a:t>
            </a:r>
            <a:endParaRPr lang="en-US" sz="1100" dirty="0"/>
          </a:p>
        </p:txBody>
      </p:sp>
      <p:sp>
        <p:nvSpPr>
          <p:cNvPr id="17" name="Text 15"/>
          <p:cNvSpPr/>
          <p:nvPr/>
        </p:nvSpPr>
        <p:spPr>
          <a:xfrm>
            <a:off x="2103120" y="2926080"/>
            <a:ext cx="2194560" cy="45720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Replace an existing resource</a:t>
            </a:r>
            <a:endParaRPr lang="en-US" sz="1000" dirty="0"/>
          </a:p>
        </p:txBody>
      </p:sp>
      <p:sp>
        <p:nvSpPr>
          <p:cNvPr id="18" name="Shape 16"/>
          <p:cNvSpPr/>
          <p:nvPr/>
        </p:nvSpPr>
        <p:spPr>
          <a:xfrm>
            <a:off x="640080" y="3429000"/>
            <a:ext cx="3657600" cy="457200"/>
          </a:xfrm>
          <a:prstGeom prst="rect">
            <a:avLst/>
          </a:prstGeom>
          <a:solidFill>
            <a:srgbClr val="FFFFFF"/>
          </a:solidFill>
          <a:ln w="12700">
            <a:solidFill>
              <a:srgbClr val="FFFFFF"/>
            </a:solidFill>
            <a:prstDash val="solid"/>
          </a:ln>
        </p:spPr>
        <p:txBody>
          <a:bodyPr/>
          <a:lstStyle/>
          <a:p>
            <a:endParaRPr lang="en-IN"/>
          </a:p>
        </p:txBody>
      </p:sp>
      <p:sp>
        <p:nvSpPr>
          <p:cNvPr id="19" name="Text 17"/>
          <p:cNvSpPr/>
          <p:nvPr/>
        </p:nvSpPr>
        <p:spPr>
          <a:xfrm>
            <a:off x="731520" y="3429000"/>
            <a:ext cx="822960" cy="45720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PATCH</a:t>
            </a:r>
            <a:endParaRPr lang="en-US" sz="1200" dirty="0"/>
          </a:p>
        </p:txBody>
      </p:sp>
      <p:sp>
        <p:nvSpPr>
          <p:cNvPr id="20" name="Text 18"/>
          <p:cNvSpPr/>
          <p:nvPr/>
        </p:nvSpPr>
        <p:spPr>
          <a:xfrm>
            <a:off x="1600200" y="3429000"/>
            <a:ext cx="502920" cy="457200"/>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Yes</a:t>
            </a:r>
            <a:endParaRPr lang="en-US" sz="1100" dirty="0"/>
          </a:p>
        </p:txBody>
      </p:sp>
      <p:sp>
        <p:nvSpPr>
          <p:cNvPr id="21" name="Text 19"/>
          <p:cNvSpPr/>
          <p:nvPr/>
        </p:nvSpPr>
        <p:spPr>
          <a:xfrm>
            <a:off x="2103120" y="3429000"/>
            <a:ext cx="2194560" cy="45720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Update part of a resource</a:t>
            </a:r>
            <a:endParaRPr lang="en-US" sz="1000" dirty="0"/>
          </a:p>
        </p:txBody>
      </p:sp>
      <p:sp>
        <p:nvSpPr>
          <p:cNvPr id="22" name="Shape 20"/>
          <p:cNvSpPr/>
          <p:nvPr/>
        </p:nvSpPr>
        <p:spPr>
          <a:xfrm>
            <a:off x="640080" y="3931920"/>
            <a:ext cx="3657600" cy="457200"/>
          </a:xfrm>
          <a:prstGeom prst="rect">
            <a:avLst/>
          </a:prstGeom>
          <a:solidFill>
            <a:srgbClr val="FFFFFF"/>
          </a:solidFill>
          <a:ln w="12700">
            <a:solidFill>
              <a:srgbClr val="FFFFFF"/>
            </a:solidFill>
            <a:prstDash val="solid"/>
          </a:ln>
        </p:spPr>
        <p:txBody>
          <a:bodyPr/>
          <a:lstStyle/>
          <a:p>
            <a:endParaRPr lang="en-IN"/>
          </a:p>
        </p:txBody>
      </p:sp>
      <p:sp>
        <p:nvSpPr>
          <p:cNvPr id="23" name="Text 21"/>
          <p:cNvSpPr/>
          <p:nvPr/>
        </p:nvSpPr>
        <p:spPr>
          <a:xfrm>
            <a:off x="731520" y="3931920"/>
            <a:ext cx="822960" cy="45720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DELETE</a:t>
            </a:r>
            <a:endParaRPr lang="en-US" sz="1200" dirty="0"/>
          </a:p>
        </p:txBody>
      </p:sp>
      <p:sp>
        <p:nvSpPr>
          <p:cNvPr id="24" name="Text 22"/>
          <p:cNvSpPr/>
          <p:nvPr/>
        </p:nvSpPr>
        <p:spPr>
          <a:xfrm>
            <a:off x="1600200" y="3931920"/>
            <a:ext cx="502920" cy="457200"/>
          </a:xfrm>
          <a:prstGeom prst="rect">
            <a:avLst/>
          </a:prstGeom>
          <a:noFill/>
          <a:ln/>
        </p:spPr>
        <p:txBody>
          <a:bodyPr wrap="square" lIns="0" tIns="0" rIns="0" bIns="0"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No</a:t>
            </a:r>
            <a:endParaRPr lang="en-US" sz="1100" dirty="0"/>
          </a:p>
        </p:txBody>
      </p:sp>
      <p:sp>
        <p:nvSpPr>
          <p:cNvPr id="25" name="Text 23"/>
          <p:cNvSpPr/>
          <p:nvPr/>
        </p:nvSpPr>
        <p:spPr>
          <a:xfrm>
            <a:off x="2103120" y="3931920"/>
            <a:ext cx="2194560" cy="45720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Remove a resource</a:t>
            </a:r>
            <a:endParaRPr lang="en-US" sz="1000" dirty="0"/>
          </a:p>
        </p:txBody>
      </p:sp>
      <p:sp>
        <p:nvSpPr>
          <p:cNvPr id="26" name="Text 24"/>
          <p:cNvSpPr/>
          <p:nvPr/>
        </p:nvSpPr>
        <p:spPr>
          <a:xfrm>
            <a:off x="466344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Example POST body</a:t>
            </a:r>
            <a:endParaRPr lang="en-US" sz="1200" dirty="0"/>
          </a:p>
        </p:txBody>
      </p:sp>
      <p:sp>
        <p:nvSpPr>
          <p:cNvPr id="27" name="Shape 25"/>
          <p:cNvSpPr/>
          <p:nvPr/>
        </p:nvSpPr>
        <p:spPr>
          <a:xfrm>
            <a:off x="4663440" y="1737360"/>
            <a:ext cx="4023360" cy="2788920"/>
          </a:xfrm>
          <a:prstGeom prst="rect">
            <a:avLst/>
          </a:prstGeom>
          <a:solidFill>
            <a:srgbClr val="0F1A3A"/>
          </a:solidFill>
          <a:ln w="12700">
            <a:solidFill>
              <a:srgbClr val="0F1A3A"/>
            </a:solidFill>
            <a:prstDash val="solid"/>
          </a:ln>
        </p:spPr>
        <p:txBody>
          <a:bodyPr/>
          <a:lstStyle/>
          <a:p>
            <a:endParaRPr lang="en-IN"/>
          </a:p>
        </p:txBody>
      </p:sp>
      <p:sp>
        <p:nvSpPr>
          <p:cNvPr id="28" name="Text 26"/>
          <p:cNvSpPr/>
          <p:nvPr/>
        </p:nvSpPr>
        <p:spPr>
          <a:xfrm>
            <a:off x="4846320" y="1828800"/>
            <a:ext cx="3749040" cy="2697480"/>
          </a:xfrm>
          <a:prstGeom prst="rect">
            <a:avLst/>
          </a:prstGeom>
          <a:noFill/>
          <a:ln/>
        </p:spPr>
        <p:txBody>
          <a:bodyPr wrap="square" lIns="0" tIns="0" rIns="0" bIns="0" rtlCol="0" anchor="t"/>
          <a:lstStyle/>
          <a:p>
            <a:pPr marL="0" indent="0">
              <a:spcAft>
                <a:spcPts val="100"/>
              </a:spcAft>
              <a:buNone/>
            </a:pPr>
            <a:r>
              <a:rPr lang="en-US" sz="1000" dirty="0">
                <a:solidFill>
                  <a:srgbClr val="E2E8F0"/>
                </a:solidFill>
                <a:latin typeface="Consolas" pitchFamily="34" charset="0"/>
                <a:ea typeface="Consolas" pitchFamily="34" charset="-122"/>
                <a:cs typeface="Consolas" pitchFamily="34" charset="-120"/>
              </a:rPr>
              <a:t>cy.request({</a:t>
            </a:r>
            <a:endParaRPr lang="en-US" sz="1000" dirty="0"/>
          </a:p>
          <a:p>
            <a:pPr marL="0" indent="0">
              <a:spcAft>
                <a:spcPts val="100"/>
              </a:spcAft>
              <a:buNone/>
            </a:pPr>
            <a:r>
              <a:rPr lang="en-US" sz="1000" dirty="0">
                <a:solidFill>
                  <a:srgbClr val="81D4FA"/>
                </a:solidFill>
                <a:latin typeface="Consolas" pitchFamily="34" charset="0"/>
                <a:ea typeface="Consolas" pitchFamily="34" charset="-122"/>
                <a:cs typeface="Consolas" pitchFamily="34" charset="-120"/>
              </a:rPr>
              <a:t>  method: </a:t>
            </a:r>
            <a:r>
              <a:rPr lang="en-US" sz="1000" dirty="0">
                <a:solidFill>
                  <a:srgbClr val="FFD54F"/>
                </a:solidFill>
                <a:latin typeface="Consolas" pitchFamily="34" charset="0"/>
                <a:ea typeface="Consolas" pitchFamily="34" charset="-122"/>
                <a:cs typeface="Consolas" pitchFamily="34" charset="-120"/>
              </a:rPr>
              <a:t>"POST"</a:t>
            </a: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81D4FA"/>
                </a:solidFill>
                <a:latin typeface="Consolas" pitchFamily="34" charset="0"/>
                <a:ea typeface="Consolas" pitchFamily="34" charset="-122"/>
                <a:cs typeface="Consolas" pitchFamily="34" charset="-120"/>
              </a:rPr>
              <a:t>  url: </a:t>
            </a:r>
            <a:r>
              <a:rPr lang="en-US" sz="1000" dirty="0">
                <a:solidFill>
                  <a:srgbClr val="FFD54F"/>
                </a:solidFill>
                <a:latin typeface="Consolas" pitchFamily="34" charset="0"/>
                <a:ea typeface="Consolas" pitchFamily="34" charset="-122"/>
                <a:cs typeface="Consolas" pitchFamily="34" charset="-120"/>
              </a:rPr>
              <a:t>"/api/orders"</a:t>
            </a: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E2E8F0"/>
                </a:solidFill>
                <a:latin typeface="Consolas" pitchFamily="34" charset="0"/>
                <a:ea typeface="Consolas" pitchFamily="34" charset="-122"/>
                <a:cs typeface="Consolas" pitchFamily="34" charset="-120"/>
              </a:rPr>
              <a:t>  headers: { ... },</a:t>
            </a:r>
            <a:endParaRPr lang="en-US" sz="1000" dirty="0"/>
          </a:p>
          <a:p>
            <a:pPr marL="0" indent="0">
              <a:spcAft>
                <a:spcPts val="100"/>
              </a:spcAft>
              <a:buNone/>
            </a:pPr>
            <a:r>
              <a:rPr lang="en-US" sz="1000" dirty="0">
                <a:solidFill>
                  <a:srgbClr val="9FBF6A"/>
                </a:solidFill>
                <a:latin typeface="Consolas" pitchFamily="34" charset="0"/>
                <a:ea typeface="Consolas" pitchFamily="34" charset="-122"/>
                <a:cs typeface="Consolas" pitchFamily="34" charset="-120"/>
              </a:rPr>
              <a:t>  body: {                  </a:t>
            </a:r>
            <a:r>
              <a:rPr lang="en-US" sz="1000" dirty="0">
                <a:solidFill>
                  <a:srgbClr val="78909C"/>
                </a:solidFill>
                <a:latin typeface="Consolas" pitchFamily="34" charset="0"/>
                <a:ea typeface="Consolas" pitchFamily="34" charset="-122"/>
                <a:cs typeface="Consolas" pitchFamily="34" charset="-120"/>
              </a:rPr>
              <a:t>// ← the payload</a:t>
            </a:r>
            <a:endParaRPr lang="en-US" sz="1000" dirty="0"/>
          </a:p>
          <a:p>
            <a:pPr marL="0" indent="0">
              <a:spcAft>
                <a:spcPts val="100"/>
              </a:spcAft>
              <a:buNone/>
            </a:pPr>
            <a:r>
              <a:rPr lang="en-US" sz="1000" dirty="0">
                <a:solidFill>
                  <a:srgbClr val="81D4FA"/>
                </a:solidFill>
                <a:latin typeface="Consolas" pitchFamily="34" charset="0"/>
                <a:ea typeface="Consolas" pitchFamily="34" charset="-122"/>
                <a:cs typeface="Consolas" pitchFamily="34" charset="-120"/>
              </a:rPr>
              <a:t>    product:  </a:t>
            </a:r>
            <a:r>
              <a:rPr lang="en-US" sz="1000" dirty="0">
                <a:solidFill>
                  <a:srgbClr val="FFD54F"/>
                </a:solidFill>
                <a:latin typeface="Consolas" pitchFamily="34" charset="0"/>
                <a:ea typeface="Consolas" pitchFamily="34" charset="-122"/>
                <a:cs typeface="Consolas" pitchFamily="34" charset="-120"/>
              </a:rPr>
              <a:t>"book"</a:t>
            </a: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81D4FA"/>
                </a:solidFill>
                <a:latin typeface="Consolas" pitchFamily="34" charset="0"/>
                <a:ea typeface="Consolas" pitchFamily="34" charset="-122"/>
                <a:cs typeface="Consolas" pitchFamily="34" charset="-120"/>
              </a:rPr>
              <a:t>    qty:      </a:t>
            </a:r>
            <a:r>
              <a:rPr lang="en-US" sz="1000" dirty="0">
                <a:solidFill>
                  <a:srgbClr val="F06292"/>
                </a:solidFill>
                <a:latin typeface="Consolas" pitchFamily="34" charset="0"/>
                <a:ea typeface="Consolas" pitchFamily="34" charset="-122"/>
                <a:cs typeface="Consolas" pitchFamily="34" charset="-120"/>
              </a:rPr>
              <a:t>2</a:t>
            </a: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81D4FA"/>
                </a:solidFill>
                <a:latin typeface="Consolas" pitchFamily="34" charset="0"/>
                <a:ea typeface="Consolas" pitchFamily="34" charset="-122"/>
                <a:cs typeface="Consolas" pitchFamily="34" charset="-120"/>
              </a:rPr>
              <a:t>    notes:    </a:t>
            </a:r>
            <a:r>
              <a:rPr lang="en-US" sz="1000" dirty="0">
                <a:solidFill>
                  <a:srgbClr val="FFD54F"/>
                </a:solidFill>
                <a:latin typeface="Consolas" pitchFamily="34" charset="0"/>
                <a:ea typeface="Consolas" pitchFamily="34" charset="-122"/>
                <a:cs typeface="Consolas" pitchFamily="34" charset="-120"/>
              </a:rPr>
              <a:t>"Gift wrap"</a:t>
            </a: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81D4FA"/>
                </a:solidFill>
                <a:latin typeface="Consolas" pitchFamily="34" charset="0"/>
                <a:ea typeface="Consolas" pitchFamily="34" charset="-122"/>
                <a:cs typeface="Consolas" pitchFamily="34" charset="-120"/>
              </a:rPr>
              <a:t>    customer: { id: </a:t>
            </a:r>
            <a:r>
              <a:rPr lang="en-US" sz="1000" dirty="0">
                <a:solidFill>
                  <a:srgbClr val="F06292"/>
                </a:solidFill>
                <a:latin typeface="Consolas" pitchFamily="34" charset="0"/>
                <a:ea typeface="Consolas" pitchFamily="34" charset="-122"/>
                <a:cs typeface="Consolas" pitchFamily="34" charset="-120"/>
              </a:rPr>
              <a:t>1042</a:t>
            </a:r>
            <a:r>
              <a:rPr lang="en-US" sz="1000" dirty="0">
                <a:solidFill>
                  <a:srgbClr val="81D4FA"/>
                </a:solidFill>
                <a:latin typeface="Consolas" pitchFamily="34" charset="0"/>
                <a:ea typeface="Consolas" pitchFamily="34" charset="-122"/>
                <a:cs typeface="Consolas" pitchFamily="34" charset="-120"/>
              </a:rPr>
              <a:t> }</a:t>
            </a:r>
            <a:endParaRPr lang="en-US" sz="1000" dirty="0"/>
          </a:p>
          <a:p>
            <a:pPr marL="0" indent="0">
              <a:spcAft>
                <a:spcPts val="100"/>
              </a:spcAft>
              <a:buNone/>
            </a:pPr>
            <a:r>
              <a:rPr lang="en-US" sz="1000" dirty="0">
                <a:solidFill>
                  <a:srgbClr val="9FBF6A"/>
                </a:solidFill>
                <a:latin typeface="Consolas" pitchFamily="34" charset="0"/>
                <a:ea typeface="Consolas" pitchFamily="34" charset="-122"/>
                <a:cs typeface="Consolas" pitchFamily="34" charset="-120"/>
              </a:rPr>
              <a:t>  }</a:t>
            </a:r>
            <a:endParaRPr lang="en-US" sz="1000" dirty="0"/>
          </a:p>
          <a:p>
            <a:pPr marL="0" indent="0">
              <a:spcAft>
                <a:spcPts val="100"/>
              </a:spcAft>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000000"/>
                </a:solidFill>
              </a:rPr>
              <a:t> </a:t>
            </a:r>
            <a:endParaRPr lang="en-US" sz="1000" dirty="0"/>
          </a:p>
          <a:p>
            <a:pPr marL="0" indent="0">
              <a:spcAft>
                <a:spcPts val="100"/>
              </a:spcAft>
              <a:buNone/>
            </a:pPr>
            <a:r>
              <a:rPr lang="en-US" sz="1000" dirty="0">
                <a:solidFill>
                  <a:srgbClr val="78909C"/>
                </a:solidFill>
                <a:latin typeface="Consolas" pitchFamily="34" charset="0"/>
                <a:ea typeface="Consolas" pitchFamily="34" charset="-122"/>
                <a:cs typeface="Consolas" pitchFamily="34" charset="-120"/>
              </a:rPr>
              <a:t>// Cypress JSON-stringifies for</a:t>
            </a:r>
            <a:endParaRPr lang="en-US" sz="1000" dirty="0"/>
          </a:p>
          <a:p>
            <a:pPr marL="0" indent="0">
              <a:spcAft>
                <a:spcPts val="100"/>
              </a:spcAft>
              <a:buNone/>
            </a:pPr>
            <a:r>
              <a:rPr lang="en-US" sz="1000" dirty="0">
                <a:solidFill>
                  <a:srgbClr val="78909C"/>
                </a:solidFill>
                <a:latin typeface="Consolas" pitchFamily="34" charset="0"/>
                <a:ea typeface="Consolas" pitchFamily="34" charset="-122"/>
                <a:cs typeface="Consolas" pitchFamily="34" charset="-120"/>
              </a:rPr>
              <a:t>// you when Content-Type is JSON</a:t>
            </a:r>
            <a:endParaRPr lang="en-US" sz="1000" dirty="0"/>
          </a:p>
        </p:txBody>
      </p:sp>
      <p:sp>
        <p:nvSpPr>
          <p:cNvPr id="29" name="Text 27"/>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30" name="Text 28"/>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cy.request(): Real HTTP Calls</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Bypass the browser entirely — call your API like Postman or curl would</a:t>
            </a:r>
            <a:endParaRPr lang="en-US" sz="1300" dirty="0"/>
          </a:p>
        </p:txBody>
      </p:sp>
      <p:sp>
        <p:nvSpPr>
          <p:cNvPr id="4" name="Text 2"/>
          <p:cNvSpPr/>
          <p:nvPr/>
        </p:nvSpPr>
        <p:spPr>
          <a:xfrm>
            <a:off x="45720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Anatomy of a request</a:t>
            </a:r>
            <a:endParaRPr lang="en-US" sz="1200" dirty="0"/>
          </a:p>
        </p:txBody>
      </p:sp>
      <p:sp>
        <p:nvSpPr>
          <p:cNvPr id="5" name="Shape 3"/>
          <p:cNvSpPr/>
          <p:nvPr/>
        </p:nvSpPr>
        <p:spPr>
          <a:xfrm>
            <a:off x="457200" y="1737360"/>
            <a:ext cx="4023360" cy="2788920"/>
          </a:xfrm>
          <a:prstGeom prst="rect">
            <a:avLst/>
          </a:prstGeom>
          <a:solidFill>
            <a:srgbClr val="0F1A3A"/>
          </a:solidFill>
          <a:ln w="12700">
            <a:solidFill>
              <a:srgbClr val="0F1A3A"/>
            </a:solidFill>
            <a:prstDash val="solid"/>
          </a:ln>
        </p:spPr>
        <p:txBody>
          <a:bodyPr/>
          <a:lstStyle/>
          <a:p>
            <a:endParaRPr lang="en-IN"/>
          </a:p>
        </p:txBody>
      </p:sp>
      <p:sp>
        <p:nvSpPr>
          <p:cNvPr id="6" name="Text 4"/>
          <p:cNvSpPr/>
          <p:nvPr/>
        </p:nvSpPr>
        <p:spPr>
          <a:xfrm>
            <a:off x="640080" y="1828800"/>
            <a:ext cx="3749040" cy="2697480"/>
          </a:xfrm>
          <a:prstGeom prst="rect">
            <a:avLst/>
          </a:prstGeom>
          <a:noFill/>
          <a:ln/>
        </p:spPr>
        <p:txBody>
          <a:bodyPr wrap="square" lIns="0" tIns="0" rIns="0" bIns="0" rtlCol="0" anchor="t"/>
          <a:lstStyle/>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cy.request({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method: </a:t>
            </a:r>
            <a:r>
              <a:rPr lang="en-US" sz="1050" dirty="0">
                <a:solidFill>
                  <a:srgbClr val="FFD54F"/>
                </a:solidFill>
                <a:latin typeface="Consolas" pitchFamily="34" charset="0"/>
                <a:ea typeface="Consolas" pitchFamily="34" charset="-122"/>
                <a:cs typeface="Consolas" pitchFamily="34" charset="-120"/>
              </a:rPr>
              <a:t>"POST"</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url:    </a:t>
            </a:r>
            <a:r>
              <a:rPr lang="en-US" sz="1050" dirty="0">
                <a:solidFill>
                  <a:srgbClr val="FFD54F"/>
                </a:solidFill>
                <a:latin typeface="Consolas" pitchFamily="34" charset="0"/>
                <a:ea typeface="Consolas" pitchFamily="34" charset="-122"/>
                <a:cs typeface="Consolas" pitchFamily="34" charset="-120"/>
              </a:rPr>
              <a:t>"/api/orders"</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headers: {</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Authorization:</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      </a:t>
            </a:r>
            <a:r>
              <a:rPr lang="en-US" sz="1050" dirty="0">
                <a:solidFill>
                  <a:srgbClr val="FFD54F"/>
                </a:solidFill>
                <a:latin typeface="Consolas" pitchFamily="34" charset="0"/>
                <a:ea typeface="Consolas" pitchFamily="34" charset="-122"/>
                <a:cs typeface="Consolas" pitchFamily="34" charset="-120"/>
              </a:rPr>
              <a:t>"Bearer abc123"</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body: {</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product: </a:t>
            </a:r>
            <a:r>
              <a:rPr lang="en-US" sz="1050" dirty="0">
                <a:solidFill>
                  <a:srgbClr val="FFD54F"/>
                </a:solidFill>
                <a:latin typeface="Consolas" pitchFamily="34" charset="0"/>
                <a:ea typeface="Consolas" pitchFamily="34" charset="-122"/>
                <a:cs typeface="Consolas" pitchFamily="34" charset="-120"/>
              </a:rPr>
              <a:t>"book"</a:t>
            </a: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qty: </a:t>
            </a:r>
            <a:r>
              <a:rPr lang="en-US" sz="1050" dirty="0">
                <a:solidFill>
                  <a:srgbClr val="F06292"/>
                </a:solidFill>
                <a:latin typeface="Consolas" pitchFamily="34" charset="0"/>
                <a:ea typeface="Consolas" pitchFamily="34" charset="-122"/>
                <a:cs typeface="Consolas" pitchFamily="34" charset="-120"/>
              </a:rPr>
              <a:t>2</a:t>
            </a:r>
            <a:endParaRPr lang="en-US" sz="1050" dirty="0"/>
          </a:p>
          <a:p>
            <a:pPr marL="0" indent="0">
              <a:spcAft>
                <a:spcPts val="100"/>
              </a:spcAft>
              <a:buNone/>
            </a:pPr>
            <a:r>
              <a:rPr lang="en-US" sz="1050" dirty="0">
                <a:solidFill>
                  <a:srgbClr val="81D4FA"/>
                </a:solidFill>
                <a:latin typeface="Consolas" pitchFamily="34" charset="0"/>
                <a:ea typeface="Consolas" pitchFamily="34" charset="-122"/>
                <a:cs typeface="Consolas" pitchFamily="34" charset="-120"/>
              </a:rPr>
              <a:t>  }</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466344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Four pieces of any request</a:t>
            </a:r>
            <a:endParaRPr lang="en-US" sz="1200" dirty="0"/>
          </a:p>
        </p:txBody>
      </p:sp>
      <p:sp>
        <p:nvSpPr>
          <p:cNvPr id="8" name="Shape 6"/>
          <p:cNvSpPr/>
          <p:nvPr/>
        </p:nvSpPr>
        <p:spPr>
          <a:xfrm>
            <a:off x="4663440" y="1783080"/>
            <a:ext cx="4023360" cy="566928"/>
          </a:xfrm>
          <a:prstGeom prst="rect">
            <a:avLst/>
          </a:prstGeom>
          <a:solidFill>
            <a:srgbClr val="F7F9FC"/>
          </a:solidFill>
          <a:ln w="12700">
            <a:solidFill>
              <a:srgbClr val="F7F9FC"/>
            </a:solidFill>
            <a:prstDash val="solid"/>
          </a:ln>
        </p:spPr>
        <p:txBody>
          <a:bodyPr/>
          <a:lstStyle/>
          <a:p>
            <a:endParaRPr lang="en-IN"/>
          </a:p>
        </p:txBody>
      </p:sp>
      <p:sp>
        <p:nvSpPr>
          <p:cNvPr id="9" name="Shape 7"/>
          <p:cNvSpPr/>
          <p:nvPr/>
        </p:nvSpPr>
        <p:spPr>
          <a:xfrm>
            <a:off x="4663440" y="1783080"/>
            <a:ext cx="73152" cy="566928"/>
          </a:xfrm>
          <a:prstGeom prst="rect">
            <a:avLst/>
          </a:prstGeom>
          <a:solidFill>
            <a:srgbClr val="69D3A7"/>
          </a:solidFill>
          <a:ln w="12700">
            <a:solidFill>
              <a:srgbClr val="69D3A7"/>
            </a:solidFill>
            <a:prstDash val="solid"/>
          </a:ln>
        </p:spPr>
        <p:txBody>
          <a:bodyPr/>
          <a:lstStyle/>
          <a:p>
            <a:endParaRPr lang="en-IN"/>
          </a:p>
        </p:txBody>
      </p:sp>
      <p:sp>
        <p:nvSpPr>
          <p:cNvPr id="10" name="Text 8"/>
          <p:cNvSpPr/>
          <p:nvPr/>
        </p:nvSpPr>
        <p:spPr>
          <a:xfrm>
            <a:off x="4846320" y="1837944"/>
            <a:ext cx="1371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method</a:t>
            </a:r>
            <a:endParaRPr lang="en-US" sz="1200" dirty="0"/>
          </a:p>
        </p:txBody>
      </p:sp>
      <p:sp>
        <p:nvSpPr>
          <p:cNvPr id="11" name="Text 9"/>
          <p:cNvSpPr/>
          <p:nvPr/>
        </p:nvSpPr>
        <p:spPr>
          <a:xfrm>
            <a:off x="4846320" y="2075688"/>
            <a:ext cx="3657600" cy="2743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GET, POST, PUT, DELETE, PATCH</a:t>
            </a:r>
            <a:endParaRPr lang="en-US" sz="1050" dirty="0"/>
          </a:p>
        </p:txBody>
      </p:sp>
      <p:sp>
        <p:nvSpPr>
          <p:cNvPr id="12" name="Shape 10"/>
          <p:cNvSpPr/>
          <p:nvPr/>
        </p:nvSpPr>
        <p:spPr>
          <a:xfrm>
            <a:off x="4663440" y="2423160"/>
            <a:ext cx="4023360" cy="566928"/>
          </a:xfrm>
          <a:prstGeom prst="rect">
            <a:avLst/>
          </a:prstGeom>
          <a:solidFill>
            <a:srgbClr val="F7F9FC"/>
          </a:solidFill>
          <a:ln w="12700">
            <a:solidFill>
              <a:srgbClr val="F7F9FC"/>
            </a:solidFill>
            <a:prstDash val="solid"/>
          </a:ln>
        </p:spPr>
        <p:txBody>
          <a:bodyPr/>
          <a:lstStyle/>
          <a:p>
            <a:endParaRPr lang="en-IN"/>
          </a:p>
        </p:txBody>
      </p:sp>
      <p:sp>
        <p:nvSpPr>
          <p:cNvPr id="13" name="Shape 11"/>
          <p:cNvSpPr/>
          <p:nvPr/>
        </p:nvSpPr>
        <p:spPr>
          <a:xfrm>
            <a:off x="4663440" y="2423160"/>
            <a:ext cx="73152" cy="566928"/>
          </a:xfrm>
          <a:prstGeom prst="rect">
            <a:avLst/>
          </a:prstGeom>
          <a:solidFill>
            <a:srgbClr val="69D3A7"/>
          </a:solidFill>
          <a:ln w="12700">
            <a:solidFill>
              <a:srgbClr val="69D3A7"/>
            </a:solidFill>
            <a:prstDash val="solid"/>
          </a:ln>
        </p:spPr>
        <p:txBody>
          <a:bodyPr/>
          <a:lstStyle/>
          <a:p>
            <a:endParaRPr lang="en-IN"/>
          </a:p>
        </p:txBody>
      </p:sp>
      <p:sp>
        <p:nvSpPr>
          <p:cNvPr id="14" name="Text 12"/>
          <p:cNvSpPr/>
          <p:nvPr/>
        </p:nvSpPr>
        <p:spPr>
          <a:xfrm>
            <a:off x="4846320" y="2478024"/>
            <a:ext cx="1371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url</a:t>
            </a:r>
            <a:endParaRPr lang="en-US" sz="1200" dirty="0"/>
          </a:p>
        </p:txBody>
      </p:sp>
      <p:sp>
        <p:nvSpPr>
          <p:cNvPr id="15" name="Text 13"/>
          <p:cNvSpPr/>
          <p:nvPr/>
        </p:nvSpPr>
        <p:spPr>
          <a:xfrm>
            <a:off x="4846320" y="2715768"/>
            <a:ext cx="3657600" cy="2743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The endpoint path or full URL</a:t>
            </a:r>
            <a:endParaRPr lang="en-US" sz="1050" dirty="0"/>
          </a:p>
        </p:txBody>
      </p:sp>
      <p:sp>
        <p:nvSpPr>
          <p:cNvPr id="16" name="Shape 14"/>
          <p:cNvSpPr/>
          <p:nvPr/>
        </p:nvSpPr>
        <p:spPr>
          <a:xfrm>
            <a:off x="4663440" y="3063240"/>
            <a:ext cx="4023360" cy="566928"/>
          </a:xfrm>
          <a:prstGeom prst="rect">
            <a:avLst/>
          </a:prstGeom>
          <a:solidFill>
            <a:srgbClr val="F7F9FC"/>
          </a:solidFill>
          <a:ln w="12700">
            <a:solidFill>
              <a:srgbClr val="F7F9FC"/>
            </a:solidFill>
            <a:prstDash val="solid"/>
          </a:ln>
        </p:spPr>
        <p:txBody>
          <a:bodyPr/>
          <a:lstStyle/>
          <a:p>
            <a:endParaRPr lang="en-IN"/>
          </a:p>
        </p:txBody>
      </p:sp>
      <p:sp>
        <p:nvSpPr>
          <p:cNvPr id="17" name="Shape 15"/>
          <p:cNvSpPr/>
          <p:nvPr/>
        </p:nvSpPr>
        <p:spPr>
          <a:xfrm>
            <a:off x="4663440" y="3063240"/>
            <a:ext cx="73152" cy="566928"/>
          </a:xfrm>
          <a:prstGeom prst="rect">
            <a:avLst/>
          </a:prstGeom>
          <a:solidFill>
            <a:srgbClr val="69D3A7"/>
          </a:solidFill>
          <a:ln w="12700">
            <a:solidFill>
              <a:srgbClr val="69D3A7"/>
            </a:solidFill>
            <a:prstDash val="solid"/>
          </a:ln>
        </p:spPr>
        <p:txBody>
          <a:bodyPr/>
          <a:lstStyle/>
          <a:p>
            <a:endParaRPr lang="en-IN"/>
          </a:p>
        </p:txBody>
      </p:sp>
      <p:sp>
        <p:nvSpPr>
          <p:cNvPr id="18" name="Text 16"/>
          <p:cNvSpPr/>
          <p:nvPr/>
        </p:nvSpPr>
        <p:spPr>
          <a:xfrm>
            <a:off x="4846320" y="3118104"/>
            <a:ext cx="1371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headers</a:t>
            </a:r>
            <a:endParaRPr lang="en-US" sz="1200" dirty="0"/>
          </a:p>
        </p:txBody>
      </p:sp>
      <p:sp>
        <p:nvSpPr>
          <p:cNvPr id="19" name="Text 17"/>
          <p:cNvSpPr/>
          <p:nvPr/>
        </p:nvSpPr>
        <p:spPr>
          <a:xfrm>
            <a:off x="4846320" y="3355848"/>
            <a:ext cx="3657600" cy="2743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Authorization, content-type, cookies</a:t>
            </a:r>
            <a:endParaRPr lang="en-US" sz="1050" dirty="0"/>
          </a:p>
        </p:txBody>
      </p:sp>
      <p:sp>
        <p:nvSpPr>
          <p:cNvPr id="20" name="Shape 18"/>
          <p:cNvSpPr/>
          <p:nvPr/>
        </p:nvSpPr>
        <p:spPr>
          <a:xfrm>
            <a:off x="4663440" y="3703320"/>
            <a:ext cx="4023360" cy="566928"/>
          </a:xfrm>
          <a:prstGeom prst="rect">
            <a:avLst/>
          </a:prstGeom>
          <a:solidFill>
            <a:srgbClr val="F7F9FC"/>
          </a:solidFill>
          <a:ln w="12700">
            <a:solidFill>
              <a:srgbClr val="F7F9FC"/>
            </a:solidFill>
            <a:prstDash val="solid"/>
          </a:ln>
        </p:spPr>
        <p:txBody>
          <a:bodyPr/>
          <a:lstStyle/>
          <a:p>
            <a:endParaRPr lang="en-IN"/>
          </a:p>
        </p:txBody>
      </p:sp>
      <p:sp>
        <p:nvSpPr>
          <p:cNvPr id="21" name="Shape 19"/>
          <p:cNvSpPr/>
          <p:nvPr/>
        </p:nvSpPr>
        <p:spPr>
          <a:xfrm>
            <a:off x="4663440" y="3703320"/>
            <a:ext cx="73152" cy="566928"/>
          </a:xfrm>
          <a:prstGeom prst="rect">
            <a:avLst/>
          </a:prstGeom>
          <a:solidFill>
            <a:srgbClr val="69D3A7"/>
          </a:solidFill>
          <a:ln w="12700">
            <a:solidFill>
              <a:srgbClr val="69D3A7"/>
            </a:solidFill>
            <a:prstDash val="solid"/>
          </a:ln>
        </p:spPr>
        <p:txBody>
          <a:bodyPr/>
          <a:lstStyle/>
          <a:p>
            <a:endParaRPr lang="en-IN"/>
          </a:p>
        </p:txBody>
      </p:sp>
      <p:sp>
        <p:nvSpPr>
          <p:cNvPr id="22" name="Text 20"/>
          <p:cNvSpPr/>
          <p:nvPr/>
        </p:nvSpPr>
        <p:spPr>
          <a:xfrm>
            <a:off x="4846320" y="3758184"/>
            <a:ext cx="1371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body</a:t>
            </a:r>
            <a:endParaRPr lang="en-US" sz="1200" dirty="0"/>
          </a:p>
        </p:txBody>
      </p:sp>
      <p:sp>
        <p:nvSpPr>
          <p:cNvPr id="23" name="Text 21"/>
          <p:cNvSpPr/>
          <p:nvPr/>
        </p:nvSpPr>
        <p:spPr>
          <a:xfrm>
            <a:off x="4846320" y="3995928"/>
            <a:ext cx="3657600" cy="2743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The JSON payload (POST/PUT only)</a:t>
            </a:r>
            <a:endParaRPr lang="en-US" sz="1050" dirty="0"/>
          </a:p>
        </p:txBody>
      </p:sp>
      <p:sp>
        <p:nvSpPr>
          <p:cNvPr id="24" name="Text 22"/>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5" name="Text 23"/>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Validating the Response</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Every cy.request returns a response object — assert on status, body, and headers</a:t>
            </a:r>
            <a:endParaRPr lang="en-US" sz="1300" dirty="0"/>
          </a:p>
        </p:txBody>
      </p:sp>
      <p:sp>
        <p:nvSpPr>
          <p:cNvPr id="4" name="Text 2"/>
          <p:cNvSpPr/>
          <p:nvPr/>
        </p:nvSpPr>
        <p:spPr>
          <a:xfrm>
            <a:off x="45720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Chain .then for the response</a:t>
            </a:r>
            <a:endParaRPr lang="en-US" sz="1200" dirty="0"/>
          </a:p>
        </p:txBody>
      </p:sp>
      <p:sp>
        <p:nvSpPr>
          <p:cNvPr id="5" name="Shape 3"/>
          <p:cNvSpPr/>
          <p:nvPr/>
        </p:nvSpPr>
        <p:spPr>
          <a:xfrm>
            <a:off x="457200" y="1737360"/>
            <a:ext cx="4023360" cy="2788920"/>
          </a:xfrm>
          <a:prstGeom prst="rect">
            <a:avLst/>
          </a:prstGeom>
          <a:solidFill>
            <a:srgbClr val="0F1A3A"/>
          </a:solidFill>
          <a:ln w="12700">
            <a:solidFill>
              <a:srgbClr val="0F1A3A"/>
            </a:solidFill>
            <a:prstDash val="solid"/>
          </a:ln>
        </p:spPr>
        <p:txBody>
          <a:bodyPr/>
          <a:lstStyle/>
          <a:p>
            <a:endParaRPr lang="en-IN"/>
          </a:p>
        </p:txBody>
      </p:sp>
      <p:sp>
        <p:nvSpPr>
          <p:cNvPr id="6" name="Text 4"/>
          <p:cNvSpPr/>
          <p:nvPr/>
        </p:nvSpPr>
        <p:spPr>
          <a:xfrm>
            <a:off x="640080" y="1828800"/>
            <a:ext cx="3749040" cy="2697480"/>
          </a:xfrm>
          <a:prstGeom prst="rect">
            <a:avLst/>
          </a:prstGeom>
          <a:noFill/>
          <a:ln/>
        </p:spPr>
        <p:txBody>
          <a:bodyPr wrap="square" lIns="0" tIns="0" rIns="0" bIns="0" rtlCol="0" anchor="t"/>
          <a:lstStyle/>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cy.request(</a:t>
            </a:r>
            <a:r>
              <a:rPr lang="en-US" sz="950" dirty="0">
                <a:solidFill>
                  <a:srgbClr val="FFD54F"/>
                </a:solidFill>
                <a:latin typeface="Consolas" pitchFamily="34" charset="0"/>
                <a:ea typeface="Consolas" pitchFamily="34" charset="-122"/>
                <a:cs typeface="Consolas" pitchFamily="34" charset="-120"/>
              </a:rPr>
              <a:t>"/api/users/1"</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.then((</a:t>
            </a:r>
            <a:r>
              <a:rPr lang="en-US" sz="950" dirty="0">
                <a:solidFill>
                  <a:srgbClr val="81D4FA"/>
                </a:solidFill>
                <a:latin typeface="Consolas" pitchFamily="34" charset="0"/>
                <a:ea typeface="Consolas" pitchFamily="34" charset="-122"/>
                <a:cs typeface="Consolas" pitchFamily="34" charset="-120"/>
              </a:rPr>
              <a:t>res</a:t>
            </a:r>
            <a:r>
              <a:rPr lang="en-US" sz="950" dirty="0">
                <a:solidFill>
                  <a:srgbClr val="E2E8F0"/>
                </a:solidFill>
                <a:latin typeface="Consolas" pitchFamily="34" charset="0"/>
                <a:ea typeface="Consolas" pitchFamily="34" charset="-122"/>
                <a:cs typeface="Consolas" pitchFamily="34" charset="-120"/>
              </a:rPr>
              <a:t>) =&gt; {</a:t>
            </a:r>
            <a:endParaRPr lang="en-US" sz="950" dirty="0"/>
          </a:p>
          <a:p>
            <a:pPr marL="0" indent="0">
              <a:spcAft>
                <a:spcPts val="100"/>
              </a:spcAft>
              <a:buNone/>
            </a:pPr>
            <a:r>
              <a:rPr lang="en-US" sz="950" dirty="0">
                <a:solidFill>
                  <a:srgbClr val="F06292"/>
                </a:solidFill>
                <a:latin typeface="Consolas" pitchFamily="34" charset="0"/>
                <a:ea typeface="Consolas" pitchFamily="34" charset="-122"/>
                <a:cs typeface="Consolas" pitchFamily="34" charset="-120"/>
              </a:rPr>
              <a:t>    expect(</a:t>
            </a:r>
            <a:r>
              <a:rPr lang="en-US" sz="950" dirty="0">
                <a:solidFill>
                  <a:srgbClr val="E2E8F0"/>
                </a:solidFill>
                <a:latin typeface="Consolas" pitchFamily="34" charset="0"/>
                <a:ea typeface="Consolas" pitchFamily="34" charset="-122"/>
                <a:cs typeface="Consolas" pitchFamily="34" charset="-120"/>
              </a:rPr>
              <a:t>res.status)</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.to.eq(</a:t>
            </a:r>
            <a:r>
              <a:rPr lang="en-US" sz="950" dirty="0">
                <a:solidFill>
                  <a:srgbClr val="F06292"/>
                </a:solidFill>
                <a:latin typeface="Consolas" pitchFamily="34" charset="0"/>
                <a:ea typeface="Consolas" pitchFamily="34" charset="-122"/>
                <a:cs typeface="Consolas" pitchFamily="34" charset="-120"/>
              </a:rPr>
              <a:t>200</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F06292"/>
                </a:solidFill>
                <a:latin typeface="Consolas" pitchFamily="34" charset="0"/>
                <a:ea typeface="Consolas" pitchFamily="34" charset="-122"/>
                <a:cs typeface="Consolas" pitchFamily="34" charset="-120"/>
              </a:rPr>
              <a:t>    expect(</a:t>
            </a:r>
            <a:r>
              <a:rPr lang="en-US" sz="950" dirty="0">
                <a:solidFill>
                  <a:srgbClr val="E2E8F0"/>
                </a:solidFill>
                <a:latin typeface="Consolas" pitchFamily="34" charset="0"/>
                <a:ea typeface="Consolas" pitchFamily="34" charset="-122"/>
                <a:cs typeface="Consolas" pitchFamily="34" charset="-120"/>
              </a:rPr>
              <a:t>res.body.name)</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.to.eq(</a:t>
            </a:r>
            <a:r>
              <a:rPr lang="en-US" sz="950" dirty="0">
                <a:solidFill>
                  <a:srgbClr val="FFD54F"/>
                </a:solidFill>
                <a:latin typeface="Consolas" pitchFamily="34" charset="0"/>
                <a:ea typeface="Consolas" pitchFamily="34" charset="-122"/>
                <a:cs typeface="Consolas" pitchFamily="34" charset="-120"/>
              </a:rPr>
              <a:t>"Priya"</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F06292"/>
                </a:solidFill>
                <a:latin typeface="Consolas" pitchFamily="34" charset="0"/>
                <a:ea typeface="Consolas" pitchFamily="34" charset="-122"/>
                <a:cs typeface="Consolas" pitchFamily="34" charset="-120"/>
              </a:rPr>
              <a:t>    expect(</a:t>
            </a:r>
            <a:r>
              <a:rPr lang="en-US" sz="950" dirty="0">
                <a:solidFill>
                  <a:srgbClr val="E2E8F0"/>
                </a:solidFill>
                <a:latin typeface="Consolas" pitchFamily="34" charset="0"/>
                <a:ea typeface="Consolas" pitchFamily="34" charset="-122"/>
                <a:cs typeface="Consolas" pitchFamily="34" charset="-120"/>
              </a:rPr>
              <a:t>res.headers)</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.to.include({ </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a:t>
            </a:r>
            <a:r>
              <a:rPr lang="en-US" sz="950" dirty="0">
                <a:solidFill>
                  <a:srgbClr val="FFD54F"/>
                </a:solidFill>
                <a:latin typeface="Consolas" pitchFamily="34" charset="0"/>
                <a:ea typeface="Consolas" pitchFamily="34" charset="-122"/>
                <a:cs typeface="Consolas" pitchFamily="34" charset="-120"/>
              </a:rPr>
              <a:t>"content-type"</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a:t>
            </a:r>
            <a:r>
              <a:rPr lang="en-US" sz="950" dirty="0">
                <a:solidFill>
                  <a:srgbClr val="FFD54F"/>
                </a:solidFill>
                <a:latin typeface="Consolas" pitchFamily="34" charset="0"/>
                <a:ea typeface="Consolas" pitchFamily="34" charset="-122"/>
                <a:cs typeface="Consolas" pitchFamily="34" charset="-120"/>
              </a:rPr>
              <a:t>"application/json"</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p:txBody>
      </p:sp>
      <p:sp>
        <p:nvSpPr>
          <p:cNvPr id="7" name="Text 5"/>
          <p:cNvSpPr/>
          <p:nvPr/>
        </p:nvSpPr>
        <p:spPr>
          <a:xfrm>
            <a:off x="4663440" y="1417320"/>
            <a:ext cx="4023360" cy="274320"/>
          </a:xfrm>
          <a:prstGeom prst="rect">
            <a:avLst/>
          </a:prstGeom>
          <a:noFill/>
          <a:ln/>
        </p:spPr>
        <p:txBody>
          <a:bodyPr wrap="square" lIns="0" tIns="0" rIns="0" bIns="0" rtlCol="0" anchor="ctr"/>
          <a:lstStyle/>
          <a:p>
            <a:pPr marL="0" indent="0">
              <a:buNone/>
            </a:pPr>
            <a:r>
              <a:rPr lang="en-US" sz="1200" b="1" kern="0" spc="300" dirty="0">
                <a:solidFill>
                  <a:srgbClr val="69D3A7"/>
                </a:solidFill>
                <a:latin typeface="Calibri" pitchFamily="34" charset="0"/>
                <a:ea typeface="Calibri" pitchFamily="34" charset="-122"/>
                <a:cs typeface="Calibri" pitchFamily="34" charset="-120"/>
              </a:rPr>
              <a:t>Three things to check</a:t>
            </a:r>
            <a:endParaRPr lang="en-US" sz="1200" dirty="0"/>
          </a:p>
        </p:txBody>
      </p:sp>
      <p:sp>
        <p:nvSpPr>
          <p:cNvPr id="8" name="Shape 6"/>
          <p:cNvSpPr/>
          <p:nvPr/>
        </p:nvSpPr>
        <p:spPr>
          <a:xfrm>
            <a:off x="4663440" y="1783080"/>
            <a:ext cx="4023360" cy="777240"/>
          </a:xfrm>
          <a:prstGeom prst="rect">
            <a:avLst/>
          </a:prstGeom>
          <a:solidFill>
            <a:srgbClr val="F7F9FC"/>
          </a:solidFill>
          <a:ln w="12700">
            <a:solidFill>
              <a:srgbClr val="F7F9FC"/>
            </a:solidFill>
            <a:prstDash val="solid"/>
          </a:ln>
        </p:spPr>
        <p:txBody>
          <a:bodyPr/>
          <a:lstStyle/>
          <a:p>
            <a:endParaRPr lang="en-IN"/>
          </a:p>
        </p:txBody>
      </p:sp>
      <p:sp>
        <p:nvSpPr>
          <p:cNvPr id="9" name="Shape 7"/>
          <p:cNvSpPr/>
          <p:nvPr/>
        </p:nvSpPr>
        <p:spPr>
          <a:xfrm>
            <a:off x="4663440" y="1783080"/>
            <a:ext cx="73152" cy="777240"/>
          </a:xfrm>
          <a:prstGeom prst="rect">
            <a:avLst/>
          </a:prstGeom>
          <a:solidFill>
            <a:srgbClr val="F5B700"/>
          </a:solidFill>
          <a:ln w="12700">
            <a:solidFill>
              <a:srgbClr val="F5B700"/>
            </a:solidFill>
            <a:prstDash val="solid"/>
          </a:ln>
        </p:spPr>
        <p:txBody>
          <a:bodyPr/>
          <a:lstStyle/>
          <a:p>
            <a:endParaRPr lang="en-IN"/>
          </a:p>
        </p:txBody>
      </p:sp>
      <p:sp>
        <p:nvSpPr>
          <p:cNvPr id="10" name="Text 8"/>
          <p:cNvSpPr/>
          <p:nvPr/>
        </p:nvSpPr>
        <p:spPr>
          <a:xfrm>
            <a:off x="4846320" y="1874520"/>
            <a:ext cx="3657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res.status</a:t>
            </a:r>
            <a:endParaRPr lang="en-US" sz="1200" dirty="0"/>
          </a:p>
        </p:txBody>
      </p:sp>
      <p:sp>
        <p:nvSpPr>
          <p:cNvPr id="11" name="Text 9"/>
          <p:cNvSpPr/>
          <p:nvPr/>
        </p:nvSpPr>
        <p:spPr>
          <a:xfrm>
            <a:off x="4846320" y="2148840"/>
            <a:ext cx="3657600" cy="36576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200, 201, 401, 404, 500 — did the request succeed?</a:t>
            </a:r>
            <a:endParaRPr lang="en-US" sz="1050" dirty="0"/>
          </a:p>
        </p:txBody>
      </p:sp>
      <p:sp>
        <p:nvSpPr>
          <p:cNvPr id="12" name="Shape 10"/>
          <p:cNvSpPr/>
          <p:nvPr/>
        </p:nvSpPr>
        <p:spPr>
          <a:xfrm>
            <a:off x="4663440" y="2651760"/>
            <a:ext cx="4023360" cy="777240"/>
          </a:xfrm>
          <a:prstGeom prst="rect">
            <a:avLst/>
          </a:prstGeom>
          <a:solidFill>
            <a:srgbClr val="F7F9FC"/>
          </a:solidFill>
          <a:ln w="12700">
            <a:solidFill>
              <a:srgbClr val="F7F9FC"/>
            </a:solidFill>
            <a:prstDash val="solid"/>
          </a:ln>
        </p:spPr>
        <p:txBody>
          <a:bodyPr/>
          <a:lstStyle/>
          <a:p>
            <a:endParaRPr lang="en-IN"/>
          </a:p>
        </p:txBody>
      </p:sp>
      <p:sp>
        <p:nvSpPr>
          <p:cNvPr id="13" name="Shape 11"/>
          <p:cNvSpPr/>
          <p:nvPr/>
        </p:nvSpPr>
        <p:spPr>
          <a:xfrm>
            <a:off x="4663440" y="2651760"/>
            <a:ext cx="73152" cy="777240"/>
          </a:xfrm>
          <a:prstGeom prst="rect">
            <a:avLst/>
          </a:prstGeom>
          <a:solidFill>
            <a:srgbClr val="F5B700"/>
          </a:solidFill>
          <a:ln w="12700">
            <a:solidFill>
              <a:srgbClr val="F5B700"/>
            </a:solidFill>
            <a:prstDash val="solid"/>
          </a:ln>
        </p:spPr>
        <p:txBody>
          <a:bodyPr/>
          <a:lstStyle/>
          <a:p>
            <a:endParaRPr lang="en-IN"/>
          </a:p>
        </p:txBody>
      </p:sp>
      <p:sp>
        <p:nvSpPr>
          <p:cNvPr id="14" name="Text 12"/>
          <p:cNvSpPr/>
          <p:nvPr/>
        </p:nvSpPr>
        <p:spPr>
          <a:xfrm>
            <a:off x="4846320" y="2743200"/>
            <a:ext cx="3657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res.body</a:t>
            </a:r>
            <a:endParaRPr lang="en-US" sz="1200" dirty="0"/>
          </a:p>
        </p:txBody>
      </p:sp>
      <p:sp>
        <p:nvSpPr>
          <p:cNvPr id="15" name="Text 13"/>
          <p:cNvSpPr/>
          <p:nvPr/>
        </p:nvSpPr>
        <p:spPr>
          <a:xfrm>
            <a:off x="4846320" y="3017520"/>
            <a:ext cx="3657600" cy="36576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The actual JSON — field values, array length, schema shape</a:t>
            </a:r>
            <a:endParaRPr lang="en-US" sz="1050" dirty="0"/>
          </a:p>
        </p:txBody>
      </p:sp>
      <p:sp>
        <p:nvSpPr>
          <p:cNvPr id="16" name="Shape 14"/>
          <p:cNvSpPr/>
          <p:nvPr/>
        </p:nvSpPr>
        <p:spPr>
          <a:xfrm>
            <a:off x="4663440" y="3520440"/>
            <a:ext cx="4023360" cy="777240"/>
          </a:xfrm>
          <a:prstGeom prst="rect">
            <a:avLst/>
          </a:prstGeom>
          <a:solidFill>
            <a:srgbClr val="F7F9FC"/>
          </a:solidFill>
          <a:ln w="12700">
            <a:solidFill>
              <a:srgbClr val="F7F9FC"/>
            </a:solidFill>
            <a:prstDash val="solid"/>
          </a:ln>
        </p:spPr>
        <p:txBody>
          <a:bodyPr/>
          <a:lstStyle/>
          <a:p>
            <a:endParaRPr lang="en-IN"/>
          </a:p>
        </p:txBody>
      </p:sp>
      <p:sp>
        <p:nvSpPr>
          <p:cNvPr id="17" name="Shape 15"/>
          <p:cNvSpPr/>
          <p:nvPr/>
        </p:nvSpPr>
        <p:spPr>
          <a:xfrm>
            <a:off x="4663440" y="3520440"/>
            <a:ext cx="73152" cy="777240"/>
          </a:xfrm>
          <a:prstGeom prst="rect">
            <a:avLst/>
          </a:prstGeom>
          <a:solidFill>
            <a:srgbClr val="F5B700"/>
          </a:solidFill>
          <a:ln w="12700">
            <a:solidFill>
              <a:srgbClr val="F5B700"/>
            </a:solidFill>
            <a:prstDash val="solid"/>
          </a:ln>
        </p:spPr>
        <p:txBody>
          <a:bodyPr/>
          <a:lstStyle/>
          <a:p>
            <a:endParaRPr lang="en-IN"/>
          </a:p>
        </p:txBody>
      </p:sp>
      <p:sp>
        <p:nvSpPr>
          <p:cNvPr id="18" name="Text 16"/>
          <p:cNvSpPr/>
          <p:nvPr/>
        </p:nvSpPr>
        <p:spPr>
          <a:xfrm>
            <a:off x="4846320" y="3611880"/>
            <a:ext cx="3657600" cy="274320"/>
          </a:xfrm>
          <a:prstGeom prst="rect">
            <a:avLst/>
          </a:prstGeom>
          <a:noFill/>
          <a:ln/>
        </p:spPr>
        <p:txBody>
          <a:bodyPr wrap="square" lIns="0" tIns="0" rIns="0" bIns="0" rtlCol="0" anchor="ctr"/>
          <a:lstStyle/>
          <a:p>
            <a:pPr marL="0" indent="0">
              <a:buNone/>
            </a:pPr>
            <a:r>
              <a:rPr lang="en-US" sz="1200" b="1" dirty="0">
                <a:solidFill>
                  <a:srgbClr val="1E2761"/>
                </a:solidFill>
                <a:latin typeface="Consolas" pitchFamily="34" charset="0"/>
                <a:ea typeface="Consolas" pitchFamily="34" charset="-122"/>
                <a:cs typeface="Consolas" pitchFamily="34" charset="-120"/>
              </a:rPr>
              <a:t>res.headers</a:t>
            </a:r>
            <a:endParaRPr lang="en-US" sz="1200" dirty="0"/>
          </a:p>
        </p:txBody>
      </p:sp>
      <p:sp>
        <p:nvSpPr>
          <p:cNvPr id="19" name="Text 17"/>
          <p:cNvSpPr/>
          <p:nvPr/>
        </p:nvSpPr>
        <p:spPr>
          <a:xfrm>
            <a:off x="4846320" y="3886200"/>
            <a:ext cx="3657600" cy="36576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Content-type, auth tokens, custom headers like rate limits</a:t>
            </a:r>
            <a:endParaRPr lang="en-US" sz="1050" dirty="0"/>
          </a:p>
        </p:txBody>
      </p:sp>
      <p:sp>
        <p:nvSpPr>
          <p:cNvPr id="20" name="Text 18"/>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21" name="Text 19"/>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cy.intercept(): Beyond Just Watching</a:t>
            </a:r>
            <a:endParaRPr lang="en-US" sz="24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200" i="1" dirty="0">
                <a:solidFill>
                  <a:srgbClr val="5B6582"/>
                </a:solidFill>
                <a:latin typeface="Calibri" pitchFamily="34" charset="0"/>
                <a:ea typeface="Calibri" pitchFamily="34" charset="-122"/>
                <a:cs typeface="Calibri" pitchFamily="34" charset="-120"/>
              </a:rPr>
              <a:t>It can also modify, delay, or force errors — perfect for testing how the UI handles backend chaos</a:t>
            </a:r>
            <a:endParaRPr lang="en-US" sz="1200" dirty="0"/>
          </a:p>
        </p:txBody>
      </p:sp>
      <p:sp>
        <p:nvSpPr>
          <p:cNvPr id="4" name="Shape 2"/>
          <p:cNvSpPr/>
          <p:nvPr/>
        </p:nvSpPr>
        <p:spPr>
          <a:xfrm>
            <a:off x="457200" y="1371600"/>
            <a:ext cx="8229600" cy="594360"/>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457200" y="1371600"/>
            <a:ext cx="1188720" cy="594360"/>
          </a:xfrm>
          <a:prstGeom prst="rect">
            <a:avLst/>
          </a:prstGeom>
          <a:solidFill>
            <a:srgbClr val="1E2761"/>
          </a:solidFill>
          <a:ln w="12700">
            <a:solidFill>
              <a:srgbClr val="1E2761"/>
            </a:solidFill>
            <a:prstDash val="solid"/>
          </a:ln>
        </p:spPr>
        <p:txBody>
          <a:bodyPr/>
          <a:lstStyle/>
          <a:p>
            <a:endParaRPr lang="en-IN"/>
          </a:p>
        </p:txBody>
      </p:sp>
      <p:sp>
        <p:nvSpPr>
          <p:cNvPr id="6" name="Text 4"/>
          <p:cNvSpPr/>
          <p:nvPr/>
        </p:nvSpPr>
        <p:spPr>
          <a:xfrm>
            <a:off x="457200" y="1371600"/>
            <a:ext cx="1188720" cy="594360"/>
          </a:xfrm>
          <a:prstGeom prst="rect">
            <a:avLst/>
          </a:prstGeom>
          <a:noFill/>
          <a:ln/>
        </p:spPr>
        <p:txBody>
          <a:bodyPr wrap="square" lIns="0" tIns="0" rIns="0" bIns="0" rtlCol="0" anchor="ctr"/>
          <a:lstStyle/>
          <a:p>
            <a:pPr marL="0" indent="0" algn="ctr">
              <a:buNone/>
            </a:pPr>
            <a:r>
              <a:rPr lang="en-US" sz="1000" b="1" kern="0" spc="200" dirty="0">
                <a:solidFill>
                  <a:srgbClr val="69D3A7"/>
                </a:solidFill>
                <a:latin typeface="Calibri" pitchFamily="34" charset="0"/>
                <a:ea typeface="Calibri" pitchFamily="34" charset="-122"/>
                <a:cs typeface="Calibri" pitchFamily="34" charset="-120"/>
              </a:rPr>
              <a:t>WATCH</a:t>
            </a:r>
            <a:endParaRPr lang="en-US" sz="1000" dirty="0"/>
          </a:p>
        </p:txBody>
      </p:sp>
      <p:sp>
        <p:nvSpPr>
          <p:cNvPr id="7" name="Text 5"/>
          <p:cNvSpPr/>
          <p:nvPr/>
        </p:nvSpPr>
        <p:spPr>
          <a:xfrm>
            <a:off x="1783080" y="1417320"/>
            <a:ext cx="2286000" cy="548640"/>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Observe &amp; assert on real requests</a:t>
            </a:r>
            <a:endParaRPr lang="en-US" sz="1050" dirty="0"/>
          </a:p>
        </p:txBody>
      </p:sp>
      <p:sp>
        <p:nvSpPr>
          <p:cNvPr id="8" name="Shape 6"/>
          <p:cNvSpPr/>
          <p:nvPr/>
        </p:nvSpPr>
        <p:spPr>
          <a:xfrm>
            <a:off x="4160520" y="1426464"/>
            <a:ext cx="4434840" cy="484632"/>
          </a:xfrm>
          <a:prstGeom prst="rect">
            <a:avLst/>
          </a:prstGeom>
          <a:solidFill>
            <a:srgbClr val="0F1A3A"/>
          </a:solidFill>
          <a:ln w="12700">
            <a:solidFill>
              <a:srgbClr val="0F1A3A"/>
            </a:solidFill>
            <a:prstDash val="solid"/>
          </a:ln>
        </p:spPr>
        <p:txBody>
          <a:bodyPr/>
          <a:lstStyle/>
          <a:p>
            <a:endParaRPr lang="en-IN"/>
          </a:p>
        </p:txBody>
      </p:sp>
      <p:sp>
        <p:nvSpPr>
          <p:cNvPr id="9" name="Text 7"/>
          <p:cNvSpPr/>
          <p:nvPr/>
        </p:nvSpPr>
        <p:spPr>
          <a:xfrm>
            <a:off x="4251960" y="1444752"/>
            <a:ext cx="4297680" cy="457200"/>
          </a:xfrm>
          <a:prstGeom prst="rect">
            <a:avLst/>
          </a:prstGeom>
          <a:noFill/>
          <a:ln/>
        </p:spPr>
        <p:txBody>
          <a:bodyPr wrap="square" lIns="0" tIns="0" rIns="0" bIns="0" rtlCol="0" anchor="t"/>
          <a:lstStyle/>
          <a:p>
            <a:pPr marL="0" indent="0">
              <a:buNone/>
            </a:pPr>
            <a:r>
              <a:rPr lang="en-US" sz="850" dirty="0">
                <a:solidFill>
                  <a:srgbClr val="FFD54F"/>
                </a:solidFill>
                <a:latin typeface="Consolas" pitchFamily="34" charset="0"/>
                <a:ea typeface="Consolas" pitchFamily="34" charset="-122"/>
                <a:cs typeface="Consolas" pitchFamily="34" charset="-120"/>
              </a:rPr>
              <a:t>cy.intercept("GET", "/api/users").as("users");</a:t>
            </a:r>
            <a:endParaRPr lang="en-US" sz="850" dirty="0"/>
          </a:p>
          <a:p>
            <a:pPr marL="0" indent="0">
              <a:buNone/>
            </a:pPr>
            <a:r>
              <a:rPr lang="en-US" sz="850" dirty="0">
                <a:solidFill>
                  <a:srgbClr val="FFD54F"/>
                </a:solidFill>
                <a:latin typeface="Consolas" pitchFamily="34" charset="0"/>
                <a:ea typeface="Consolas" pitchFamily="34" charset="-122"/>
                <a:cs typeface="Consolas" pitchFamily="34" charset="-120"/>
              </a:rPr>
              <a:t>cy.wait("@users").its("response.statusCode").should("eq", 200);</a:t>
            </a:r>
            <a:endParaRPr lang="en-US" sz="850" dirty="0"/>
          </a:p>
        </p:txBody>
      </p:sp>
      <p:sp>
        <p:nvSpPr>
          <p:cNvPr id="10" name="Shape 8"/>
          <p:cNvSpPr/>
          <p:nvPr/>
        </p:nvSpPr>
        <p:spPr>
          <a:xfrm>
            <a:off x="457200" y="2029968"/>
            <a:ext cx="8229600" cy="59436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57200" y="2029968"/>
            <a:ext cx="1188720" cy="594360"/>
          </a:xfrm>
          <a:prstGeom prst="rect">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57200" y="2029968"/>
            <a:ext cx="1188720" cy="594360"/>
          </a:xfrm>
          <a:prstGeom prst="rect">
            <a:avLst/>
          </a:prstGeom>
          <a:noFill/>
          <a:ln/>
        </p:spPr>
        <p:txBody>
          <a:bodyPr wrap="square" lIns="0" tIns="0" rIns="0" bIns="0" rtlCol="0" anchor="ctr"/>
          <a:lstStyle/>
          <a:p>
            <a:pPr marL="0" indent="0" algn="ctr">
              <a:buNone/>
            </a:pPr>
            <a:r>
              <a:rPr lang="en-US" sz="1000" b="1" kern="0" spc="200" dirty="0">
                <a:solidFill>
                  <a:srgbClr val="69D3A7"/>
                </a:solidFill>
                <a:latin typeface="Calibri" pitchFamily="34" charset="0"/>
                <a:ea typeface="Calibri" pitchFamily="34" charset="-122"/>
                <a:cs typeface="Calibri" pitchFamily="34" charset="-120"/>
              </a:rPr>
              <a:t>STUB</a:t>
            </a:r>
            <a:endParaRPr lang="en-US" sz="1000" dirty="0"/>
          </a:p>
        </p:txBody>
      </p:sp>
      <p:sp>
        <p:nvSpPr>
          <p:cNvPr id="13" name="Text 11"/>
          <p:cNvSpPr/>
          <p:nvPr/>
        </p:nvSpPr>
        <p:spPr>
          <a:xfrm>
            <a:off x="1783080" y="2075688"/>
            <a:ext cx="2286000" cy="548640"/>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Replace response with fixture</a:t>
            </a:r>
            <a:endParaRPr lang="en-US" sz="1050" dirty="0"/>
          </a:p>
        </p:txBody>
      </p:sp>
      <p:sp>
        <p:nvSpPr>
          <p:cNvPr id="14" name="Shape 12"/>
          <p:cNvSpPr/>
          <p:nvPr/>
        </p:nvSpPr>
        <p:spPr>
          <a:xfrm>
            <a:off x="4160520" y="2084832"/>
            <a:ext cx="4434840" cy="484632"/>
          </a:xfrm>
          <a:prstGeom prst="rect">
            <a:avLst/>
          </a:prstGeom>
          <a:solidFill>
            <a:srgbClr val="0F1A3A"/>
          </a:solidFill>
          <a:ln w="12700">
            <a:solidFill>
              <a:srgbClr val="0F1A3A"/>
            </a:solidFill>
            <a:prstDash val="solid"/>
          </a:ln>
        </p:spPr>
        <p:txBody>
          <a:bodyPr/>
          <a:lstStyle/>
          <a:p>
            <a:endParaRPr lang="en-IN"/>
          </a:p>
        </p:txBody>
      </p:sp>
      <p:sp>
        <p:nvSpPr>
          <p:cNvPr id="15" name="Text 13"/>
          <p:cNvSpPr/>
          <p:nvPr/>
        </p:nvSpPr>
        <p:spPr>
          <a:xfrm>
            <a:off x="4251960" y="2103120"/>
            <a:ext cx="4297680" cy="457200"/>
          </a:xfrm>
          <a:prstGeom prst="rect">
            <a:avLst/>
          </a:prstGeom>
          <a:noFill/>
          <a:ln/>
        </p:spPr>
        <p:txBody>
          <a:bodyPr wrap="square" lIns="0" tIns="0" rIns="0" bIns="0" rtlCol="0" anchor="t"/>
          <a:lstStyle/>
          <a:p>
            <a:pPr marL="0" indent="0">
              <a:buNone/>
            </a:pPr>
            <a:r>
              <a:rPr lang="en-US" sz="850" dirty="0">
                <a:solidFill>
                  <a:srgbClr val="FFD54F"/>
                </a:solidFill>
                <a:latin typeface="Consolas" pitchFamily="34" charset="0"/>
                <a:ea typeface="Consolas" pitchFamily="34" charset="-122"/>
                <a:cs typeface="Consolas" pitchFamily="34" charset="-120"/>
              </a:rPr>
              <a:t>cy.intercept("GET", "/api/users", {</a:t>
            </a:r>
            <a:endParaRPr lang="en-US" sz="850" dirty="0"/>
          </a:p>
          <a:p>
            <a:pPr marL="0" indent="0">
              <a:buNone/>
            </a:pPr>
            <a:r>
              <a:rPr lang="en-US" sz="850" dirty="0">
                <a:solidFill>
                  <a:srgbClr val="FFD54F"/>
                </a:solidFill>
                <a:latin typeface="Consolas" pitchFamily="34" charset="0"/>
                <a:ea typeface="Consolas" pitchFamily="34" charset="-122"/>
                <a:cs typeface="Consolas" pitchFamily="34" charset="-120"/>
              </a:rPr>
              <a:t>  fixture: "users/list.json" });</a:t>
            </a:r>
            <a:endParaRPr lang="en-US" sz="850" dirty="0"/>
          </a:p>
        </p:txBody>
      </p:sp>
      <p:sp>
        <p:nvSpPr>
          <p:cNvPr id="16" name="Shape 14"/>
          <p:cNvSpPr/>
          <p:nvPr/>
        </p:nvSpPr>
        <p:spPr>
          <a:xfrm>
            <a:off x="457200" y="2688336"/>
            <a:ext cx="8229600" cy="594360"/>
          </a:xfrm>
          <a:prstGeom prst="rect">
            <a:avLst/>
          </a:prstGeom>
          <a:solidFill>
            <a:srgbClr val="F7F9FC"/>
          </a:solidFill>
          <a:ln w="12700">
            <a:solidFill>
              <a:srgbClr val="F7F9FC"/>
            </a:solidFill>
            <a:prstDash val="solid"/>
          </a:ln>
        </p:spPr>
        <p:txBody>
          <a:bodyPr/>
          <a:lstStyle/>
          <a:p>
            <a:endParaRPr lang="en-IN"/>
          </a:p>
        </p:txBody>
      </p:sp>
      <p:sp>
        <p:nvSpPr>
          <p:cNvPr id="17" name="Shape 15"/>
          <p:cNvSpPr/>
          <p:nvPr/>
        </p:nvSpPr>
        <p:spPr>
          <a:xfrm>
            <a:off x="457200" y="2688336"/>
            <a:ext cx="1188720" cy="594360"/>
          </a:xfrm>
          <a:prstGeom prst="rect">
            <a:avLst/>
          </a:prstGeom>
          <a:solidFill>
            <a:srgbClr val="1E2761"/>
          </a:solidFill>
          <a:ln w="12700">
            <a:solidFill>
              <a:srgbClr val="1E2761"/>
            </a:solidFill>
            <a:prstDash val="solid"/>
          </a:ln>
        </p:spPr>
        <p:txBody>
          <a:bodyPr/>
          <a:lstStyle/>
          <a:p>
            <a:endParaRPr lang="en-IN"/>
          </a:p>
        </p:txBody>
      </p:sp>
      <p:sp>
        <p:nvSpPr>
          <p:cNvPr id="18" name="Text 16"/>
          <p:cNvSpPr/>
          <p:nvPr/>
        </p:nvSpPr>
        <p:spPr>
          <a:xfrm>
            <a:off x="457200" y="2688336"/>
            <a:ext cx="1188720" cy="594360"/>
          </a:xfrm>
          <a:prstGeom prst="rect">
            <a:avLst/>
          </a:prstGeom>
          <a:noFill/>
          <a:ln/>
        </p:spPr>
        <p:txBody>
          <a:bodyPr wrap="square" lIns="0" tIns="0" rIns="0" bIns="0" rtlCol="0" anchor="ctr"/>
          <a:lstStyle/>
          <a:p>
            <a:pPr marL="0" indent="0" algn="ctr">
              <a:buNone/>
            </a:pPr>
            <a:r>
              <a:rPr lang="en-US" sz="1000" b="1" kern="0" spc="200" dirty="0">
                <a:solidFill>
                  <a:srgbClr val="69D3A7"/>
                </a:solidFill>
                <a:latin typeface="Calibri" pitchFamily="34" charset="0"/>
                <a:ea typeface="Calibri" pitchFamily="34" charset="-122"/>
                <a:cs typeface="Calibri" pitchFamily="34" charset="-120"/>
              </a:rPr>
              <a:t>MODIFY</a:t>
            </a:r>
            <a:endParaRPr lang="en-US" sz="1000" dirty="0"/>
          </a:p>
        </p:txBody>
      </p:sp>
      <p:sp>
        <p:nvSpPr>
          <p:cNvPr id="19" name="Text 17"/>
          <p:cNvSpPr/>
          <p:nvPr/>
        </p:nvSpPr>
        <p:spPr>
          <a:xfrm>
            <a:off x="1783080" y="2734056"/>
            <a:ext cx="2286000" cy="548640"/>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Change the real response on the fly</a:t>
            </a:r>
            <a:endParaRPr lang="en-US" sz="1050" dirty="0"/>
          </a:p>
        </p:txBody>
      </p:sp>
      <p:sp>
        <p:nvSpPr>
          <p:cNvPr id="20" name="Shape 18"/>
          <p:cNvSpPr/>
          <p:nvPr/>
        </p:nvSpPr>
        <p:spPr>
          <a:xfrm>
            <a:off x="4160520" y="2743200"/>
            <a:ext cx="4434840" cy="484632"/>
          </a:xfrm>
          <a:prstGeom prst="rect">
            <a:avLst/>
          </a:prstGeom>
          <a:solidFill>
            <a:srgbClr val="0F1A3A"/>
          </a:solidFill>
          <a:ln w="12700">
            <a:solidFill>
              <a:srgbClr val="0F1A3A"/>
            </a:solidFill>
            <a:prstDash val="solid"/>
          </a:ln>
        </p:spPr>
        <p:txBody>
          <a:bodyPr/>
          <a:lstStyle/>
          <a:p>
            <a:endParaRPr lang="en-IN"/>
          </a:p>
        </p:txBody>
      </p:sp>
      <p:sp>
        <p:nvSpPr>
          <p:cNvPr id="21" name="Text 19"/>
          <p:cNvSpPr/>
          <p:nvPr/>
        </p:nvSpPr>
        <p:spPr>
          <a:xfrm>
            <a:off x="4251960" y="2761488"/>
            <a:ext cx="4297680" cy="457200"/>
          </a:xfrm>
          <a:prstGeom prst="rect">
            <a:avLst/>
          </a:prstGeom>
          <a:noFill/>
          <a:ln/>
        </p:spPr>
        <p:txBody>
          <a:bodyPr wrap="square" lIns="0" tIns="0" rIns="0" bIns="0" rtlCol="0" anchor="t"/>
          <a:lstStyle/>
          <a:p>
            <a:pPr marL="0" indent="0">
              <a:buNone/>
            </a:pPr>
            <a:r>
              <a:rPr lang="en-US" sz="850" dirty="0">
                <a:solidFill>
                  <a:srgbClr val="FFD54F"/>
                </a:solidFill>
                <a:latin typeface="Consolas" pitchFamily="34" charset="0"/>
                <a:ea typeface="Consolas" pitchFamily="34" charset="-122"/>
                <a:cs typeface="Consolas" pitchFamily="34" charset="-120"/>
              </a:rPr>
              <a:t>cy.intercept("/api/users", (req) =&gt; {</a:t>
            </a:r>
            <a:endParaRPr lang="en-US" sz="850" dirty="0"/>
          </a:p>
          <a:p>
            <a:pPr marL="0" indent="0">
              <a:buNone/>
            </a:pPr>
            <a:r>
              <a:rPr lang="en-US" sz="850" dirty="0">
                <a:solidFill>
                  <a:srgbClr val="FFD54F"/>
                </a:solidFill>
                <a:latin typeface="Consolas" pitchFamily="34" charset="0"/>
                <a:ea typeface="Consolas" pitchFamily="34" charset="-122"/>
                <a:cs typeface="Consolas" pitchFamily="34" charset="-120"/>
              </a:rPr>
              <a:t>  req.continue((res) =&gt; { res.body.role = "admin"; }); });</a:t>
            </a:r>
            <a:endParaRPr lang="en-US" sz="850" dirty="0"/>
          </a:p>
        </p:txBody>
      </p:sp>
      <p:sp>
        <p:nvSpPr>
          <p:cNvPr id="22" name="Shape 20"/>
          <p:cNvSpPr/>
          <p:nvPr/>
        </p:nvSpPr>
        <p:spPr>
          <a:xfrm>
            <a:off x="457200" y="3346704"/>
            <a:ext cx="8229600" cy="594360"/>
          </a:xfrm>
          <a:prstGeom prst="rect">
            <a:avLst/>
          </a:prstGeom>
          <a:solidFill>
            <a:srgbClr val="F7F9FC"/>
          </a:solidFill>
          <a:ln w="12700">
            <a:solidFill>
              <a:srgbClr val="F7F9FC"/>
            </a:solidFill>
            <a:prstDash val="solid"/>
          </a:ln>
        </p:spPr>
        <p:txBody>
          <a:bodyPr/>
          <a:lstStyle/>
          <a:p>
            <a:endParaRPr lang="en-IN"/>
          </a:p>
        </p:txBody>
      </p:sp>
      <p:sp>
        <p:nvSpPr>
          <p:cNvPr id="23" name="Shape 21"/>
          <p:cNvSpPr/>
          <p:nvPr/>
        </p:nvSpPr>
        <p:spPr>
          <a:xfrm>
            <a:off x="457200" y="3346704"/>
            <a:ext cx="1188720" cy="594360"/>
          </a:xfrm>
          <a:prstGeom prst="rect">
            <a:avLst/>
          </a:prstGeom>
          <a:solidFill>
            <a:srgbClr val="1E2761"/>
          </a:solidFill>
          <a:ln w="12700">
            <a:solidFill>
              <a:srgbClr val="1E2761"/>
            </a:solidFill>
            <a:prstDash val="solid"/>
          </a:ln>
        </p:spPr>
        <p:txBody>
          <a:bodyPr/>
          <a:lstStyle/>
          <a:p>
            <a:endParaRPr lang="en-IN"/>
          </a:p>
        </p:txBody>
      </p:sp>
      <p:sp>
        <p:nvSpPr>
          <p:cNvPr id="24" name="Text 22"/>
          <p:cNvSpPr/>
          <p:nvPr/>
        </p:nvSpPr>
        <p:spPr>
          <a:xfrm>
            <a:off x="457200" y="3346704"/>
            <a:ext cx="1188720" cy="594360"/>
          </a:xfrm>
          <a:prstGeom prst="rect">
            <a:avLst/>
          </a:prstGeom>
          <a:noFill/>
          <a:ln/>
        </p:spPr>
        <p:txBody>
          <a:bodyPr wrap="square" lIns="0" tIns="0" rIns="0" bIns="0" rtlCol="0" anchor="ctr"/>
          <a:lstStyle/>
          <a:p>
            <a:pPr marL="0" indent="0" algn="ctr">
              <a:buNone/>
            </a:pPr>
            <a:r>
              <a:rPr lang="en-US" sz="1000" b="1" kern="0" spc="200" dirty="0">
                <a:solidFill>
                  <a:srgbClr val="69D3A7"/>
                </a:solidFill>
                <a:latin typeface="Calibri" pitchFamily="34" charset="0"/>
                <a:ea typeface="Calibri" pitchFamily="34" charset="-122"/>
                <a:cs typeface="Calibri" pitchFamily="34" charset="-120"/>
              </a:rPr>
              <a:t>DELAY</a:t>
            </a:r>
            <a:endParaRPr lang="en-US" sz="1000" dirty="0"/>
          </a:p>
        </p:txBody>
      </p:sp>
      <p:sp>
        <p:nvSpPr>
          <p:cNvPr id="25" name="Text 23"/>
          <p:cNvSpPr/>
          <p:nvPr/>
        </p:nvSpPr>
        <p:spPr>
          <a:xfrm>
            <a:off x="1783080" y="3392424"/>
            <a:ext cx="2286000" cy="548640"/>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Simulate a slow backend</a:t>
            </a:r>
            <a:endParaRPr lang="en-US" sz="1050" dirty="0"/>
          </a:p>
        </p:txBody>
      </p:sp>
      <p:sp>
        <p:nvSpPr>
          <p:cNvPr id="26" name="Shape 24"/>
          <p:cNvSpPr/>
          <p:nvPr/>
        </p:nvSpPr>
        <p:spPr>
          <a:xfrm>
            <a:off x="4160520" y="3401568"/>
            <a:ext cx="4434840" cy="484632"/>
          </a:xfrm>
          <a:prstGeom prst="rect">
            <a:avLst/>
          </a:prstGeom>
          <a:solidFill>
            <a:srgbClr val="0F1A3A"/>
          </a:solidFill>
          <a:ln w="12700">
            <a:solidFill>
              <a:srgbClr val="0F1A3A"/>
            </a:solidFill>
            <a:prstDash val="solid"/>
          </a:ln>
        </p:spPr>
        <p:txBody>
          <a:bodyPr/>
          <a:lstStyle/>
          <a:p>
            <a:endParaRPr lang="en-IN"/>
          </a:p>
        </p:txBody>
      </p:sp>
      <p:sp>
        <p:nvSpPr>
          <p:cNvPr id="27" name="Text 25"/>
          <p:cNvSpPr/>
          <p:nvPr/>
        </p:nvSpPr>
        <p:spPr>
          <a:xfrm>
            <a:off x="4251960" y="3419856"/>
            <a:ext cx="4297680" cy="457200"/>
          </a:xfrm>
          <a:prstGeom prst="rect">
            <a:avLst/>
          </a:prstGeom>
          <a:noFill/>
          <a:ln/>
        </p:spPr>
        <p:txBody>
          <a:bodyPr wrap="square" lIns="0" tIns="0" rIns="0" bIns="0" rtlCol="0" anchor="t"/>
          <a:lstStyle/>
          <a:p>
            <a:pPr marL="0" indent="0">
              <a:buNone/>
            </a:pPr>
            <a:r>
              <a:rPr lang="en-US" sz="850" dirty="0">
                <a:solidFill>
                  <a:srgbClr val="FFD54F"/>
                </a:solidFill>
                <a:latin typeface="Consolas" pitchFamily="34" charset="0"/>
                <a:ea typeface="Consolas" pitchFamily="34" charset="-122"/>
                <a:cs typeface="Consolas" pitchFamily="34" charset="-120"/>
              </a:rPr>
              <a:t>cy.intercept("/api/users",</a:t>
            </a:r>
            <a:endParaRPr lang="en-US" sz="850" dirty="0"/>
          </a:p>
          <a:p>
            <a:pPr marL="0" indent="0">
              <a:buNone/>
            </a:pPr>
            <a:r>
              <a:rPr lang="en-US" sz="850" dirty="0">
                <a:solidFill>
                  <a:srgbClr val="FFD54F"/>
                </a:solidFill>
                <a:latin typeface="Consolas" pitchFamily="34" charset="0"/>
                <a:ea typeface="Consolas" pitchFamily="34" charset="-122"/>
                <a:cs typeface="Consolas" pitchFamily="34" charset="-120"/>
              </a:rPr>
              <a:t>  { fixture: "users/list.json", delay: 3000 });</a:t>
            </a:r>
            <a:endParaRPr lang="en-US" sz="850" dirty="0"/>
          </a:p>
        </p:txBody>
      </p:sp>
      <p:sp>
        <p:nvSpPr>
          <p:cNvPr id="28" name="Shape 26"/>
          <p:cNvSpPr/>
          <p:nvPr/>
        </p:nvSpPr>
        <p:spPr>
          <a:xfrm>
            <a:off x="457200" y="4005072"/>
            <a:ext cx="8229600" cy="594360"/>
          </a:xfrm>
          <a:prstGeom prst="rect">
            <a:avLst/>
          </a:prstGeom>
          <a:solidFill>
            <a:srgbClr val="F7F9FC"/>
          </a:solidFill>
          <a:ln w="12700">
            <a:solidFill>
              <a:srgbClr val="F7F9FC"/>
            </a:solidFill>
            <a:prstDash val="solid"/>
          </a:ln>
        </p:spPr>
        <p:txBody>
          <a:bodyPr/>
          <a:lstStyle/>
          <a:p>
            <a:endParaRPr lang="en-IN"/>
          </a:p>
        </p:txBody>
      </p:sp>
      <p:sp>
        <p:nvSpPr>
          <p:cNvPr id="29" name="Shape 27"/>
          <p:cNvSpPr/>
          <p:nvPr/>
        </p:nvSpPr>
        <p:spPr>
          <a:xfrm>
            <a:off x="457200" y="4005072"/>
            <a:ext cx="1188720" cy="594360"/>
          </a:xfrm>
          <a:prstGeom prst="rect">
            <a:avLst/>
          </a:prstGeom>
          <a:solidFill>
            <a:srgbClr val="1E2761"/>
          </a:solidFill>
          <a:ln w="12700">
            <a:solidFill>
              <a:srgbClr val="1E2761"/>
            </a:solidFill>
            <a:prstDash val="solid"/>
          </a:ln>
        </p:spPr>
        <p:txBody>
          <a:bodyPr/>
          <a:lstStyle/>
          <a:p>
            <a:endParaRPr lang="en-IN"/>
          </a:p>
        </p:txBody>
      </p:sp>
      <p:sp>
        <p:nvSpPr>
          <p:cNvPr id="30" name="Text 28"/>
          <p:cNvSpPr/>
          <p:nvPr/>
        </p:nvSpPr>
        <p:spPr>
          <a:xfrm>
            <a:off x="457200" y="4005072"/>
            <a:ext cx="1188720" cy="594360"/>
          </a:xfrm>
          <a:prstGeom prst="rect">
            <a:avLst/>
          </a:prstGeom>
          <a:noFill/>
          <a:ln/>
        </p:spPr>
        <p:txBody>
          <a:bodyPr wrap="square" lIns="0" tIns="0" rIns="0" bIns="0" rtlCol="0" anchor="ctr"/>
          <a:lstStyle/>
          <a:p>
            <a:pPr marL="0" indent="0" algn="ctr">
              <a:buNone/>
            </a:pPr>
            <a:r>
              <a:rPr lang="en-US" sz="1000" b="1" kern="0" spc="200" dirty="0">
                <a:solidFill>
                  <a:srgbClr val="69D3A7"/>
                </a:solidFill>
                <a:latin typeface="Calibri" pitchFamily="34" charset="0"/>
                <a:ea typeface="Calibri" pitchFamily="34" charset="-122"/>
                <a:cs typeface="Calibri" pitchFamily="34" charset="-120"/>
              </a:rPr>
              <a:t>FORCE ERROR</a:t>
            </a:r>
            <a:endParaRPr lang="en-US" sz="1000" dirty="0"/>
          </a:p>
        </p:txBody>
      </p:sp>
      <p:sp>
        <p:nvSpPr>
          <p:cNvPr id="31" name="Text 29"/>
          <p:cNvSpPr/>
          <p:nvPr/>
        </p:nvSpPr>
        <p:spPr>
          <a:xfrm>
            <a:off x="1783080" y="4050792"/>
            <a:ext cx="2286000" cy="548640"/>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Test how the UI shows failures</a:t>
            </a:r>
            <a:endParaRPr lang="en-US" sz="1050" dirty="0"/>
          </a:p>
        </p:txBody>
      </p:sp>
      <p:sp>
        <p:nvSpPr>
          <p:cNvPr id="32" name="Shape 30"/>
          <p:cNvSpPr/>
          <p:nvPr/>
        </p:nvSpPr>
        <p:spPr>
          <a:xfrm>
            <a:off x="4160520" y="4059936"/>
            <a:ext cx="4434840" cy="484632"/>
          </a:xfrm>
          <a:prstGeom prst="rect">
            <a:avLst/>
          </a:prstGeom>
          <a:solidFill>
            <a:srgbClr val="0F1A3A"/>
          </a:solidFill>
          <a:ln w="12700">
            <a:solidFill>
              <a:srgbClr val="0F1A3A"/>
            </a:solidFill>
            <a:prstDash val="solid"/>
          </a:ln>
        </p:spPr>
        <p:txBody>
          <a:bodyPr/>
          <a:lstStyle/>
          <a:p>
            <a:endParaRPr lang="en-IN"/>
          </a:p>
        </p:txBody>
      </p:sp>
      <p:sp>
        <p:nvSpPr>
          <p:cNvPr id="33" name="Text 31"/>
          <p:cNvSpPr/>
          <p:nvPr/>
        </p:nvSpPr>
        <p:spPr>
          <a:xfrm>
            <a:off x="4251960" y="4078224"/>
            <a:ext cx="4297680" cy="457200"/>
          </a:xfrm>
          <a:prstGeom prst="rect">
            <a:avLst/>
          </a:prstGeom>
          <a:noFill/>
          <a:ln/>
        </p:spPr>
        <p:txBody>
          <a:bodyPr wrap="square" lIns="0" tIns="0" rIns="0" bIns="0" rtlCol="0" anchor="t"/>
          <a:lstStyle/>
          <a:p>
            <a:pPr marL="0" indent="0">
              <a:buNone/>
            </a:pPr>
            <a:r>
              <a:rPr lang="en-US" sz="850" dirty="0">
                <a:solidFill>
                  <a:srgbClr val="FFD54F"/>
                </a:solidFill>
                <a:latin typeface="Consolas" pitchFamily="34" charset="0"/>
                <a:ea typeface="Consolas" pitchFamily="34" charset="-122"/>
                <a:cs typeface="Consolas" pitchFamily="34" charset="-120"/>
              </a:rPr>
              <a:t>cy.intercept("/api/users",</a:t>
            </a:r>
            <a:endParaRPr lang="en-US" sz="850" dirty="0"/>
          </a:p>
          <a:p>
            <a:pPr marL="0" indent="0">
              <a:buNone/>
            </a:pPr>
            <a:r>
              <a:rPr lang="en-US" sz="850" dirty="0">
                <a:solidFill>
                  <a:srgbClr val="FFD54F"/>
                </a:solidFill>
                <a:latin typeface="Consolas" pitchFamily="34" charset="0"/>
                <a:ea typeface="Consolas" pitchFamily="34" charset="-122"/>
                <a:cs typeface="Consolas" pitchFamily="34" charset="-120"/>
              </a:rPr>
              <a:t>  { statusCode: 500, body: { error: "Server exploded" } });</a:t>
            </a:r>
            <a:endParaRPr lang="en-US" sz="850" dirty="0"/>
          </a:p>
        </p:txBody>
      </p:sp>
      <p:sp>
        <p:nvSpPr>
          <p:cNvPr id="34" name="Text 32"/>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35" name="Text 33"/>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41248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cy.request  vs  cy.intercept</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200" i="1" dirty="0">
                <a:solidFill>
                  <a:srgbClr val="5B6582"/>
                </a:solidFill>
                <a:latin typeface="Calibri" pitchFamily="34" charset="0"/>
                <a:ea typeface="Calibri" pitchFamily="34" charset="-122"/>
                <a:cs typeface="Calibri" pitchFamily="34" charset="-120"/>
              </a:rPr>
              <a:t>They sound similar but do completely different things — get this right and tests get simpler</a:t>
            </a:r>
            <a:endParaRPr lang="en-US" sz="1200" dirty="0"/>
          </a:p>
        </p:txBody>
      </p:sp>
      <p:sp>
        <p:nvSpPr>
          <p:cNvPr id="4" name="Shape 2"/>
          <p:cNvSpPr/>
          <p:nvPr/>
        </p:nvSpPr>
        <p:spPr>
          <a:xfrm>
            <a:off x="457200" y="1417320"/>
            <a:ext cx="4023360" cy="3108960"/>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457200" y="1417320"/>
            <a:ext cx="4023360" cy="457200"/>
          </a:xfrm>
          <a:prstGeom prst="rect">
            <a:avLst/>
          </a:prstGeom>
          <a:solidFill>
            <a:srgbClr val="1E2761"/>
          </a:solidFill>
          <a:ln w="12700">
            <a:solidFill>
              <a:srgbClr val="1E2761"/>
            </a:solidFill>
            <a:prstDash val="solid"/>
          </a:ln>
        </p:spPr>
        <p:txBody>
          <a:bodyPr/>
          <a:lstStyle/>
          <a:p>
            <a:endParaRPr lang="en-IN"/>
          </a:p>
        </p:txBody>
      </p:sp>
      <p:sp>
        <p:nvSpPr>
          <p:cNvPr id="6" name="Text 4"/>
          <p:cNvSpPr/>
          <p:nvPr/>
        </p:nvSpPr>
        <p:spPr>
          <a:xfrm>
            <a:off x="594360" y="1417320"/>
            <a:ext cx="3749040" cy="457200"/>
          </a:xfrm>
          <a:prstGeom prst="rect">
            <a:avLst/>
          </a:prstGeom>
          <a:noFill/>
          <a:ln/>
        </p:spPr>
        <p:txBody>
          <a:bodyPr wrap="square" lIns="0" tIns="0" rIns="0" bIns="0" rtlCol="0" anchor="ctr"/>
          <a:lstStyle/>
          <a:p>
            <a:pPr marL="0" indent="0">
              <a:buNone/>
            </a:pPr>
            <a:r>
              <a:rPr lang="en-US" sz="1400" b="1" dirty="0">
                <a:solidFill>
                  <a:srgbClr val="69D3A7"/>
                </a:solidFill>
                <a:latin typeface="Consolas" pitchFamily="34" charset="0"/>
                <a:ea typeface="Consolas" pitchFamily="34" charset="-122"/>
                <a:cs typeface="Consolas" pitchFamily="34" charset="-120"/>
              </a:rPr>
              <a:t>cy.request()</a:t>
            </a:r>
            <a:endParaRPr lang="en-US" sz="1400" dirty="0"/>
          </a:p>
        </p:txBody>
      </p:sp>
      <p:sp>
        <p:nvSpPr>
          <p:cNvPr id="7" name="Text 5"/>
          <p:cNvSpPr/>
          <p:nvPr/>
        </p:nvSpPr>
        <p:spPr>
          <a:xfrm>
            <a:off x="640080" y="1965960"/>
            <a:ext cx="36576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Makes a real HTTP call</a:t>
            </a:r>
            <a:endParaRPr lang="en-US" sz="1100" dirty="0"/>
          </a:p>
        </p:txBody>
      </p:sp>
      <p:sp>
        <p:nvSpPr>
          <p:cNvPr id="8" name="Text 6"/>
          <p:cNvSpPr/>
          <p:nvPr/>
        </p:nvSpPr>
        <p:spPr>
          <a:xfrm>
            <a:off x="640080" y="2286000"/>
            <a:ext cx="3657600" cy="73152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Bypasses the browser. Talks directly to the API. The response comes back to your test.</a:t>
            </a:r>
            <a:endParaRPr lang="en-US" sz="1100" dirty="0"/>
          </a:p>
        </p:txBody>
      </p:sp>
      <p:sp>
        <p:nvSpPr>
          <p:cNvPr id="9" name="Text 7"/>
          <p:cNvSpPr/>
          <p:nvPr/>
        </p:nvSpPr>
        <p:spPr>
          <a:xfrm>
            <a:off x="640080" y="3108960"/>
            <a:ext cx="36576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Use it for</a:t>
            </a:r>
            <a:endParaRPr lang="en-US" sz="1100" dirty="0"/>
          </a:p>
        </p:txBody>
      </p:sp>
      <p:sp>
        <p:nvSpPr>
          <p:cNvPr id="10" name="Text 8"/>
          <p:cNvSpPr/>
          <p:nvPr/>
        </p:nvSpPr>
        <p:spPr>
          <a:xfrm>
            <a:off x="777240" y="3429000"/>
            <a:ext cx="3657600" cy="109728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Pure API testing</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Seeding data before a UI test</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Logging in via API for speed</a:t>
            </a:r>
            <a:endParaRPr lang="en-US" sz="1050" dirty="0"/>
          </a:p>
        </p:txBody>
      </p:sp>
      <p:sp>
        <p:nvSpPr>
          <p:cNvPr id="11" name="Shape 9"/>
          <p:cNvSpPr/>
          <p:nvPr/>
        </p:nvSpPr>
        <p:spPr>
          <a:xfrm>
            <a:off x="4663440" y="1417320"/>
            <a:ext cx="4023360" cy="3108960"/>
          </a:xfrm>
          <a:prstGeom prst="rect">
            <a:avLst/>
          </a:prstGeom>
          <a:solidFill>
            <a:srgbClr val="F7F9FC"/>
          </a:solidFill>
          <a:ln w="12700">
            <a:solidFill>
              <a:srgbClr val="F7F9FC"/>
            </a:solidFill>
            <a:prstDash val="solid"/>
          </a:ln>
        </p:spPr>
        <p:txBody>
          <a:bodyPr/>
          <a:lstStyle/>
          <a:p>
            <a:endParaRPr lang="en-IN"/>
          </a:p>
        </p:txBody>
      </p:sp>
      <p:sp>
        <p:nvSpPr>
          <p:cNvPr id="12" name="Shape 10"/>
          <p:cNvSpPr/>
          <p:nvPr/>
        </p:nvSpPr>
        <p:spPr>
          <a:xfrm>
            <a:off x="4663440" y="1417320"/>
            <a:ext cx="4023360" cy="457200"/>
          </a:xfrm>
          <a:prstGeom prst="rect">
            <a:avLst/>
          </a:prstGeom>
          <a:solidFill>
            <a:srgbClr val="1E2761"/>
          </a:solidFill>
          <a:ln w="12700">
            <a:solidFill>
              <a:srgbClr val="1E2761"/>
            </a:solidFill>
            <a:prstDash val="solid"/>
          </a:ln>
        </p:spPr>
        <p:txBody>
          <a:bodyPr/>
          <a:lstStyle/>
          <a:p>
            <a:endParaRPr lang="en-IN"/>
          </a:p>
        </p:txBody>
      </p:sp>
      <p:sp>
        <p:nvSpPr>
          <p:cNvPr id="13" name="Text 11"/>
          <p:cNvSpPr/>
          <p:nvPr/>
        </p:nvSpPr>
        <p:spPr>
          <a:xfrm>
            <a:off x="4800600" y="1417320"/>
            <a:ext cx="3749040" cy="457200"/>
          </a:xfrm>
          <a:prstGeom prst="rect">
            <a:avLst/>
          </a:prstGeom>
          <a:noFill/>
          <a:ln/>
        </p:spPr>
        <p:txBody>
          <a:bodyPr wrap="square" lIns="0" tIns="0" rIns="0" bIns="0" rtlCol="0" anchor="ctr"/>
          <a:lstStyle/>
          <a:p>
            <a:pPr marL="0" indent="0">
              <a:buNone/>
            </a:pPr>
            <a:r>
              <a:rPr lang="en-US" sz="1400" b="1" dirty="0">
                <a:solidFill>
                  <a:srgbClr val="69D3A7"/>
                </a:solidFill>
                <a:latin typeface="Consolas" pitchFamily="34" charset="0"/>
                <a:ea typeface="Consolas" pitchFamily="34" charset="-122"/>
                <a:cs typeface="Consolas" pitchFamily="34" charset="-120"/>
              </a:rPr>
              <a:t>cy.intercept()</a:t>
            </a:r>
            <a:endParaRPr lang="en-US" sz="1400" dirty="0"/>
          </a:p>
        </p:txBody>
      </p:sp>
      <p:sp>
        <p:nvSpPr>
          <p:cNvPr id="14" name="Text 12"/>
          <p:cNvSpPr/>
          <p:nvPr/>
        </p:nvSpPr>
        <p:spPr>
          <a:xfrm>
            <a:off x="4846320" y="1965960"/>
            <a:ext cx="36576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Watches the browser's network</a:t>
            </a:r>
            <a:endParaRPr lang="en-US" sz="1100" dirty="0"/>
          </a:p>
        </p:txBody>
      </p:sp>
      <p:sp>
        <p:nvSpPr>
          <p:cNvPr id="15" name="Text 13"/>
          <p:cNvSpPr/>
          <p:nvPr/>
        </p:nvSpPr>
        <p:spPr>
          <a:xfrm>
            <a:off x="4846320" y="2286000"/>
            <a:ext cx="3657600" cy="73152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Sits between the app and the API. Watches what the app sends, can modify or replace the response.</a:t>
            </a:r>
            <a:endParaRPr lang="en-US" sz="1100" dirty="0"/>
          </a:p>
        </p:txBody>
      </p:sp>
      <p:sp>
        <p:nvSpPr>
          <p:cNvPr id="16" name="Text 14"/>
          <p:cNvSpPr/>
          <p:nvPr/>
        </p:nvSpPr>
        <p:spPr>
          <a:xfrm>
            <a:off x="4846320" y="3108960"/>
            <a:ext cx="3657600" cy="274320"/>
          </a:xfrm>
          <a:prstGeom prst="rect">
            <a:avLst/>
          </a:prstGeom>
          <a:noFill/>
          <a:ln/>
        </p:spPr>
        <p:txBody>
          <a:bodyPr wrap="square" lIns="0" tIns="0" rIns="0" bIns="0" rtlCol="0" anchor="ctr"/>
          <a:lstStyle/>
          <a:p>
            <a:pPr marL="0" indent="0">
              <a:buNone/>
            </a:pPr>
            <a:r>
              <a:rPr lang="en-US" sz="1100" b="1" kern="0" spc="200" dirty="0">
                <a:solidFill>
                  <a:srgbClr val="F5B700"/>
                </a:solidFill>
                <a:latin typeface="Calibri" pitchFamily="34" charset="0"/>
                <a:ea typeface="Calibri" pitchFamily="34" charset="-122"/>
                <a:cs typeface="Calibri" pitchFamily="34" charset="-120"/>
              </a:rPr>
              <a:t>Use it for</a:t>
            </a:r>
            <a:endParaRPr lang="en-US" sz="1100" dirty="0"/>
          </a:p>
        </p:txBody>
      </p:sp>
      <p:sp>
        <p:nvSpPr>
          <p:cNvPr id="17" name="Text 15"/>
          <p:cNvSpPr/>
          <p:nvPr/>
        </p:nvSpPr>
        <p:spPr>
          <a:xfrm>
            <a:off x="4983480" y="3429000"/>
            <a:ext cx="3657600" cy="109728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Waiting on real network calls</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Stubbing the backend with fixtures</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Forcing error states in the UI</a:t>
            </a:r>
            <a:endParaRPr lang="en-US" sz="1050" dirty="0"/>
          </a:p>
        </p:txBody>
      </p:sp>
      <p:sp>
        <p:nvSpPr>
          <p:cNvPr id="18" name="Text 16"/>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19" name="Text 17"/>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Validating API Responses</a:t>
            </a:r>
            <a:endParaRPr lang="en-US" sz="30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Common assertion patterns — status, body fields, array length, schema shape</a:t>
            </a:r>
            <a:endParaRPr lang="en-US" sz="1300" dirty="0"/>
          </a:p>
        </p:txBody>
      </p:sp>
      <p:sp>
        <p:nvSpPr>
          <p:cNvPr id="4" name="Shape 2"/>
          <p:cNvSpPr/>
          <p:nvPr/>
        </p:nvSpPr>
        <p:spPr>
          <a:xfrm>
            <a:off x="457200" y="1371600"/>
            <a:ext cx="8229600" cy="365760"/>
          </a:xfrm>
          <a:prstGeom prst="rect">
            <a:avLst/>
          </a:prstGeom>
          <a:solidFill>
            <a:srgbClr val="1E2761"/>
          </a:solidFill>
          <a:ln w="12700">
            <a:solidFill>
              <a:srgbClr val="1E2761"/>
            </a:solidFill>
            <a:prstDash val="solid"/>
          </a:ln>
        </p:spPr>
        <p:txBody>
          <a:bodyPr/>
          <a:lstStyle/>
          <a:p>
            <a:endParaRPr lang="en-IN"/>
          </a:p>
        </p:txBody>
      </p:sp>
      <p:sp>
        <p:nvSpPr>
          <p:cNvPr id="5" name="Text 3"/>
          <p:cNvSpPr/>
          <p:nvPr/>
        </p:nvSpPr>
        <p:spPr>
          <a:xfrm>
            <a:off x="594360" y="1371600"/>
            <a:ext cx="1828800" cy="365760"/>
          </a:xfrm>
          <a:prstGeom prst="rect">
            <a:avLst/>
          </a:prstGeom>
          <a:noFill/>
          <a:ln/>
        </p:spPr>
        <p:txBody>
          <a:bodyPr wrap="square" lIns="0" tIns="0" rIns="0" bIns="0" rtlCol="0" anchor="ctr"/>
          <a:lstStyle/>
          <a:p>
            <a:pPr marL="0" indent="0">
              <a:buNone/>
            </a:pPr>
            <a:r>
              <a:rPr lang="en-US" sz="1000" b="1" kern="0" spc="300" dirty="0">
                <a:solidFill>
                  <a:srgbClr val="69D3A7"/>
                </a:solidFill>
                <a:latin typeface="Calibri" pitchFamily="34" charset="0"/>
                <a:ea typeface="Calibri" pitchFamily="34" charset="-122"/>
                <a:cs typeface="Calibri" pitchFamily="34" charset="-120"/>
              </a:rPr>
              <a:t>CHECK</a:t>
            </a:r>
            <a:endParaRPr lang="en-US" sz="1000" dirty="0"/>
          </a:p>
        </p:txBody>
      </p:sp>
      <p:sp>
        <p:nvSpPr>
          <p:cNvPr id="6" name="Text 4"/>
          <p:cNvSpPr/>
          <p:nvPr/>
        </p:nvSpPr>
        <p:spPr>
          <a:xfrm>
            <a:off x="2468880" y="1371600"/>
            <a:ext cx="2743200" cy="365760"/>
          </a:xfrm>
          <a:prstGeom prst="rect">
            <a:avLst/>
          </a:prstGeom>
          <a:noFill/>
          <a:ln/>
        </p:spPr>
        <p:txBody>
          <a:bodyPr wrap="square" lIns="0" tIns="0" rIns="0" bIns="0" rtlCol="0" anchor="ctr"/>
          <a:lstStyle/>
          <a:p>
            <a:pPr marL="0" indent="0">
              <a:buNone/>
            </a:pPr>
            <a:r>
              <a:rPr lang="en-US" sz="1000" b="1" kern="0" spc="300" dirty="0">
                <a:solidFill>
                  <a:srgbClr val="69D3A7"/>
                </a:solidFill>
                <a:latin typeface="Calibri" pitchFamily="34" charset="0"/>
                <a:ea typeface="Calibri" pitchFamily="34" charset="-122"/>
                <a:cs typeface="Calibri" pitchFamily="34" charset="-120"/>
              </a:rPr>
              <a:t>WHAT IT VERIFIES</a:t>
            </a:r>
            <a:endParaRPr lang="en-US" sz="1000" dirty="0"/>
          </a:p>
        </p:txBody>
      </p:sp>
      <p:sp>
        <p:nvSpPr>
          <p:cNvPr id="7" name="Text 5"/>
          <p:cNvSpPr/>
          <p:nvPr/>
        </p:nvSpPr>
        <p:spPr>
          <a:xfrm>
            <a:off x="5212080" y="1371600"/>
            <a:ext cx="3474720" cy="365760"/>
          </a:xfrm>
          <a:prstGeom prst="rect">
            <a:avLst/>
          </a:prstGeom>
          <a:noFill/>
          <a:ln/>
        </p:spPr>
        <p:txBody>
          <a:bodyPr wrap="square" lIns="0" tIns="0" rIns="0" bIns="0" rtlCol="0" anchor="ctr"/>
          <a:lstStyle/>
          <a:p>
            <a:pPr marL="0" indent="0">
              <a:buNone/>
            </a:pPr>
            <a:r>
              <a:rPr lang="en-US" sz="1000" b="1" kern="0" spc="300" dirty="0">
                <a:solidFill>
                  <a:srgbClr val="69D3A7"/>
                </a:solidFill>
                <a:latin typeface="Calibri" pitchFamily="34" charset="0"/>
                <a:ea typeface="Calibri" pitchFamily="34" charset="-122"/>
                <a:cs typeface="Calibri" pitchFamily="34" charset="-120"/>
              </a:rPr>
              <a:t>CODE</a:t>
            </a:r>
            <a:endParaRPr lang="en-US" sz="1000" dirty="0"/>
          </a:p>
        </p:txBody>
      </p:sp>
      <p:sp>
        <p:nvSpPr>
          <p:cNvPr id="8" name="Shape 6"/>
          <p:cNvSpPr/>
          <p:nvPr/>
        </p:nvSpPr>
        <p:spPr>
          <a:xfrm>
            <a:off x="457200" y="1737360"/>
            <a:ext cx="8229600" cy="411480"/>
          </a:xfrm>
          <a:prstGeom prst="rect">
            <a:avLst/>
          </a:prstGeom>
          <a:solidFill>
            <a:srgbClr val="F7F9FC"/>
          </a:solidFill>
          <a:ln w="12700">
            <a:solidFill>
              <a:srgbClr val="F7F9FC"/>
            </a:solidFill>
            <a:prstDash val="solid"/>
          </a:ln>
        </p:spPr>
        <p:txBody>
          <a:bodyPr/>
          <a:lstStyle/>
          <a:p>
            <a:endParaRPr lang="en-IN"/>
          </a:p>
        </p:txBody>
      </p:sp>
      <p:sp>
        <p:nvSpPr>
          <p:cNvPr id="9" name="Text 7"/>
          <p:cNvSpPr/>
          <p:nvPr/>
        </p:nvSpPr>
        <p:spPr>
          <a:xfrm>
            <a:off x="594360" y="173736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Status code</a:t>
            </a:r>
            <a:endParaRPr lang="en-US" sz="1100" dirty="0"/>
          </a:p>
        </p:txBody>
      </p:sp>
      <p:sp>
        <p:nvSpPr>
          <p:cNvPr id="10" name="Text 8"/>
          <p:cNvSpPr/>
          <p:nvPr/>
        </p:nvSpPr>
        <p:spPr>
          <a:xfrm>
            <a:off x="2468880" y="173736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Request succeeded</a:t>
            </a:r>
            <a:endParaRPr lang="en-US" sz="1050" dirty="0"/>
          </a:p>
        </p:txBody>
      </p:sp>
      <p:sp>
        <p:nvSpPr>
          <p:cNvPr id="11" name="Text 9"/>
          <p:cNvSpPr/>
          <p:nvPr/>
        </p:nvSpPr>
        <p:spPr>
          <a:xfrm>
            <a:off x="5212080" y="173736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expect(res.status).to.eq(200)</a:t>
            </a:r>
            <a:endParaRPr lang="en-US" sz="900" dirty="0"/>
          </a:p>
        </p:txBody>
      </p:sp>
      <p:sp>
        <p:nvSpPr>
          <p:cNvPr id="12" name="Shape 10"/>
          <p:cNvSpPr/>
          <p:nvPr/>
        </p:nvSpPr>
        <p:spPr>
          <a:xfrm>
            <a:off x="457200" y="2148840"/>
            <a:ext cx="8229600" cy="411480"/>
          </a:xfrm>
          <a:prstGeom prst="rect">
            <a:avLst/>
          </a:prstGeom>
          <a:solidFill>
            <a:srgbClr val="FFFFFF"/>
          </a:solidFill>
          <a:ln w="12700">
            <a:solidFill>
              <a:srgbClr val="FFFFFF"/>
            </a:solidFill>
            <a:prstDash val="solid"/>
          </a:ln>
        </p:spPr>
        <p:txBody>
          <a:bodyPr/>
          <a:lstStyle/>
          <a:p>
            <a:endParaRPr lang="en-IN"/>
          </a:p>
        </p:txBody>
      </p:sp>
      <p:sp>
        <p:nvSpPr>
          <p:cNvPr id="13" name="Text 11"/>
          <p:cNvSpPr/>
          <p:nvPr/>
        </p:nvSpPr>
        <p:spPr>
          <a:xfrm>
            <a:off x="594360" y="214884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Field equals</a:t>
            </a:r>
            <a:endParaRPr lang="en-US" sz="1100" dirty="0"/>
          </a:p>
        </p:txBody>
      </p:sp>
      <p:sp>
        <p:nvSpPr>
          <p:cNvPr id="14" name="Text 12"/>
          <p:cNvSpPr/>
          <p:nvPr/>
        </p:nvSpPr>
        <p:spPr>
          <a:xfrm>
            <a:off x="2468880" y="214884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 property matches expected</a:t>
            </a:r>
            <a:endParaRPr lang="en-US" sz="1050" dirty="0"/>
          </a:p>
        </p:txBody>
      </p:sp>
      <p:sp>
        <p:nvSpPr>
          <p:cNvPr id="15" name="Text 13"/>
          <p:cNvSpPr/>
          <p:nvPr/>
        </p:nvSpPr>
        <p:spPr>
          <a:xfrm>
            <a:off x="5212080" y="214884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expect(res.body.name).to.eq("Priya")</a:t>
            </a:r>
            <a:endParaRPr lang="en-US" sz="900" dirty="0"/>
          </a:p>
        </p:txBody>
      </p:sp>
      <p:sp>
        <p:nvSpPr>
          <p:cNvPr id="16" name="Shape 14"/>
          <p:cNvSpPr/>
          <p:nvPr/>
        </p:nvSpPr>
        <p:spPr>
          <a:xfrm>
            <a:off x="457200" y="2560320"/>
            <a:ext cx="8229600" cy="411480"/>
          </a:xfrm>
          <a:prstGeom prst="rect">
            <a:avLst/>
          </a:prstGeom>
          <a:solidFill>
            <a:srgbClr val="F7F9FC"/>
          </a:solidFill>
          <a:ln w="12700">
            <a:solidFill>
              <a:srgbClr val="F7F9FC"/>
            </a:solidFill>
            <a:prstDash val="solid"/>
          </a:ln>
        </p:spPr>
        <p:txBody>
          <a:bodyPr/>
          <a:lstStyle/>
          <a:p>
            <a:endParaRPr lang="en-IN"/>
          </a:p>
        </p:txBody>
      </p:sp>
      <p:sp>
        <p:nvSpPr>
          <p:cNvPr id="17" name="Text 15"/>
          <p:cNvSpPr/>
          <p:nvPr/>
        </p:nvSpPr>
        <p:spPr>
          <a:xfrm>
            <a:off x="594360" y="256032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Has property</a:t>
            </a:r>
            <a:endParaRPr lang="en-US" sz="1100" dirty="0"/>
          </a:p>
        </p:txBody>
      </p:sp>
      <p:sp>
        <p:nvSpPr>
          <p:cNvPr id="18" name="Text 16"/>
          <p:cNvSpPr/>
          <p:nvPr/>
        </p:nvSpPr>
        <p:spPr>
          <a:xfrm>
            <a:off x="2468880" y="256032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Field exists in the body</a:t>
            </a:r>
            <a:endParaRPr lang="en-US" sz="1050" dirty="0"/>
          </a:p>
        </p:txBody>
      </p:sp>
      <p:sp>
        <p:nvSpPr>
          <p:cNvPr id="19" name="Text 17"/>
          <p:cNvSpPr/>
          <p:nvPr/>
        </p:nvSpPr>
        <p:spPr>
          <a:xfrm>
            <a:off x="5212080" y="256032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expect(res.body).to.have.property("id")</a:t>
            </a:r>
            <a:endParaRPr lang="en-US" sz="900" dirty="0"/>
          </a:p>
        </p:txBody>
      </p:sp>
      <p:sp>
        <p:nvSpPr>
          <p:cNvPr id="20" name="Shape 18"/>
          <p:cNvSpPr/>
          <p:nvPr/>
        </p:nvSpPr>
        <p:spPr>
          <a:xfrm>
            <a:off x="457200" y="2971800"/>
            <a:ext cx="8229600" cy="411480"/>
          </a:xfrm>
          <a:prstGeom prst="rect">
            <a:avLst/>
          </a:prstGeom>
          <a:solidFill>
            <a:srgbClr val="FFFFFF"/>
          </a:solidFill>
          <a:ln w="12700">
            <a:solidFill>
              <a:srgbClr val="FFFFFF"/>
            </a:solidFill>
            <a:prstDash val="solid"/>
          </a:ln>
        </p:spPr>
        <p:txBody>
          <a:bodyPr/>
          <a:lstStyle/>
          <a:p>
            <a:endParaRPr lang="en-IN"/>
          </a:p>
        </p:txBody>
      </p:sp>
      <p:sp>
        <p:nvSpPr>
          <p:cNvPr id="21" name="Text 19"/>
          <p:cNvSpPr/>
          <p:nvPr/>
        </p:nvSpPr>
        <p:spPr>
          <a:xfrm>
            <a:off x="594360" y="297180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Array length</a:t>
            </a:r>
            <a:endParaRPr lang="en-US" sz="1100" dirty="0"/>
          </a:p>
        </p:txBody>
      </p:sp>
      <p:sp>
        <p:nvSpPr>
          <p:cNvPr id="22" name="Text 20"/>
          <p:cNvSpPr/>
          <p:nvPr/>
        </p:nvSpPr>
        <p:spPr>
          <a:xfrm>
            <a:off x="2468880" y="297180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List has expected count</a:t>
            </a:r>
            <a:endParaRPr lang="en-US" sz="1050" dirty="0"/>
          </a:p>
        </p:txBody>
      </p:sp>
      <p:sp>
        <p:nvSpPr>
          <p:cNvPr id="23" name="Text 21"/>
          <p:cNvSpPr/>
          <p:nvPr/>
        </p:nvSpPr>
        <p:spPr>
          <a:xfrm>
            <a:off x="5212080" y="297180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expect(res.body).to.have.length(3)</a:t>
            </a:r>
            <a:endParaRPr lang="en-US" sz="900" dirty="0"/>
          </a:p>
        </p:txBody>
      </p:sp>
      <p:sp>
        <p:nvSpPr>
          <p:cNvPr id="24" name="Shape 22"/>
          <p:cNvSpPr/>
          <p:nvPr/>
        </p:nvSpPr>
        <p:spPr>
          <a:xfrm>
            <a:off x="457200" y="3383280"/>
            <a:ext cx="8229600" cy="411480"/>
          </a:xfrm>
          <a:prstGeom prst="rect">
            <a:avLst/>
          </a:prstGeom>
          <a:solidFill>
            <a:srgbClr val="F7F9FC"/>
          </a:solidFill>
          <a:ln w="12700">
            <a:solidFill>
              <a:srgbClr val="F7F9FC"/>
            </a:solidFill>
            <a:prstDash val="solid"/>
          </a:ln>
        </p:spPr>
        <p:txBody>
          <a:bodyPr/>
          <a:lstStyle/>
          <a:p>
            <a:endParaRPr lang="en-IN"/>
          </a:p>
        </p:txBody>
      </p:sp>
      <p:sp>
        <p:nvSpPr>
          <p:cNvPr id="25" name="Text 23"/>
          <p:cNvSpPr/>
          <p:nvPr/>
        </p:nvSpPr>
        <p:spPr>
          <a:xfrm>
            <a:off x="594360" y="338328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Array contains</a:t>
            </a:r>
            <a:endParaRPr lang="en-US" sz="1100" dirty="0"/>
          </a:p>
        </p:txBody>
      </p:sp>
      <p:sp>
        <p:nvSpPr>
          <p:cNvPr id="26" name="Text 24"/>
          <p:cNvSpPr/>
          <p:nvPr/>
        </p:nvSpPr>
        <p:spPr>
          <a:xfrm>
            <a:off x="2468880" y="338328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Array includes a value</a:t>
            </a:r>
            <a:endParaRPr lang="en-US" sz="1050" dirty="0"/>
          </a:p>
        </p:txBody>
      </p:sp>
      <p:sp>
        <p:nvSpPr>
          <p:cNvPr id="27" name="Text 25"/>
          <p:cNvSpPr/>
          <p:nvPr/>
        </p:nvSpPr>
        <p:spPr>
          <a:xfrm>
            <a:off x="5212080" y="338328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expect(res.body.roles).to.include("admin")</a:t>
            </a:r>
            <a:endParaRPr lang="en-US" sz="900" dirty="0"/>
          </a:p>
        </p:txBody>
      </p:sp>
      <p:sp>
        <p:nvSpPr>
          <p:cNvPr id="28" name="Shape 26"/>
          <p:cNvSpPr/>
          <p:nvPr/>
        </p:nvSpPr>
        <p:spPr>
          <a:xfrm>
            <a:off x="457200" y="3794760"/>
            <a:ext cx="8229600" cy="411480"/>
          </a:xfrm>
          <a:prstGeom prst="rect">
            <a:avLst/>
          </a:prstGeom>
          <a:solidFill>
            <a:srgbClr val="FFFFFF"/>
          </a:solidFill>
          <a:ln w="12700">
            <a:solidFill>
              <a:srgbClr val="FFFFFF"/>
            </a:solidFill>
            <a:prstDash val="solid"/>
          </a:ln>
        </p:spPr>
        <p:txBody>
          <a:bodyPr/>
          <a:lstStyle/>
          <a:p>
            <a:endParaRPr lang="en-IN"/>
          </a:p>
        </p:txBody>
      </p:sp>
      <p:sp>
        <p:nvSpPr>
          <p:cNvPr id="29" name="Text 27"/>
          <p:cNvSpPr/>
          <p:nvPr/>
        </p:nvSpPr>
        <p:spPr>
          <a:xfrm>
            <a:off x="594360" y="379476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Schema (deep)</a:t>
            </a:r>
            <a:endParaRPr lang="en-US" sz="1100" dirty="0"/>
          </a:p>
        </p:txBody>
      </p:sp>
      <p:sp>
        <p:nvSpPr>
          <p:cNvPr id="30" name="Text 28"/>
          <p:cNvSpPr/>
          <p:nvPr/>
        </p:nvSpPr>
        <p:spPr>
          <a:xfrm>
            <a:off x="2468880" y="379476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Object matches a structure</a:t>
            </a:r>
            <a:endParaRPr lang="en-US" sz="1050" dirty="0"/>
          </a:p>
        </p:txBody>
      </p:sp>
      <p:sp>
        <p:nvSpPr>
          <p:cNvPr id="31" name="Text 29"/>
          <p:cNvSpPr/>
          <p:nvPr/>
        </p:nvSpPr>
        <p:spPr>
          <a:xfrm>
            <a:off x="5212080" y="379476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expect(res.body).to.deep.include({...})</a:t>
            </a:r>
            <a:endParaRPr lang="en-US" sz="900" dirty="0"/>
          </a:p>
        </p:txBody>
      </p:sp>
      <p:sp>
        <p:nvSpPr>
          <p:cNvPr id="32" name="Shape 30"/>
          <p:cNvSpPr/>
          <p:nvPr/>
        </p:nvSpPr>
        <p:spPr>
          <a:xfrm>
            <a:off x="457200" y="4206240"/>
            <a:ext cx="8229600" cy="411480"/>
          </a:xfrm>
          <a:prstGeom prst="rect">
            <a:avLst/>
          </a:prstGeom>
          <a:solidFill>
            <a:srgbClr val="F7F9FC"/>
          </a:solidFill>
          <a:ln w="12700">
            <a:solidFill>
              <a:srgbClr val="F7F9FC"/>
            </a:solidFill>
            <a:prstDash val="solid"/>
          </a:ln>
        </p:spPr>
        <p:txBody>
          <a:bodyPr/>
          <a:lstStyle/>
          <a:p>
            <a:endParaRPr lang="en-IN"/>
          </a:p>
        </p:txBody>
      </p:sp>
      <p:sp>
        <p:nvSpPr>
          <p:cNvPr id="33" name="Text 31"/>
          <p:cNvSpPr/>
          <p:nvPr/>
        </p:nvSpPr>
        <p:spPr>
          <a:xfrm>
            <a:off x="594360" y="4206240"/>
            <a:ext cx="1828800" cy="4114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Header</a:t>
            </a:r>
            <a:endParaRPr lang="en-US" sz="1100" dirty="0"/>
          </a:p>
        </p:txBody>
      </p:sp>
      <p:sp>
        <p:nvSpPr>
          <p:cNvPr id="34" name="Text 32"/>
          <p:cNvSpPr/>
          <p:nvPr/>
        </p:nvSpPr>
        <p:spPr>
          <a:xfrm>
            <a:off x="2468880" y="4206240"/>
            <a:ext cx="2743200" cy="41148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Response header is set</a:t>
            </a:r>
            <a:endParaRPr lang="en-US" sz="1050" dirty="0"/>
          </a:p>
        </p:txBody>
      </p:sp>
      <p:sp>
        <p:nvSpPr>
          <p:cNvPr id="35" name="Text 33"/>
          <p:cNvSpPr/>
          <p:nvPr/>
        </p:nvSpPr>
        <p:spPr>
          <a:xfrm>
            <a:off x="5212080" y="4206240"/>
            <a:ext cx="3474720" cy="411480"/>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expect(res.headers["x-rate-limit"]).to.exist</a:t>
            </a:r>
            <a:endParaRPr lang="en-US" sz="900" dirty="0"/>
          </a:p>
        </p:txBody>
      </p:sp>
      <p:sp>
        <p:nvSpPr>
          <p:cNvPr id="36" name="Text 3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37" name="Text 3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Day 10 Concepts in Action</a:t>
            </a:r>
            <a:endParaRPr lang="en-US" sz="2800" dirty="0"/>
          </a:p>
        </p:txBody>
      </p:sp>
      <p:sp>
        <p:nvSpPr>
          <p:cNvPr id="3" name="Text 1"/>
          <p:cNvSpPr/>
          <p:nvPr/>
        </p:nvSpPr>
        <p:spPr>
          <a:xfrm>
            <a:off x="457200" y="1218228"/>
            <a:ext cx="8229600" cy="274320"/>
          </a:xfrm>
          <a:prstGeom prst="rect">
            <a:avLst/>
          </a:prstGeom>
          <a:noFill/>
          <a:ln/>
        </p:spPr>
        <p:txBody>
          <a:bodyPr wrap="square" rtlCol="0" anchor="ctr"/>
          <a:lstStyle/>
          <a:p>
            <a:pPr marL="0" indent="0">
              <a:buNone/>
            </a:pPr>
            <a:r>
              <a:rPr lang="en-US" sz="1200" i="1" dirty="0">
                <a:solidFill>
                  <a:srgbClr val="5B6582"/>
                </a:solidFill>
                <a:latin typeface="Calibri" pitchFamily="34" charset="0"/>
                <a:ea typeface="Calibri" pitchFamily="34" charset="-122"/>
                <a:cs typeface="Calibri" pitchFamily="34" charset="-120"/>
              </a:rPr>
              <a:t>Cheat sheet — every Day 10 pattern and when to reach for it</a:t>
            </a:r>
            <a:endParaRPr lang="en-US" sz="1200" dirty="0"/>
          </a:p>
        </p:txBody>
      </p:sp>
      <p:sp>
        <p:nvSpPr>
          <p:cNvPr id="4" name="Shape 2"/>
          <p:cNvSpPr/>
          <p:nvPr/>
        </p:nvSpPr>
        <p:spPr>
          <a:xfrm>
            <a:off x="457200" y="1538268"/>
            <a:ext cx="8229600" cy="320040"/>
          </a:xfrm>
          <a:prstGeom prst="rect">
            <a:avLst/>
          </a:prstGeom>
          <a:solidFill>
            <a:srgbClr val="1E2761"/>
          </a:solidFill>
          <a:ln w="12700">
            <a:solidFill>
              <a:srgbClr val="1E2761"/>
            </a:solidFill>
            <a:prstDash val="solid"/>
          </a:ln>
        </p:spPr>
        <p:txBody>
          <a:bodyPr/>
          <a:lstStyle/>
          <a:p>
            <a:endParaRPr lang="en-IN"/>
          </a:p>
        </p:txBody>
      </p:sp>
      <p:sp>
        <p:nvSpPr>
          <p:cNvPr id="5" name="Text 3"/>
          <p:cNvSpPr/>
          <p:nvPr/>
        </p:nvSpPr>
        <p:spPr>
          <a:xfrm>
            <a:off x="548640" y="1538268"/>
            <a:ext cx="1645920" cy="320040"/>
          </a:xfrm>
          <a:prstGeom prst="rect">
            <a:avLst/>
          </a:prstGeom>
          <a:noFill/>
          <a:ln/>
        </p:spPr>
        <p:txBody>
          <a:bodyPr wrap="square" lIns="0" tIns="0" rIns="0" bIns="0" rtlCol="0" anchor="ctr"/>
          <a:lstStyle/>
          <a:p>
            <a:pPr marL="0" indent="0">
              <a:buNone/>
            </a:pPr>
            <a:r>
              <a:rPr lang="en-US" sz="1000" b="1" kern="0" spc="300" dirty="0">
                <a:solidFill>
                  <a:srgbClr val="69D3A7"/>
                </a:solidFill>
                <a:latin typeface="Calibri" pitchFamily="34" charset="0"/>
                <a:ea typeface="Calibri" pitchFamily="34" charset="-122"/>
                <a:cs typeface="Calibri" pitchFamily="34" charset="-120"/>
              </a:rPr>
              <a:t>PATTERN</a:t>
            </a:r>
            <a:endParaRPr lang="en-US" sz="1000" dirty="0"/>
          </a:p>
        </p:txBody>
      </p:sp>
      <p:sp>
        <p:nvSpPr>
          <p:cNvPr id="6" name="Text 4"/>
          <p:cNvSpPr/>
          <p:nvPr/>
        </p:nvSpPr>
        <p:spPr>
          <a:xfrm>
            <a:off x="2194560" y="1538268"/>
            <a:ext cx="2926080" cy="320040"/>
          </a:xfrm>
          <a:prstGeom prst="rect">
            <a:avLst/>
          </a:prstGeom>
          <a:noFill/>
          <a:ln/>
        </p:spPr>
        <p:txBody>
          <a:bodyPr wrap="square" lIns="0" tIns="0" rIns="0" bIns="0" rtlCol="0" anchor="ctr"/>
          <a:lstStyle/>
          <a:p>
            <a:pPr marL="0" indent="0">
              <a:buNone/>
            </a:pPr>
            <a:r>
              <a:rPr lang="en-US" sz="1000" b="1" kern="0" spc="300" dirty="0">
                <a:solidFill>
                  <a:srgbClr val="69D3A7"/>
                </a:solidFill>
                <a:latin typeface="Calibri" pitchFamily="34" charset="0"/>
                <a:ea typeface="Calibri" pitchFamily="34" charset="-122"/>
                <a:cs typeface="Calibri" pitchFamily="34" charset="-120"/>
              </a:rPr>
              <a:t>WHEN YOU USE IT</a:t>
            </a:r>
            <a:endParaRPr lang="en-US" sz="1000" dirty="0"/>
          </a:p>
        </p:txBody>
      </p:sp>
      <p:sp>
        <p:nvSpPr>
          <p:cNvPr id="7" name="Text 5"/>
          <p:cNvSpPr/>
          <p:nvPr/>
        </p:nvSpPr>
        <p:spPr>
          <a:xfrm>
            <a:off x="5212080" y="1538268"/>
            <a:ext cx="3474720" cy="320040"/>
          </a:xfrm>
          <a:prstGeom prst="rect">
            <a:avLst/>
          </a:prstGeom>
          <a:noFill/>
          <a:ln/>
        </p:spPr>
        <p:txBody>
          <a:bodyPr wrap="square" lIns="0" tIns="0" rIns="0" bIns="0" rtlCol="0" anchor="ctr"/>
          <a:lstStyle/>
          <a:p>
            <a:pPr marL="0" indent="0">
              <a:buNone/>
            </a:pPr>
            <a:r>
              <a:rPr lang="en-US" sz="1000" b="1" kern="0" spc="300" dirty="0">
                <a:solidFill>
                  <a:srgbClr val="69D3A7"/>
                </a:solidFill>
                <a:latin typeface="Calibri" pitchFamily="34" charset="0"/>
                <a:ea typeface="Calibri" pitchFamily="34" charset="-122"/>
                <a:cs typeface="Calibri" pitchFamily="34" charset="-120"/>
              </a:rPr>
              <a:t>CODE FRAGMENT</a:t>
            </a:r>
            <a:endParaRPr lang="en-US" sz="1000" dirty="0"/>
          </a:p>
        </p:txBody>
      </p:sp>
      <p:sp>
        <p:nvSpPr>
          <p:cNvPr id="8" name="Shape 6"/>
          <p:cNvSpPr/>
          <p:nvPr/>
        </p:nvSpPr>
        <p:spPr>
          <a:xfrm>
            <a:off x="457200" y="1858308"/>
            <a:ext cx="8229600" cy="384048"/>
          </a:xfrm>
          <a:prstGeom prst="rect">
            <a:avLst/>
          </a:prstGeom>
          <a:solidFill>
            <a:srgbClr val="F7F9FC"/>
          </a:solidFill>
          <a:ln w="12700">
            <a:solidFill>
              <a:srgbClr val="F7F9FC"/>
            </a:solidFill>
            <a:prstDash val="solid"/>
          </a:ln>
        </p:spPr>
        <p:txBody>
          <a:bodyPr/>
          <a:lstStyle/>
          <a:p>
            <a:endParaRPr lang="en-IN"/>
          </a:p>
        </p:txBody>
      </p:sp>
      <p:sp>
        <p:nvSpPr>
          <p:cNvPr id="9" name="Text 7"/>
          <p:cNvSpPr/>
          <p:nvPr/>
        </p:nvSpPr>
        <p:spPr>
          <a:xfrm>
            <a:off x="548640" y="1858308"/>
            <a:ext cx="1645920" cy="38404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GET request</a:t>
            </a:r>
            <a:endParaRPr lang="en-US" sz="1100" dirty="0"/>
          </a:p>
        </p:txBody>
      </p:sp>
      <p:sp>
        <p:nvSpPr>
          <p:cNvPr id="10" name="Text 8"/>
          <p:cNvSpPr/>
          <p:nvPr/>
        </p:nvSpPr>
        <p:spPr>
          <a:xfrm>
            <a:off x="2194560" y="1858308"/>
            <a:ext cx="292608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Read data from an endpoint</a:t>
            </a:r>
            <a:endParaRPr lang="en-US" sz="1050" dirty="0"/>
          </a:p>
        </p:txBody>
      </p:sp>
      <p:sp>
        <p:nvSpPr>
          <p:cNvPr id="11" name="Text 9"/>
          <p:cNvSpPr/>
          <p:nvPr/>
        </p:nvSpPr>
        <p:spPr>
          <a:xfrm>
            <a:off x="5212080" y="1858308"/>
            <a:ext cx="3474720" cy="384048"/>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cy.request("GET", "/api/users/1")</a:t>
            </a:r>
            <a:endParaRPr lang="en-US" sz="900" dirty="0"/>
          </a:p>
        </p:txBody>
      </p:sp>
      <p:sp>
        <p:nvSpPr>
          <p:cNvPr id="12" name="Shape 10"/>
          <p:cNvSpPr/>
          <p:nvPr/>
        </p:nvSpPr>
        <p:spPr>
          <a:xfrm>
            <a:off x="457200" y="2242356"/>
            <a:ext cx="8229600" cy="384048"/>
          </a:xfrm>
          <a:prstGeom prst="rect">
            <a:avLst/>
          </a:prstGeom>
          <a:solidFill>
            <a:srgbClr val="FFFFFF"/>
          </a:solidFill>
          <a:ln w="12700">
            <a:solidFill>
              <a:srgbClr val="FFFFFF"/>
            </a:solidFill>
            <a:prstDash val="solid"/>
          </a:ln>
        </p:spPr>
        <p:txBody>
          <a:bodyPr/>
          <a:lstStyle/>
          <a:p>
            <a:endParaRPr lang="en-IN"/>
          </a:p>
        </p:txBody>
      </p:sp>
      <p:sp>
        <p:nvSpPr>
          <p:cNvPr id="13" name="Text 11"/>
          <p:cNvSpPr/>
          <p:nvPr/>
        </p:nvSpPr>
        <p:spPr>
          <a:xfrm>
            <a:off x="548640" y="2242356"/>
            <a:ext cx="1645920" cy="38404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POST request</a:t>
            </a:r>
            <a:endParaRPr lang="en-US" sz="1100" dirty="0"/>
          </a:p>
        </p:txBody>
      </p:sp>
      <p:sp>
        <p:nvSpPr>
          <p:cNvPr id="14" name="Text 12"/>
          <p:cNvSpPr/>
          <p:nvPr/>
        </p:nvSpPr>
        <p:spPr>
          <a:xfrm>
            <a:off x="2194560" y="2242356"/>
            <a:ext cx="292608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Create something via API</a:t>
            </a:r>
            <a:endParaRPr lang="en-US" sz="1050" dirty="0"/>
          </a:p>
        </p:txBody>
      </p:sp>
      <p:sp>
        <p:nvSpPr>
          <p:cNvPr id="15" name="Text 13"/>
          <p:cNvSpPr/>
          <p:nvPr/>
        </p:nvSpPr>
        <p:spPr>
          <a:xfrm>
            <a:off x="5212080" y="2242356"/>
            <a:ext cx="3474720" cy="384048"/>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cy.request("POST", "/api/orders", body)</a:t>
            </a:r>
            <a:endParaRPr lang="en-US" sz="900" dirty="0"/>
          </a:p>
        </p:txBody>
      </p:sp>
      <p:sp>
        <p:nvSpPr>
          <p:cNvPr id="16" name="Shape 14"/>
          <p:cNvSpPr/>
          <p:nvPr/>
        </p:nvSpPr>
        <p:spPr>
          <a:xfrm>
            <a:off x="457200" y="2626404"/>
            <a:ext cx="8229600" cy="384048"/>
          </a:xfrm>
          <a:prstGeom prst="rect">
            <a:avLst/>
          </a:prstGeom>
          <a:solidFill>
            <a:srgbClr val="F7F9FC"/>
          </a:solidFill>
          <a:ln w="12700">
            <a:solidFill>
              <a:srgbClr val="F7F9FC"/>
            </a:solidFill>
            <a:prstDash val="solid"/>
          </a:ln>
        </p:spPr>
        <p:txBody>
          <a:bodyPr/>
          <a:lstStyle/>
          <a:p>
            <a:endParaRPr lang="en-IN"/>
          </a:p>
        </p:txBody>
      </p:sp>
      <p:sp>
        <p:nvSpPr>
          <p:cNvPr id="17" name="Text 15"/>
          <p:cNvSpPr/>
          <p:nvPr/>
        </p:nvSpPr>
        <p:spPr>
          <a:xfrm>
            <a:off x="548640" y="2626404"/>
            <a:ext cx="1645920" cy="38404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Login via API</a:t>
            </a:r>
            <a:endParaRPr lang="en-US" sz="1100" dirty="0"/>
          </a:p>
        </p:txBody>
      </p:sp>
      <p:sp>
        <p:nvSpPr>
          <p:cNvPr id="18" name="Text 16"/>
          <p:cNvSpPr/>
          <p:nvPr/>
        </p:nvSpPr>
        <p:spPr>
          <a:xfrm>
            <a:off x="2194560" y="2626404"/>
            <a:ext cx="292608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Fast setup before UI test</a:t>
            </a:r>
            <a:endParaRPr lang="en-US" sz="1050" dirty="0"/>
          </a:p>
        </p:txBody>
      </p:sp>
      <p:sp>
        <p:nvSpPr>
          <p:cNvPr id="19" name="Text 17"/>
          <p:cNvSpPr/>
          <p:nvPr/>
        </p:nvSpPr>
        <p:spPr>
          <a:xfrm>
            <a:off x="5212080" y="2626404"/>
            <a:ext cx="3474720" cy="384048"/>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cy.request("POST", "/login", creds)</a:t>
            </a:r>
            <a:endParaRPr lang="en-US" sz="900" dirty="0"/>
          </a:p>
        </p:txBody>
      </p:sp>
      <p:sp>
        <p:nvSpPr>
          <p:cNvPr id="20" name="Shape 18"/>
          <p:cNvSpPr/>
          <p:nvPr/>
        </p:nvSpPr>
        <p:spPr>
          <a:xfrm>
            <a:off x="457200" y="3010452"/>
            <a:ext cx="8229600" cy="384048"/>
          </a:xfrm>
          <a:prstGeom prst="rect">
            <a:avLst/>
          </a:prstGeom>
          <a:solidFill>
            <a:srgbClr val="FFFFFF"/>
          </a:solidFill>
          <a:ln w="12700">
            <a:solidFill>
              <a:srgbClr val="FFFFFF"/>
            </a:solidFill>
            <a:prstDash val="solid"/>
          </a:ln>
        </p:spPr>
        <p:txBody>
          <a:bodyPr/>
          <a:lstStyle/>
          <a:p>
            <a:endParaRPr lang="en-IN"/>
          </a:p>
        </p:txBody>
      </p:sp>
      <p:sp>
        <p:nvSpPr>
          <p:cNvPr id="21" name="Text 19"/>
          <p:cNvSpPr/>
          <p:nvPr/>
        </p:nvSpPr>
        <p:spPr>
          <a:xfrm>
            <a:off x="548640" y="3010452"/>
            <a:ext cx="1645920" cy="38404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Watch + assert</a:t>
            </a:r>
            <a:endParaRPr lang="en-US" sz="1100" dirty="0"/>
          </a:p>
        </p:txBody>
      </p:sp>
      <p:sp>
        <p:nvSpPr>
          <p:cNvPr id="22" name="Text 20"/>
          <p:cNvSpPr/>
          <p:nvPr/>
        </p:nvSpPr>
        <p:spPr>
          <a:xfrm>
            <a:off x="2194560" y="3010452"/>
            <a:ext cx="292608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Wait for real call + check response</a:t>
            </a:r>
            <a:endParaRPr lang="en-US" sz="1050" dirty="0"/>
          </a:p>
        </p:txBody>
      </p:sp>
      <p:sp>
        <p:nvSpPr>
          <p:cNvPr id="23" name="Text 21"/>
          <p:cNvSpPr/>
          <p:nvPr/>
        </p:nvSpPr>
        <p:spPr>
          <a:xfrm>
            <a:off x="5212080" y="3010452"/>
            <a:ext cx="3474720" cy="384048"/>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cy.intercept("/api/x").as("x")</a:t>
            </a:r>
            <a:endParaRPr lang="en-US" sz="900" dirty="0"/>
          </a:p>
        </p:txBody>
      </p:sp>
      <p:sp>
        <p:nvSpPr>
          <p:cNvPr id="32" name="Shape 30"/>
          <p:cNvSpPr/>
          <p:nvPr/>
        </p:nvSpPr>
        <p:spPr>
          <a:xfrm>
            <a:off x="457200" y="3455006"/>
            <a:ext cx="8229600" cy="384048"/>
          </a:xfrm>
          <a:prstGeom prst="rect">
            <a:avLst/>
          </a:prstGeom>
          <a:solidFill>
            <a:srgbClr val="F7F9FC"/>
          </a:solidFill>
          <a:ln w="12700">
            <a:solidFill>
              <a:srgbClr val="F7F9FC"/>
            </a:solidFill>
            <a:prstDash val="solid"/>
          </a:ln>
        </p:spPr>
        <p:txBody>
          <a:bodyPr/>
          <a:lstStyle/>
          <a:p>
            <a:endParaRPr lang="en-IN"/>
          </a:p>
        </p:txBody>
      </p:sp>
      <p:sp>
        <p:nvSpPr>
          <p:cNvPr id="33" name="Text 31"/>
          <p:cNvSpPr/>
          <p:nvPr/>
        </p:nvSpPr>
        <p:spPr>
          <a:xfrm>
            <a:off x="548640" y="3455006"/>
            <a:ext cx="1645920" cy="38404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Delay response</a:t>
            </a:r>
            <a:endParaRPr lang="en-US" sz="1100" dirty="0"/>
          </a:p>
        </p:txBody>
      </p:sp>
      <p:sp>
        <p:nvSpPr>
          <p:cNvPr id="34" name="Text 32"/>
          <p:cNvSpPr/>
          <p:nvPr/>
        </p:nvSpPr>
        <p:spPr>
          <a:xfrm>
            <a:off x="2194560" y="3455006"/>
            <a:ext cx="292608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Simulate slow backend</a:t>
            </a:r>
            <a:endParaRPr lang="en-US" sz="1050" dirty="0"/>
          </a:p>
        </p:txBody>
      </p:sp>
      <p:sp>
        <p:nvSpPr>
          <p:cNvPr id="35" name="Text 33"/>
          <p:cNvSpPr/>
          <p:nvPr/>
        </p:nvSpPr>
        <p:spPr>
          <a:xfrm>
            <a:off x="5212080" y="3455006"/>
            <a:ext cx="3474720" cy="384048"/>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cy.intercept(url, { delay: 3000, ... })</a:t>
            </a:r>
            <a:endParaRPr lang="en-US" sz="900" dirty="0"/>
          </a:p>
        </p:txBody>
      </p:sp>
      <p:sp>
        <p:nvSpPr>
          <p:cNvPr id="36" name="Shape 34"/>
          <p:cNvSpPr/>
          <p:nvPr/>
        </p:nvSpPr>
        <p:spPr>
          <a:xfrm>
            <a:off x="457200" y="3839054"/>
            <a:ext cx="8229600" cy="384048"/>
          </a:xfrm>
          <a:prstGeom prst="rect">
            <a:avLst/>
          </a:prstGeom>
          <a:solidFill>
            <a:srgbClr val="FFFFFF"/>
          </a:solidFill>
          <a:ln w="12700">
            <a:solidFill>
              <a:srgbClr val="FFFFFF"/>
            </a:solidFill>
            <a:prstDash val="solid"/>
          </a:ln>
        </p:spPr>
        <p:txBody>
          <a:bodyPr/>
          <a:lstStyle/>
          <a:p>
            <a:endParaRPr lang="en-IN"/>
          </a:p>
        </p:txBody>
      </p:sp>
      <p:sp>
        <p:nvSpPr>
          <p:cNvPr id="37" name="Text 35"/>
          <p:cNvSpPr/>
          <p:nvPr/>
        </p:nvSpPr>
        <p:spPr>
          <a:xfrm>
            <a:off x="548640" y="3839054"/>
            <a:ext cx="1645920" cy="384048"/>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Assert response</a:t>
            </a:r>
            <a:endParaRPr lang="en-US" sz="1100" dirty="0"/>
          </a:p>
        </p:txBody>
      </p:sp>
      <p:sp>
        <p:nvSpPr>
          <p:cNvPr id="38" name="Text 36"/>
          <p:cNvSpPr/>
          <p:nvPr/>
        </p:nvSpPr>
        <p:spPr>
          <a:xfrm>
            <a:off x="2194560" y="3839054"/>
            <a:ext cx="292608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Check status, body, headers</a:t>
            </a:r>
            <a:endParaRPr lang="en-US" sz="1050" dirty="0"/>
          </a:p>
        </p:txBody>
      </p:sp>
      <p:sp>
        <p:nvSpPr>
          <p:cNvPr id="39" name="Text 37"/>
          <p:cNvSpPr/>
          <p:nvPr/>
        </p:nvSpPr>
        <p:spPr>
          <a:xfrm>
            <a:off x="5212080" y="3839054"/>
            <a:ext cx="3474720" cy="384048"/>
          </a:xfrm>
          <a:prstGeom prst="rect">
            <a:avLst/>
          </a:prstGeom>
          <a:noFill/>
          <a:ln/>
        </p:spPr>
        <p:txBody>
          <a:bodyPr wrap="square" lIns="0" tIns="0" rIns="0" bIns="0" rtlCol="0" anchor="ctr"/>
          <a:lstStyle/>
          <a:p>
            <a:pPr marL="0" indent="0">
              <a:buNone/>
            </a:pPr>
            <a:r>
              <a:rPr lang="en-US" sz="900" dirty="0">
                <a:solidFill>
                  <a:srgbClr val="5D4037"/>
                </a:solidFill>
                <a:latin typeface="Consolas" pitchFamily="34" charset="0"/>
                <a:ea typeface="Consolas" pitchFamily="34" charset="-122"/>
                <a:cs typeface="Consolas" pitchFamily="34" charset="-120"/>
              </a:rPr>
              <a:t>.then(res =&gt; expect(res.status).to.eq(200))</a:t>
            </a:r>
            <a:endParaRPr lang="en-US" sz="900" dirty="0"/>
          </a:p>
        </p:txBody>
      </p:sp>
      <p:sp>
        <p:nvSpPr>
          <p:cNvPr id="40" name="Text 38"/>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Network &amp; API Testing</a:t>
            </a:r>
            <a:endParaRPr lang="en-US" sz="900" dirty="0"/>
          </a:p>
        </p:txBody>
      </p:sp>
      <p:sp>
        <p:nvSpPr>
          <p:cNvPr id="41" name="Text 39"/>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69D3A7"/>
          </a:solidFill>
          <a:ln w="12700">
            <a:solidFill>
              <a:srgbClr val="69D3A7"/>
            </a:solidFill>
            <a:prstDash val="solid"/>
          </a:ln>
        </p:spPr>
        <p:txBody>
          <a:bodyPr/>
          <a:lstStyle/>
          <a:p>
            <a:endParaRPr lang="en-IN"/>
          </a:p>
        </p:txBody>
      </p:sp>
      <p:sp>
        <p:nvSpPr>
          <p:cNvPr id="3" name="Text 1"/>
          <p:cNvSpPr/>
          <p:nvPr/>
        </p:nvSpPr>
        <p:spPr>
          <a:xfrm>
            <a:off x="731520" y="2148840"/>
            <a:ext cx="8229600" cy="365760"/>
          </a:xfrm>
          <a:prstGeom prst="rect">
            <a:avLst/>
          </a:prstGeom>
          <a:noFill/>
          <a:ln/>
        </p:spPr>
        <p:txBody>
          <a:bodyPr wrap="square" rtlCol="0" anchor="ctr"/>
          <a:lstStyle/>
          <a:p>
            <a:pPr marL="0" indent="0">
              <a:buNone/>
            </a:pPr>
            <a:r>
              <a:rPr lang="en-US" sz="1400" b="1" kern="0" spc="800" dirty="0">
                <a:solidFill>
                  <a:srgbClr val="69D3A7"/>
                </a:solidFill>
                <a:latin typeface="Calibri" pitchFamily="34" charset="0"/>
                <a:ea typeface="Calibri" pitchFamily="34" charset="-122"/>
                <a:cs typeface="Calibri" pitchFamily="34" charset="-120"/>
              </a:rPr>
              <a:t>QUICK CHECK</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3 Questions — Network &amp; API Testing</a:t>
            </a:r>
            <a:endParaRPr lang="en-US" sz="2800" dirty="0"/>
          </a:p>
        </p:txBody>
      </p:sp>
      <p:sp>
        <p:nvSpPr>
          <p:cNvPr id="5" name="Text 3"/>
          <p:cNvSpPr/>
          <p:nvPr/>
        </p:nvSpPr>
        <p:spPr>
          <a:xfrm>
            <a:off x="731520" y="3429000"/>
            <a:ext cx="8229600" cy="365760"/>
          </a:xfrm>
          <a:prstGeom prst="rect">
            <a:avLst/>
          </a:prstGeom>
          <a:noFill/>
          <a:ln/>
        </p:spPr>
        <p:txBody>
          <a:bodyPr wrap="square" lIns="0" tIns="0" rIns="0" bIns="0" rtlCol="0" anchor="ctr"/>
          <a:lstStyle/>
          <a:p>
            <a:pPr marL="0" indent="0">
              <a:buNone/>
            </a:pPr>
            <a:r>
              <a:rPr lang="en-US" sz="1600" i="1" dirty="0">
                <a:solidFill>
                  <a:srgbClr val="CADCFC"/>
                </a:solidFill>
                <a:latin typeface="Georgia" pitchFamily="34" charset="0"/>
                <a:ea typeface="Georgia" pitchFamily="34" charset="-122"/>
                <a:cs typeface="Georgia" pitchFamily="34" charset="-120"/>
              </a:rPr>
              <a:t>Shout out your answers — click to reveal.</a:t>
            </a:r>
            <a:endParaRPr lang="en-US" sz="1600" dirty="0"/>
          </a:p>
        </p:txBody>
      </p:sp>
      <p:sp>
        <p:nvSpPr>
          <p:cNvPr id="6" name="Text 4"/>
          <p:cNvSpPr/>
          <p:nvPr/>
        </p:nvSpPr>
        <p:spPr>
          <a:xfrm>
            <a:off x="731520" y="3931920"/>
            <a:ext cx="8229600" cy="320040"/>
          </a:xfrm>
          <a:prstGeom prst="rect">
            <a:avLst/>
          </a:prstGeom>
          <a:noFill/>
          <a:ln/>
        </p:spPr>
        <p:txBody>
          <a:bodyPr wrap="square" lIns="0" tIns="0" rIns="0" bIns="0" rtlCol="0" anchor="ctr"/>
          <a:lstStyle/>
          <a:p>
            <a:pPr marL="0" indent="0">
              <a:buNone/>
            </a:pPr>
            <a:r>
              <a:rPr lang="en-US" sz="1100" kern="0" spc="300" dirty="0">
                <a:solidFill>
                  <a:srgbClr val="69D3A7"/>
                </a:solidFill>
                <a:latin typeface="Calibri" pitchFamily="34" charset="0"/>
                <a:ea typeface="Calibri" pitchFamily="34" charset="-122"/>
                <a:cs typeface="Calibri" pitchFamily="34" charset="-120"/>
              </a:rPr>
              <a:t>Three more questions after Part 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1E2761"/>
                </a:solidFill>
                <a:latin typeface="Calibri" pitchFamily="34" charset="0"/>
                <a:ea typeface="Calibri" pitchFamily="34" charset="-122"/>
                <a:cs typeface="Calibri" pitchFamily="34" charset="-120"/>
              </a:rPr>
              <a:t>QUESTION 1</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1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What's the key difference between cy.request and cy.intercept?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cy.request is faster, cy.intercept is older</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cy.request makes a real HTTP call from the test; cy.intercept watches the browser's network</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cy.intercept is only for mocking, cy.request is only for assertions</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0" name="Text 18"/>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They're aliases — same thing</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ANSWER 1</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1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What's the key difference between cy.request and cy.intercept?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cy.request is faster, cy.intercept is older</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cy.request makes a real HTTP call from the test; cy.intercept watches the browser's network</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marL="0" indent="0" algn="ctr">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7" name="Text 15"/>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cy.intercept is only for mocking, cy.request is only for assertions</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1" name="Text 19"/>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They're aliases — same thing</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txBody>
          <a:bodyPr/>
          <a:lstStyle/>
          <a:p>
            <a:endParaRPr lang="en-IN"/>
          </a:p>
        </p:txBody>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txBody>
          <a:bodyPr/>
          <a:lstStyle/>
          <a:p>
            <a:endParaRPr lang="en-IN"/>
          </a:p>
        </p:txBody>
      </p:sp>
      <p:sp>
        <p:nvSpPr>
          <p:cNvPr id="25" name="Text 23"/>
          <p:cNvSpPr/>
          <p:nvPr/>
        </p:nvSpPr>
        <p:spPr>
          <a:xfrm>
            <a:off x="685800" y="4114800"/>
            <a:ext cx="7863840" cy="640080"/>
          </a:xfrm>
          <a:prstGeom prst="rect">
            <a:avLst/>
          </a:prstGeom>
          <a:noFill/>
          <a:ln/>
        </p:spPr>
        <p:txBody>
          <a:bodyPr wrap="square" lIns="0" tIns="0" rIns="0" bIns="0" rtlCol="0" anchor="ctr"/>
          <a:lstStyle/>
          <a:p>
            <a:pPr marL="0" indent="0">
              <a:buNone/>
            </a:pPr>
            <a:r>
              <a:rPr lang="en-US" sz="1100" b="1" dirty="0">
                <a:solidFill>
                  <a:srgbClr val="F5B700"/>
                </a:solidFill>
                <a:latin typeface="Calibri" pitchFamily="34" charset="0"/>
                <a:ea typeface="Calibri" pitchFamily="34" charset="-122"/>
                <a:cs typeface="Calibri" pitchFamily="34" charset="-120"/>
              </a:rPr>
              <a:t>Why: </a:t>
            </a:r>
            <a:r>
              <a:rPr lang="en-US" sz="1100" dirty="0">
                <a:solidFill>
                  <a:srgbClr val="1A1A2E"/>
                </a:solidFill>
                <a:latin typeface="Calibri" pitchFamily="34" charset="0"/>
                <a:ea typeface="Calibri" pitchFamily="34" charset="-122"/>
                <a:cs typeface="Calibri" pitchFamily="34" charset="-120"/>
              </a:rPr>
              <a:t>cy.request bypasses the browser entirely (like Postman). cy.intercept sits between the app and the API, watching or modifying what the browser sends. Two tools, two different jobs.</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1E2761"/>
                </a:solidFill>
                <a:latin typeface="Calibri" pitchFamily="34" charset="0"/>
                <a:ea typeface="Calibri" pitchFamily="34" charset="-122"/>
                <a:cs typeface="Calibri" pitchFamily="34" charset="-120"/>
              </a:rPr>
              <a:t>QUESTION 2</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2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How do you stub an API to return a 500 error so you can test how the UI handles it?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cy.intercept(url, { statusCode: 500, body: { error: "..." } })</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cy.fail(url, 500)</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cy.request("FAIL", url)</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0" name="Text 18"/>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cy.intercept(url).reject(500)</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ANSWER 2</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2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How do you stub an API to return a 500 error so you can test how the UI handles it?</a:t>
            </a:r>
            <a:endParaRPr lang="en-US" sz="2200" dirty="0"/>
          </a:p>
        </p:txBody>
      </p:sp>
      <p:sp>
        <p:nvSpPr>
          <p:cNvPr id="6" name="Shape 4"/>
          <p:cNvSpPr/>
          <p:nvPr/>
        </p:nvSpPr>
        <p:spPr>
          <a:xfrm>
            <a:off x="457200" y="2103120"/>
            <a:ext cx="4023360" cy="685800"/>
          </a:xfrm>
          <a:prstGeom prst="rect">
            <a:avLst/>
          </a:prstGeom>
          <a:solidFill>
            <a:srgbClr val="E8F5E9"/>
          </a:solidFill>
          <a:ln w="25400">
            <a:solidFill>
              <a:srgbClr val="2E7D32"/>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2E7D32"/>
          </a:solidFill>
          <a:ln w="12700">
            <a:solidFill>
              <a:srgbClr val="2E7D32"/>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cy.intercept(url, { statusCode: 500, body: { error: "..." } })</a:t>
            </a:r>
            <a:endParaRPr lang="en-US" sz="1300" dirty="0"/>
          </a:p>
        </p:txBody>
      </p:sp>
      <p:sp>
        <p:nvSpPr>
          <p:cNvPr id="10" name="Text 8"/>
          <p:cNvSpPr/>
          <p:nvPr/>
        </p:nvSpPr>
        <p:spPr>
          <a:xfrm>
            <a:off x="4114800" y="2103120"/>
            <a:ext cx="320040" cy="685800"/>
          </a:xfrm>
          <a:prstGeom prst="rect">
            <a:avLst/>
          </a:prstGeom>
          <a:noFill/>
          <a:ln/>
        </p:spPr>
        <p:txBody>
          <a:bodyPr wrap="square" lIns="0" tIns="0" rIns="0" bIns="0" rtlCol="0" anchor="ctr"/>
          <a:lstStyle/>
          <a:p>
            <a:pPr marL="0" indent="0" algn="ctr">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2" name="Shape 10"/>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3" name="Text 11"/>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cy.fail(url, 500)</a:t>
            </a:r>
            <a:endParaRPr lang="en-US" sz="13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7" name="Text 15"/>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cy.request("FAIL", url)</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1" name="Text 19"/>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cy.intercept(url).reject(500)</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txBody>
          <a:bodyPr/>
          <a:lstStyle/>
          <a:p>
            <a:endParaRPr lang="en-IN"/>
          </a:p>
        </p:txBody>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txBody>
          <a:bodyPr/>
          <a:lstStyle/>
          <a:p>
            <a:endParaRPr lang="en-IN"/>
          </a:p>
        </p:txBody>
      </p:sp>
      <p:sp>
        <p:nvSpPr>
          <p:cNvPr id="25" name="Text 23"/>
          <p:cNvSpPr/>
          <p:nvPr/>
        </p:nvSpPr>
        <p:spPr>
          <a:xfrm>
            <a:off x="685800" y="4114800"/>
            <a:ext cx="7863840" cy="640080"/>
          </a:xfrm>
          <a:prstGeom prst="rect">
            <a:avLst/>
          </a:prstGeom>
          <a:noFill/>
          <a:ln/>
        </p:spPr>
        <p:txBody>
          <a:bodyPr wrap="square" lIns="0" tIns="0" rIns="0" bIns="0" rtlCol="0" anchor="ctr"/>
          <a:lstStyle/>
          <a:p>
            <a:pPr marL="0" indent="0">
              <a:buNone/>
            </a:pPr>
            <a:r>
              <a:rPr lang="en-US" sz="1100" b="1" dirty="0">
                <a:solidFill>
                  <a:srgbClr val="F5B700"/>
                </a:solidFill>
                <a:latin typeface="Calibri" pitchFamily="34" charset="0"/>
                <a:ea typeface="Calibri" pitchFamily="34" charset="-122"/>
                <a:cs typeface="Calibri" pitchFamily="34" charset="-120"/>
              </a:rPr>
              <a:t>Why: </a:t>
            </a:r>
            <a:r>
              <a:rPr lang="en-US" sz="1100" dirty="0">
                <a:solidFill>
                  <a:srgbClr val="1A1A2E"/>
                </a:solidFill>
                <a:latin typeface="Calibri" pitchFamily="34" charset="0"/>
                <a:ea typeface="Calibri" pitchFamily="34" charset="-122"/>
                <a:cs typeface="Calibri" pitchFamily="34" charset="-120"/>
              </a:rPr>
              <a:t>Pass a response object with statusCode to cy.intercept. Add a body to mimic the real error payload. Now your test can assert that the UI shows an error message instead of crashing.</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1E2761"/>
                </a:solidFill>
                <a:latin typeface="Calibri" pitchFamily="34" charset="0"/>
                <a:ea typeface="Calibri" pitchFamily="34" charset="-122"/>
                <a:cs typeface="Calibri" pitchFamily="34" charset="-120"/>
              </a:rPr>
              <a:t>QUESTION 3</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3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Why would you use cy.request to log in BEFORE a UI test?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Cypress requires it</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API login is way faster than clicking the login form — saves seconds on every test</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It's the only way to log in</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0" name="Text 18"/>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To test the API login form</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ANSWER 3</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3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Why would you use cy.request to log in BEFORE a UI test?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Cypress requires it</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API login is way faster than clicking the login form — saves seconds on every test</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marL="0" indent="0" algn="ctr">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7" name="Text 15"/>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It's the only way to log in</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1" name="Text 19"/>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To test the API login form</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txBody>
          <a:bodyPr/>
          <a:lstStyle/>
          <a:p>
            <a:endParaRPr lang="en-IN"/>
          </a:p>
        </p:txBody>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txBody>
          <a:bodyPr/>
          <a:lstStyle/>
          <a:p>
            <a:endParaRPr lang="en-IN"/>
          </a:p>
        </p:txBody>
      </p:sp>
      <p:sp>
        <p:nvSpPr>
          <p:cNvPr id="25" name="Text 23"/>
          <p:cNvSpPr/>
          <p:nvPr/>
        </p:nvSpPr>
        <p:spPr>
          <a:xfrm>
            <a:off x="685800" y="4114800"/>
            <a:ext cx="7863840" cy="640080"/>
          </a:xfrm>
          <a:prstGeom prst="rect">
            <a:avLst/>
          </a:prstGeom>
          <a:noFill/>
          <a:ln/>
        </p:spPr>
        <p:txBody>
          <a:bodyPr wrap="square" lIns="0" tIns="0" rIns="0" bIns="0" rtlCol="0" anchor="ctr"/>
          <a:lstStyle/>
          <a:p>
            <a:pPr marL="0" indent="0">
              <a:buNone/>
            </a:pPr>
            <a:r>
              <a:rPr lang="en-US" sz="1100" b="1" dirty="0">
                <a:solidFill>
                  <a:srgbClr val="F5B700"/>
                </a:solidFill>
                <a:latin typeface="Calibri" pitchFamily="34" charset="0"/>
                <a:ea typeface="Calibri" pitchFamily="34" charset="-122"/>
                <a:cs typeface="Calibri" pitchFamily="34" charset="-120"/>
              </a:rPr>
              <a:t>Why: </a:t>
            </a:r>
            <a:r>
              <a:rPr lang="en-US" sz="1100" dirty="0">
                <a:solidFill>
                  <a:srgbClr val="1A1A2E"/>
                </a:solidFill>
                <a:latin typeface="Calibri" pitchFamily="34" charset="0"/>
                <a:ea typeface="Calibri" pitchFamily="34" charset="-122"/>
                <a:cs typeface="Calibri" pitchFamily="34" charset="-120"/>
              </a:rPr>
              <a:t>Logging in via API takes ~50ms. Logging in by typing email + password + clicking Sign in takes 2-3 seconds per test. Multiply by 100 tests = saving 4-5 minutes per run. The UI part of each test only tests what's unique to that test.</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1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7C4DFF"/>
          </a:solidFill>
          <a:ln w="12700">
            <a:solidFill>
              <a:srgbClr val="7C4DFF"/>
            </a:solidFill>
            <a:prstDash val="solid"/>
          </a:ln>
        </p:spPr>
        <p:txBody>
          <a:bodyPr/>
          <a:lstStyle/>
          <a:p>
            <a:endParaRPr lang="en-IN"/>
          </a:p>
        </p:txBody>
      </p:sp>
      <p:sp>
        <p:nvSpPr>
          <p:cNvPr id="3" name="Text 1"/>
          <p:cNvSpPr/>
          <p:nvPr/>
        </p:nvSpPr>
        <p:spPr>
          <a:xfrm>
            <a:off x="731520" y="2148840"/>
            <a:ext cx="8229600" cy="365760"/>
          </a:xfrm>
          <a:prstGeom prst="rect">
            <a:avLst/>
          </a:prstGeom>
          <a:noFill/>
          <a:ln/>
        </p:spPr>
        <p:txBody>
          <a:bodyPr wrap="square" rtlCol="0" anchor="ctr"/>
          <a:lstStyle/>
          <a:p>
            <a:pPr marL="0" indent="0">
              <a:buNone/>
            </a:pPr>
            <a:r>
              <a:rPr lang="en-US" sz="1400" b="1" kern="0" spc="800" dirty="0">
                <a:solidFill>
                  <a:srgbClr val="7C4DFF"/>
                </a:solidFill>
                <a:latin typeface="Calibri" pitchFamily="34" charset="0"/>
                <a:ea typeface="Calibri" pitchFamily="34" charset="-122"/>
                <a:cs typeface="Calibri" pitchFamily="34" charset="-120"/>
              </a:rPr>
              <a:t>PART 2</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Copilot for API Testing</a:t>
            </a:r>
            <a:endParaRPr lang="en-US" sz="3800" dirty="0"/>
          </a:p>
        </p:txBody>
      </p:sp>
      <p:sp>
        <p:nvSpPr>
          <p:cNvPr id="5" name="Text 3"/>
          <p:cNvSpPr/>
          <p:nvPr/>
        </p:nvSpPr>
        <p:spPr>
          <a:xfrm>
            <a:off x="731520" y="3337560"/>
            <a:ext cx="8229600" cy="502920"/>
          </a:xfrm>
          <a:prstGeom prst="rect">
            <a:avLst/>
          </a:prstGeom>
          <a:noFill/>
          <a:ln/>
        </p:spPr>
        <p:txBody>
          <a:bodyPr wrap="square" lIns="0" tIns="0" rIns="0" bIns="0" rtlCol="0" anchor="ctr"/>
          <a:lstStyle/>
          <a:p>
            <a:pPr marL="0" indent="0">
              <a:buNone/>
            </a:pPr>
            <a:r>
              <a:rPr lang="en-US" sz="1300" i="1" dirty="0">
                <a:solidFill>
                  <a:srgbClr val="CADCFC"/>
                </a:solidFill>
                <a:latin typeface="Georgia" pitchFamily="34" charset="0"/>
                <a:ea typeface="Georgia" pitchFamily="34" charset="-122"/>
                <a:cs typeface="Georgia" pitchFamily="34" charset="-120"/>
              </a:rPr>
              <a:t>Paste an endpoint spec → get the full test. Paste a slow UI test → get a fast API-driven one.</a:t>
            </a:r>
            <a:endParaRPr lang="en-US" sz="1300" dirty="0"/>
          </a:p>
        </p:txBody>
      </p:sp>
      <p:sp>
        <p:nvSpPr>
          <p:cNvPr id="6" name="Text 4"/>
          <p:cNvSpPr/>
          <p:nvPr/>
        </p:nvSpPr>
        <p:spPr>
          <a:xfrm>
            <a:off x="731520" y="4023360"/>
            <a:ext cx="8229600" cy="320040"/>
          </a:xfrm>
          <a:prstGeom prst="rect">
            <a:avLst/>
          </a:prstGeom>
          <a:noFill/>
          <a:ln/>
        </p:spPr>
        <p:txBody>
          <a:bodyPr wrap="square" lIns="0" tIns="0" rIns="0" bIns="0" rtlCol="0" anchor="ctr"/>
          <a:lstStyle/>
          <a:p>
            <a:pPr marL="0" indent="0">
              <a:buNone/>
            </a:pPr>
            <a:r>
              <a:rPr lang="en-US" sz="1200" kern="0" spc="400" dirty="0">
                <a:solidFill>
                  <a:srgbClr val="7C4DFF"/>
                </a:solidFill>
                <a:latin typeface="Calibri" pitchFamily="34" charset="0"/>
                <a:ea typeface="Calibri" pitchFamily="34" charset="-122"/>
                <a:cs typeface="Calibri" pitchFamily="34" charset="-120"/>
              </a:rPr>
              <a:t>⏱  30 minutes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Live: Generate API Test from a Spec</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Describe the endpoint — Copilot writes the cy.request call AND the assertions</a:t>
            </a:r>
            <a:endParaRPr lang="en-US" sz="1300" dirty="0"/>
          </a:p>
        </p:txBody>
      </p:sp>
      <p:sp>
        <p:nvSpPr>
          <p:cNvPr id="4" name="Text 2"/>
          <p:cNvSpPr/>
          <p:nvPr/>
        </p:nvSpPr>
        <p:spPr>
          <a:xfrm>
            <a:off x="457200" y="1188720"/>
            <a:ext cx="4023360" cy="274320"/>
          </a:xfrm>
          <a:prstGeom prst="rect">
            <a:avLst/>
          </a:prstGeom>
          <a:noFill/>
          <a:ln/>
        </p:spPr>
        <p:txBody>
          <a:bodyPr wrap="square" lIns="0" tIns="0" rIns="0" bIns="0" rtlCol="0" anchor="ctr"/>
          <a:lstStyle/>
          <a:p>
            <a:pPr marL="0" indent="0">
              <a:buNone/>
            </a:pPr>
            <a:r>
              <a:rPr lang="en-US" sz="1100" b="1" kern="0" spc="200" dirty="0">
                <a:solidFill>
                  <a:srgbClr val="7C4DFF"/>
                </a:solidFill>
                <a:latin typeface="Calibri" pitchFamily="34" charset="0"/>
                <a:ea typeface="Calibri" pitchFamily="34" charset="-122"/>
                <a:cs typeface="Calibri" pitchFamily="34" charset="-120"/>
              </a:rPr>
              <a:t>Your prompt</a:t>
            </a:r>
            <a:endParaRPr lang="en-US" sz="1100" dirty="0"/>
          </a:p>
        </p:txBody>
      </p:sp>
      <p:sp>
        <p:nvSpPr>
          <p:cNvPr id="5" name="Shape 3"/>
          <p:cNvSpPr/>
          <p:nvPr/>
        </p:nvSpPr>
        <p:spPr>
          <a:xfrm>
            <a:off x="457200" y="1508760"/>
            <a:ext cx="4023360" cy="3108960"/>
          </a:xfrm>
          <a:prstGeom prst="rect">
            <a:avLst/>
          </a:prstGeom>
          <a:solidFill>
            <a:srgbClr val="0F1A3A"/>
          </a:solidFill>
          <a:ln w="12700">
            <a:solidFill>
              <a:srgbClr val="0F1A3A"/>
            </a:solidFill>
            <a:prstDash val="solid"/>
          </a:ln>
        </p:spPr>
        <p:txBody>
          <a:bodyPr/>
          <a:lstStyle/>
          <a:p>
            <a:endParaRPr lang="en-IN"/>
          </a:p>
        </p:txBody>
      </p:sp>
      <p:sp>
        <p:nvSpPr>
          <p:cNvPr id="6" name="Text 4"/>
          <p:cNvSpPr/>
          <p:nvPr/>
        </p:nvSpPr>
        <p:spPr>
          <a:xfrm>
            <a:off x="640080" y="1600200"/>
            <a:ext cx="3749040" cy="3017520"/>
          </a:xfrm>
          <a:prstGeom prst="rect">
            <a:avLst/>
          </a:prstGeom>
          <a:noFill/>
          <a:ln/>
        </p:spPr>
        <p:txBody>
          <a:bodyPr wrap="square" lIns="0" tIns="0" rIns="0" bIns="0" rtlCol="0" anchor="t"/>
          <a:lstStyle/>
          <a:p>
            <a:pPr marL="0" indent="0">
              <a:spcAft>
                <a:spcPts val="100"/>
              </a:spcAft>
              <a:buNone/>
            </a:pPr>
            <a:r>
              <a:rPr lang="en-US" sz="1050" dirty="0">
                <a:solidFill>
                  <a:srgbClr val="B8A8F0"/>
                </a:solidFill>
                <a:latin typeface="Consolas" pitchFamily="34" charset="0"/>
                <a:ea typeface="Consolas" pitchFamily="34" charset="-122"/>
                <a:cs typeface="Consolas" pitchFamily="34" charset="-120"/>
              </a:rPr>
              <a:t>&gt; Cypress test for the</a:t>
            </a:r>
            <a:endParaRPr lang="en-US" sz="1050" dirty="0"/>
          </a:p>
          <a:p>
            <a:pPr marL="0" indent="0">
              <a:spcAft>
                <a:spcPts val="100"/>
              </a:spcAft>
              <a:buNone/>
            </a:pPr>
            <a:r>
              <a:rPr lang="en-US" sz="1050" dirty="0">
                <a:solidFill>
                  <a:srgbClr val="B8A8F0"/>
                </a:solidFill>
                <a:latin typeface="Consolas" pitchFamily="34" charset="0"/>
                <a:ea typeface="Consolas" pitchFamily="34" charset="-122"/>
                <a:cs typeface="Consolas" pitchFamily="34" charset="-120"/>
              </a:rPr>
              <a:t>  Create Order API:</a:t>
            </a:r>
            <a:endParaRPr lang="en-US" sz="1050" dirty="0"/>
          </a:p>
          <a:p>
            <a:pPr marL="0" indent="0">
              <a:spcAft>
                <a:spcPts val="100"/>
              </a:spcAft>
              <a:buNone/>
            </a:pPr>
            <a:r>
              <a:rPr lang="en-US" sz="1050" dirty="0">
                <a:solidFill>
                  <a:srgbClr val="000000"/>
                </a:solidFill>
              </a:rPr>
              <a:t> </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POST /api/orders</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auth: Bearer abc123</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body: { product, qty }</a:t>
            </a:r>
            <a:endParaRPr lang="en-US" sz="1050" dirty="0"/>
          </a:p>
          <a:p>
            <a:pPr marL="0" indent="0">
              <a:spcAft>
                <a:spcPts val="100"/>
              </a:spcAft>
              <a:buNone/>
            </a:pPr>
            <a:r>
              <a:rPr lang="en-US" sz="1050" dirty="0">
                <a:solidFill>
                  <a:srgbClr val="000000"/>
                </a:solidFill>
              </a:rPr>
              <a:t> </a:t>
            </a:r>
            <a:endParaRPr lang="en-US" sz="1050" dirty="0"/>
          </a:p>
          <a:p>
            <a:pPr marL="0" indent="0">
              <a:spcAft>
                <a:spcPts val="100"/>
              </a:spcAft>
              <a:buNone/>
            </a:pPr>
            <a:r>
              <a:rPr lang="en-US" sz="1050" dirty="0">
                <a:solidFill>
                  <a:srgbClr val="B8A8F0"/>
                </a:solidFill>
                <a:latin typeface="Consolas" pitchFamily="34" charset="0"/>
                <a:ea typeface="Consolas" pitchFamily="34" charset="-122"/>
                <a:cs typeface="Consolas" pitchFamily="34" charset="-120"/>
              </a:rPr>
              <a:t>assert:</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 - status 201</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 - body has id (number)</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 - body.product = "book"</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 - body.qty = 2</a:t>
            </a:r>
            <a:endParaRPr lang="en-US" sz="1050" dirty="0"/>
          </a:p>
          <a:p>
            <a:pPr marL="0" indent="0">
              <a:spcAft>
                <a:spcPts val="100"/>
              </a:spcAft>
              <a:buNone/>
            </a:pPr>
            <a:r>
              <a:rPr lang="en-US" sz="1050" dirty="0">
                <a:solidFill>
                  <a:srgbClr val="E2E8F0"/>
                </a:solidFill>
                <a:latin typeface="Consolas" pitchFamily="34" charset="0"/>
                <a:ea typeface="Consolas" pitchFamily="34" charset="-122"/>
                <a:cs typeface="Consolas" pitchFamily="34" charset="-120"/>
              </a:rPr>
              <a:t> - content-type json</a:t>
            </a:r>
            <a:endParaRPr lang="en-US" sz="1050" dirty="0"/>
          </a:p>
        </p:txBody>
      </p:sp>
      <p:sp>
        <p:nvSpPr>
          <p:cNvPr id="7" name="Text 5"/>
          <p:cNvSpPr/>
          <p:nvPr/>
        </p:nvSpPr>
        <p:spPr>
          <a:xfrm>
            <a:off x="4663440" y="1188720"/>
            <a:ext cx="4023360" cy="274320"/>
          </a:xfrm>
          <a:prstGeom prst="rect">
            <a:avLst/>
          </a:prstGeom>
          <a:noFill/>
          <a:ln/>
        </p:spPr>
        <p:txBody>
          <a:bodyPr wrap="square" lIns="0" tIns="0" rIns="0" bIns="0" rtlCol="0" anchor="ctr"/>
          <a:lstStyle/>
          <a:p>
            <a:pPr marL="0" indent="0">
              <a:buNone/>
            </a:pPr>
            <a:r>
              <a:rPr lang="en-US" sz="1100" b="1" kern="0" spc="200" dirty="0">
                <a:solidFill>
                  <a:srgbClr val="7C4DFF"/>
                </a:solidFill>
                <a:latin typeface="Calibri" pitchFamily="34" charset="0"/>
                <a:ea typeface="Calibri" pitchFamily="34" charset="-122"/>
                <a:cs typeface="Calibri" pitchFamily="34" charset="-120"/>
              </a:rPr>
              <a:t>Copilot writes orders.cy.js</a:t>
            </a:r>
            <a:endParaRPr lang="en-US" sz="1100" dirty="0"/>
          </a:p>
        </p:txBody>
      </p:sp>
      <p:sp>
        <p:nvSpPr>
          <p:cNvPr id="8" name="Shape 6"/>
          <p:cNvSpPr/>
          <p:nvPr/>
        </p:nvSpPr>
        <p:spPr>
          <a:xfrm>
            <a:off x="4663440" y="1508760"/>
            <a:ext cx="4023360" cy="3108960"/>
          </a:xfrm>
          <a:prstGeom prst="rect">
            <a:avLst/>
          </a:prstGeom>
          <a:solidFill>
            <a:srgbClr val="0F1A3A"/>
          </a:solidFill>
          <a:ln w="12700">
            <a:solidFill>
              <a:srgbClr val="0F1A3A"/>
            </a:solidFill>
            <a:prstDash val="solid"/>
          </a:ln>
        </p:spPr>
        <p:txBody>
          <a:bodyPr/>
          <a:lstStyle/>
          <a:p>
            <a:endParaRPr lang="en-IN"/>
          </a:p>
        </p:txBody>
      </p:sp>
      <p:sp>
        <p:nvSpPr>
          <p:cNvPr id="9" name="Text 7"/>
          <p:cNvSpPr/>
          <p:nvPr/>
        </p:nvSpPr>
        <p:spPr>
          <a:xfrm>
            <a:off x="4846320" y="1600200"/>
            <a:ext cx="3749040" cy="3017520"/>
          </a:xfrm>
          <a:prstGeom prst="rect">
            <a:avLst/>
          </a:prstGeom>
          <a:noFill/>
          <a:ln/>
        </p:spPr>
        <p:txBody>
          <a:bodyPr wrap="square" lIns="0" tIns="0" rIns="0" bIns="0" rtlCol="0" anchor="t"/>
          <a:lstStyle/>
          <a:p>
            <a:pPr marL="0" indent="0">
              <a:spcAft>
                <a:spcPts val="100"/>
              </a:spcAft>
              <a:buNone/>
            </a:pPr>
            <a:r>
              <a:rPr lang="en-US" sz="850" dirty="0">
                <a:solidFill>
                  <a:srgbClr val="F06292"/>
                </a:solidFill>
                <a:latin typeface="Consolas" pitchFamily="34" charset="0"/>
                <a:ea typeface="Consolas" pitchFamily="34" charset="-122"/>
                <a:cs typeface="Consolas" pitchFamily="34" charset="-120"/>
              </a:rPr>
              <a:t>it(</a:t>
            </a:r>
            <a:r>
              <a:rPr lang="en-US" sz="850" dirty="0">
                <a:solidFill>
                  <a:srgbClr val="FFD54F"/>
                </a:solidFill>
                <a:latin typeface="Consolas" pitchFamily="34" charset="0"/>
                <a:ea typeface="Consolas" pitchFamily="34" charset="-122"/>
                <a:cs typeface="Consolas" pitchFamily="34" charset="-120"/>
              </a:rPr>
              <a:t>"creates an order"</a:t>
            </a:r>
            <a:r>
              <a:rPr lang="en-US" sz="850" dirty="0">
                <a:solidFill>
                  <a:srgbClr val="E2E8F0"/>
                </a:solidFill>
                <a:latin typeface="Consolas" pitchFamily="34" charset="0"/>
                <a:ea typeface="Consolas" pitchFamily="34" charset="-122"/>
                <a:cs typeface="Consolas" pitchFamily="34" charset="-120"/>
              </a:rPr>
              <a:t>, () =&gt; {</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cy.request({</a:t>
            </a:r>
            <a:endParaRPr lang="en-US" sz="850" dirty="0"/>
          </a:p>
          <a:p>
            <a:pPr marL="0" indent="0">
              <a:spcAft>
                <a:spcPts val="100"/>
              </a:spcAft>
              <a:buNone/>
            </a:pPr>
            <a:r>
              <a:rPr lang="en-US" sz="850" dirty="0">
                <a:solidFill>
                  <a:srgbClr val="81D4FA"/>
                </a:solidFill>
                <a:latin typeface="Consolas" pitchFamily="34" charset="0"/>
                <a:ea typeface="Consolas" pitchFamily="34" charset="-122"/>
                <a:cs typeface="Consolas" pitchFamily="34" charset="-120"/>
              </a:rPr>
              <a:t>    method: </a:t>
            </a:r>
            <a:r>
              <a:rPr lang="en-US" sz="850" dirty="0">
                <a:solidFill>
                  <a:srgbClr val="FFD54F"/>
                </a:solidFill>
                <a:latin typeface="Consolas" pitchFamily="34" charset="0"/>
                <a:ea typeface="Consolas" pitchFamily="34" charset="-122"/>
                <a:cs typeface="Consolas" pitchFamily="34" charset="-120"/>
              </a:rPr>
              <a:t>"POST"</a:t>
            </a:r>
            <a:r>
              <a:rPr lang="en-US" sz="850" dirty="0">
                <a:solidFill>
                  <a:srgbClr val="E2E8F0"/>
                </a:solidFill>
                <a:latin typeface="Consolas" pitchFamily="34" charset="0"/>
                <a:ea typeface="Consolas" pitchFamily="34" charset="-122"/>
                <a:cs typeface="Consolas" pitchFamily="34" charset="-120"/>
              </a:rPr>
              <a:t>,</a:t>
            </a:r>
            <a:endParaRPr lang="en-US" sz="850" dirty="0"/>
          </a:p>
          <a:p>
            <a:pPr marL="0" indent="0">
              <a:spcAft>
                <a:spcPts val="100"/>
              </a:spcAft>
              <a:buNone/>
            </a:pPr>
            <a:r>
              <a:rPr lang="en-US" sz="850" dirty="0">
                <a:solidFill>
                  <a:srgbClr val="81D4FA"/>
                </a:solidFill>
                <a:latin typeface="Consolas" pitchFamily="34" charset="0"/>
                <a:ea typeface="Consolas" pitchFamily="34" charset="-122"/>
                <a:cs typeface="Consolas" pitchFamily="34" charset="-120"/>
              </a:rPr>
              <a:t>    url: </a:t>
            </a:r>
            <a:r>
              <a:rPr lang="en-US" sz="850" dirty="0">
                <a:solidFill>
                  <a:srgbClr val="FFD54F"/>
                </a:solidFill>
                <a:latin typeface="Consolas" pitchFamily="34" charset="0"/>
                <a:ea typeface="Consolas" pitchFamily="34" charset="-122"/>
                <a:cs typeface="Consolas" pitchFamily="34" charset="-120"/>
              </a:rPr>
              <a:t>"/api/orders"</a:t>
            </a:r>
            <a:r>
              <a:rPr lang="en-US" sz="850" dirty="0">
                <a:solidFill>
                  <a:srgbClr val="E2E8F0"/>
                </a:solidFill>
                <a:latin typeface="Consolas" pitchFamily="34" charset="0"/>
                <a:ea typeface="Consolas" pitchFamily="34" charset="-122"/>
                <a:cs typeface="Consolas" pitchFamily="34" charset="-120"/>
              </a:rPr>
              <a:t>,</a:t>
            </a:r>
            <a:endParaRPr lang="en-US" sz="850" dirty="0"/>
          </a:p>
          <a:p>
            <a:pPr marL="0" indent="0">
              <a:spcAft>
                <a:spcPts val="100"/>
              </a:spcAft>
              <a:buNone/>
            </a:pPr>
            <a:r>
              <a:rPr lang="en-US" sz="850" dirty="0">
                <a:solidFill>
                  <a:srgbClr val="81D4FA"/>
                </a:solidFill>
                <a:latin typeface="Consolas" pitchFamily="34" charset="0"/>
                <a:ea typeface="Consolas" pitchFamily="34" charset="-122"/>
                <a:cs typeface="Consolas" pitchFamily="34" charset="-120"/>
              </a:rPr>
              <a:t>    headers: { Authorization:</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a:t>
            </a:r>
            <a:r>
              <a:rPr lang="en-US" sz="850" dirty="0">
                <a:solidFill>
                  <a:srgbClr val="FFD54F"/>
                </a:solidFill>
                <a:latin typeface="Consolas" pitchFamily="34" charset="0"/>
                <a:ea typeface="Consolas" pitchFamily="34" charset="-122"/>
                <a:cs typeface="Consolas" pitchFamily="34" charset="-120"/>
              </a:rPr>
              <a:t>"Bearer abc123"</a:t>
            </a:r>
            <a:r>
              <a:rPr lang="en-US" sz="850" dirty="0">
                <a:solidFill>
                  <a:srgbClr val="81D4FA"/>
                </a:solidFill>
                <a:latin typeface="Consolas" pitchFamily="34" charset="0"/>
                <a:ea typeface="Consolas" pitchFamily="34" charset="-122"/>
                <a:cs typeface="Consolas" pitchFamily="34" charset="-120"/>
              </a:rPr>
              <a:t> },</a:t>
            </a:r>
            <a:endParaRPr lang="en-US" sz="850" dirty="0"/>
          </a:p>
          <a:p>
            <a:pPr marL="0" indent="0">
              <a:spcAft>
                <a:spcPts val="100"/>
              </a:spcAft>
              <a:buNone/>
            </a:pPr>
            <a:r>
              <a:rPr lang="en-US" sz="850" dirty="0">
                <a:solidFill>
                  <a:srgbClr val="81D4FA"/>
                </a:solidFill>
                <a:latin typeface="Consolas" pitchFamily="34" charset="0"/>
                <a:ea typeface="Consolas" pitchFamily="34" charset="-122"/>
                <a:cs typeface="Consolas" pitchFamily="34" charset="-120"/>
              </a:rPr>
              <a:t>    body: { product: </a:t>
            </a:r>
            <a:r>
              <a:rPr lang="en-US" sz="850" dirty="0">
                <a:solidFill>
                  <a:srgbClr val="FFD54F"/>
                </a:solidFill>
                <a:latin typeface="Consolas" pitchFamily="34" charset="0"/>
                <a:ea typeface="Consolas" pitchFamily="34" charset="-122"/>
                <a:cs typeface="Consolas" pitchFamily="34" charset="-120"/>
              </a:rPr>
              <a:t>"book"</a:t>
            </a:r>
            <a:r>
              <a:rPr lang="en-US" sz="850" dirty="0">
                <a:solidFill>
                  <a:srgbClr val="81D4FA"/>
                </a:solidFill>
                <a:latin typeface="Consolas" pitchFamily="34" charset="0"/>
                <a:ea typeface="Consolas" pitchFamily="34" charset="-122"/>
                <a:cs typeface="Consolas" pitchFamily="34" charset="-120"/>
              </a:rPr>
              <a:t>, qty: </a:t>
            </a:r>
            <a:r>
              <a:rPr lang="en-US" sz="850" dirty="0">
                <a:solidFill>
                  <a:srgbClr val="F06292"/>
                </a:solidFill>
                <a:latin typeface="Consolas" pitchFamily="34" charset="0"/>
                <a:ea typeface="Consolas" pitchFamily="34" charset="-122"/>
                <a:cs typeface="Consolas" pitchFamily="34" charset="-120"/>
              </a:rPr>
              <a:t>2</a:t>
            </a:r>
            <a:r>
              <a:rPr lang="en-US" sz="850" dirty="0">
                <a:solidFill>
                  <a:srgbClr val="81D4FA"/>
                </a:solidFill>
                <a:latin typeface="Consolas" pitchFamily="34" charset="0"/>
                <a:ea typeface="Consolas" pitchFamily="34" charset="-122"/>
                <a:cs typeface="Consolas" pitchFamily="34" charset="-120"/>
              </a:rPr>
              <a:t> }</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}).then((res) =&gt; {</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expect(res.status).to.eq(</a:t>
            </a:r>
            <a:r>
              <a:rPr lang="en-US" sz="850" dirty="0">
                <a:solidFill>
                  <a:srgbClr val="F06292"/>
                </a:solidFill>
                <a:latin typeface="Consolas" pitchFamily="34" charset="0"/>
                <a:ea typeface="Consolas" pitchFamily="34" charset="-122"/>
                <a:cs typeface="Consolas" pitchFamily="34" charset="-120"/>
              </a:rPr>
              <a:t>201</a:t>
            </a:r>
            <a:r>
              <a:rPr lang="en-US" sz="850" dirty="0">
                <a:solidFill>
                  <a:srgbClr val="E2E8F0"/>
                </a:solidFill>
                <a:latin typeface="Consolas" pitchFamily="34" charset="0"/>
                <a:ea typeface="Consolas" pitchFamily="34" charset="-122"/>
                <a:cs typeface="Consolas" pitchFamily="34" charset="-120"/>
              </a:rPr>
              <a:t>);</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expect(res.body).to.have.property(</a:t>
            </a:r>
            <a:r>
              <a:rPr lang="en-US" sz="850" dirty="0">
                <a:solidFill>
                  <a:srgbClr val="FFD54F"/>
                </a:solidFill>
                <a:latin typeface="Consolas" pitchFamily="34" charset="0"/>
                <a:ea typeface="Consolas" pitchFamily="34" charset="-122"/>
                <a:cs typeface="Consolas" pitchFamily="34" charset="-120"/>
              </a:rPr>
              <a:t>"id"</a:t>
            </a:r>
            <a:r>
              <a:rPr lang="en-US" sz="850" dirty="0">
                <a:solidFill>
                  <a:srgbClr val="E2E8F0"/>
                </a:solidFill>
                <a:latin typeface="Consolas" pitchFamily="34" charset="0"/>
                <a:ea typeface="Consolas" pitchFamily="34" charset="-122"/>
                <a:cs typeface="Consolas" pitchFamily="34" charset="-120"/>
              </a:rPr>
              <a:t>);</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expect(res.body.product).to.eq(</a:t>
            </a:r>
            <a:r>
              <a:rPr lang="en-US" sz="850" dirty="0">
                <a:solidFill>
                  <a:srgbClr val="FFD54F"/>
                </a:solidFill>
                <a:latin typeface="Consolas" pitchFamily="34" charset="0"/>
                <a:ea typeface="Consolas" pitchFamily="34" charset="-122"/>
                <a:cs typeface="Consolas" pitchFamily="34" charset="-120"/>
              </a:rPr>
              <a:t>"book"</a:t>
            </a:r>
            <a:r>
              <a:rPr lang="en-US" sz="850" dirty="0">
                <a:solidFill>
                  <a:srgbClr val="E2E8F0"/>
                </a:solidFill>
                <a:latin typeface="Consolas" pitchFamily="34" charset="0"/>
                <a:ea typeface="Consolas" pitchFamily="34" charset="-122"/>
                <a:cs typeface="Consolas" pitchFamily="34" charset="-120"/>
              </a:rPr>
              <a:t>);</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expect(res.body.qty).to.eq(</a:t>
            </a:r>
            <a:r>
              <a:rPr lang="en-US" sz="850" dirty="0">
                <a:solidFill>
                  <a:srgbClr val="F06292"/>
                </a:solidFill>
                <a:latin typeface="Consolas" pitchFamily="34" charset="0"/>
                <a:ea typeface="Consolas" pitchFamily="34" charset="-122"/>
                <a:cs typeface="Consolas" pitchFamily="34" charset="-120"/>
              </a:rPr>
              <a:t>2</a:t>
            </a:r>
            <a:r>
              <a:rPr lang="en-US" sz="850" dirty="0">
                <a:solidFill>
                  <a:srgbClr val="E2E8F0"/>
                </a:solidFill>
                <a:latin typeface="Consolas" pitchFamily="34" charset="0"/>
                <a:ea typeface="Consolas" pitchFamily="34" charset="-122"/>
                <a:cs typeface="Consolas" pitchFamily="34" charset="-120"/>
              </a:rPr>
              <a:t>);</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marL="0" indent="0">
              <a:spcAft>
                <a:spcPts val="100"/>
              </a:spcAft>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10" name="Text 8"/>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11" name="Text 9"/>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Refactor: UI Setup → API Setup</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200" i="1" dirty="0">
                <a:solidFill>
                  <a:srgbClr val="5B6582"/>
                </a:solidFill>
                <a:latin typeface="Calibri" pitchFamily="34" charset="0"/>
                <a:ea typeface="Calibri" pitchFamily="34" charset="-122"/>
                <a:cs typeface="Calibri" pitchFamily="34" charset="-120"/>
              </a:rPr>
              <a:t>Highlight the test → Edit mode → "replace UI login with cy.request login — keep the rest"</a:t>
            </a:r>
            <a:endParaRPr lang="en-US" sz="1200" dirty="0"/>
          </a:p>
        </p:txBody>
      </p:sp>
      <p:sp>
        <p:nvSpPr>
          <p:cNvPr id="4" name="Text 2"/>
          <p:cNvSpPr/>
          <p:nvPr/>
        </p:nvSpPr>
        <p:spPr>
          <a:xfrm>
            <a:off x="457200" y="1188720"/>
            <a:ext cx="4023360" cy="274320"/>
          </a:xfrm>
          <a:prstGeom prst="rect">
            <a:avLst/>
          </a:prstGeom>
          <a:noFill/>
          <a:ln/>
        </p:spPr>
        <p:txBody>
          <a:bodyPr wrap="square" lIns="0" tIns="0" rIns="0" bIns="0" rtlCol="0" anchor="ctr"/>
          <a:lstStyle/>
          <a:p>
            <a:pPr marL="0" indent="0">
              <a:buNone/>
            </a:pPr>
            <a:r>
              <a:rPr lang="en-US" sz="1200" b="1" kern="0" spc="200" dirty="0">
                <a:solidFill>
                  <a:srgbClr val="C62828"/>
                </a:solidFill>
                <a:latin typeface="Calibri" pitchFamily="34" charset="0"/>
                <a:ea typeface="Calibri" pitchFamily="34" charset="-122"/>
                <a:cs typeface="Calibri" pitchFamily="34" charset="-120"/>
              </a:rPr>
              <a:t>Before — slow UI login</a:t>
            </a:r>
            <a:endParaRPr lang="en-US" sz="1200" dirty="0"/>
          </a:p>
        </p:txBody>
      </p:sp>
      <p:sp>
        <p:nvSpPr>
          <p:cNvPr id="5" name="Shape 3"/>
          <p:cNvSpPr/>
          <p:nvPr/>
        </p:nvSpPr>
        <p:spPr>
          <a:xfrm>
            <a:off x="457200" y="1508760"/>
            <a:ext cx="4023360" cy="3108960"/>
          </a:xfrm>
          <a:prstGeom prst="rect">
            <a:avLst/>
          </a:prstGeom>
          <a:solidFill>
            <a:srgbClr val="0F1A3A"/>
          </a:solidFill>
          <a:ln w="12700">
            <a:solidFill>
              <a:srgbClr val="0F1A3A"/>
            </a:solidFill>
            <a:prstDash val="solid"/>
          </a:ln>
        </p:spPr>
        <p:txBody>
          <a:bodyPr/>
          <a:lstStyle/>
          <a:p>
            <a:endParaRPr lang="en-IN"/>
          </a:p>
        </p:txBody>
      </p:sp>
      <p:sp>
        <p:nvSpPr>
          <p:cNvPr id="6" name="Text 4"/>
          <p:cNvSpPr/>
          <p:nvPr/>
        </p:nvSpPr>
        <p:spPr>
          <a:xfrm>
            <a:off x="640080" y="1600200"/>
            <a:ext cx="3749040" cy="3017520"/>
          </a:xfrm>
          <a:prstGeom prst="rect">
            <a:avLst/>
          </a:prstGeom>
          <a:noFill/>
          <a:ln/>
        </p:spPr>
        <p:txBody>
          <a:bodyPr wrap="square" lIns="0" tIns="0" rIns="0" bIns="0" rtlCol="0" anchor="t"/>
          <a:lstStyle/>
          <a:p>
            <a:pPr marL="0" indent="0">
              <a:spcAft>
                <a:spcPts val="100"/>
              </a:spcAft>
              <a:buNone/>
            </a:pPr>
            <a:r>
              <a:rPr lang="en-US" sz="950" dirty="0">
                <a:solidFill>
                  <a:srgbClr val="F06292"/>
                </a:solidFill>
                <a:latin typeface="Consolas" pitchFamily="34" charset="0"/>
                <a:ea typeface="Consolas" pitchFamily="34" charset="-122"/>
                <a:cs typeface="Consolas" pitchFamily="34" charset="-120"/>
              </a:rPr>
              <a:t>it(</a:t>
            </a:r>
            <a:r>
              <a:rPr lang="en-US" sz="950" dirty="0">
                <a:solidFill>
                  <a:srgbClr val="FFD54F"/>
                </a:solidFill>
                <a:latin typeface="Consolas" pitchFamily="34" charset="0"/>
                <a:ea typeface="Consolas" pitchFamily="34" charset="-122"/>
                <a:cs typeface="Consolas" pitchFamily="34" charset="-120"/>
              </a:rPr>
              <a:t>"adds item to cart"</a:t>
            </a:r>
            <a:r>
              <a:rPr lang="en-US" sz="950" dirty="0">
                <a:solidFill>
                  <a:srgbClr val="E2E8F0"/>
                </a:solidFill>
                <a:latin typeface="Consolas" pitchFamily="34" charset="0"/>
                <a:ea typeface="Consolas" pitchFamily="34" charset="-122"/>
                <a:cs typeface="Consolas" pitchFamily="34" charset="-120"/>
              </a:rPr>
              <a:t>, () =&gt; {</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cy.visit(</a:t>
            </a:r>
            <a:r>
              <a:rPr lang="en-US" sz="950" dirty="0">
                <a:solidFill>
                  <a:srgbClr val="FFD54F"/>
                </a:solidFill>
                <a:latin typeface="Consolas" pitchFamily="34" charset="0"/>
                <a:ea typeface="Consolas" pitchFamily="34" charset="-122"/>
                <a:cs typeface="Consolas" pitchFamily="34" charset="-120"/>
              </a:rPr>
              <a:t>"/login"</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cy.get(</a:t>
            </a:r>
            <a:r>
              <a:rPr lang="en-US" sz="950" dirty="0">
                <a:solidFill>
                  <a:srgbClr val="FFD54F"/>
                </a:solidFill>
                <a:latin typeface="Consolas" pitchFamily="34" charset="0"/>
                <a:ea typeface="Consolas" pitchFamily="34" charset="-122"/>
                <a:cs typeface="Consolas" pitchFamily="34" charset="-120"/>
              </a:rPr>
              <a:t>"#email"</a:t>
            </a:r>
            <a:r>
              <a:rPr lang="en-US" sz="950" dirty="0">
                <a:solidFill>
                  <a:srgbClr val="E2E8F0"/>
                </a:solidFill>
                <a:latin typeface="Consolas" pitchFamily="34" charset="0"/>
                <a:ea typeface="Consolas" pitchFamily="34" charset="-122"/>
                <a:cs typeface="Consolas" pitchFamily="34" charset="-120"/>
              </a:rPr>
              <a:t>).type(</a:t>
            </a:r>
            <a:r>
              <a:rPr lang="en-US" sz="950" dirty="0">
                <a:solidFill>
                  <a:srgbClr val="FFD54F"/>
                </a:solidFill>
                <a:latin typeface="Consolas" pitchFamily="34" charset="0"/>
                <a:ea typeface="Consolas" pitchFamily="34" charset="-122"/>
                <a:cs typeface="Consolas" pitchFamily="34" charset="-120"/>
              </a:rPr>
              <a:t>"a@b.c"</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cy.get(</a:t>
            </a:r>
            <a:r>
              <a:rPr lang="en-US" sz="950" dirty="0">
                <a:solidFill>
                  <a:srgbClr val="FFD54F"/>
                </a:solidFill>
                <a:latin typeface="Consolas" pitchFamily="34" charset="0"/>
                <a:ea typeface="Consolas" pitchFamily="34" charset="-122"/>
                <a:cs typeface="Consolas" pitchFamily="34" charset="-120"/>
              </a:rPr>
              <a:t>"#pwd"</a:t>
            </a:r>
            <a:r>
              <a:rPr lang="en-US" sz="950" dirty="0">
                <a:solidFill>
                  <a:srgbClr val="E2E8F0"/>
                </a:solidFill>
                <a:latin typeface="Consolas" pitchFamily="34" charset="0"/>
                <a:ea typeface="Consolas" pitchFamily="34" charset="-122"/>
                <a:cs typeface="Consolas" pitchFamily="34" charset="-120"/>
              </a:rPr>
              <a:t>).type(</a:t>
            </a:r>
            <a:r>
              <a:rPr lang="en-US" sz="950" dirty="0">
                <a:solidFill>
                  <a:srgbClr val="FFD54F"/>
                </a:solidFill>
                <a:latin typeface="Consolas" pitchFamily="34" charset="0"/>
                <a:ea typeface="Consolas" pitchFamily="34" charset="-122"/>
                <a:cs typeface="Consolas" pitchFamily="34" charset="-120"/>
              </a:rPr>
              <a:t>"1234"</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cy.contains(</a:t>
            </a:r>
            <a:r>
              <a:rPr lang="en-US" sz="950" dirty="0">
                <a:solidFill>
                  <a:srgbClr val="FFD54F"/>
                </a:solidFill>
                <a:latin typeface="Consolas" pitchFamily="34" charset="0"/>
                <a:ea typeface="Consolas" pitchFamily="34" charset="-122"/>
                <a:cs typeface="Consolas" pitchFamily="34" charset="-120"/>
              </a:rPr>
              <a:t>"Sign in"</a:t>
            </a:r>
            <a:r>
              <a:rPr lang="en-US" sz="950" dirty="0">
                <a:solidFill>
                  <a:srgbClr val="E2E8F0"/>
                </a:solidFill>
                <a:latin typeface="Consolas" pitchFamily="34" charset="0"/>
                <a:ea typeface="Consolas" pitchFamily="34" charset="-122"/>
                <a:cs typeface="Consolas" pitchFamily="34" charset="-120"/>
              </a:rPr>
              <a:t>).click();</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cy.url().should(</a:t>
            </a:r>
            <a:r>
              <a:rPr lang="en-US" sz="950" dirty="0">
                <a:solidFill>
                  <a:srgbClr val="FFD54F"/>
                </a:solidFill>
                <a:latin typeface="Consolas" pitchFamily="34" charset="0"/>
                <a:ea typeface="Consolas" pitchFamily="34" charset="-122"/>
                <a:cs typeface="Consolas" pitchFamily="34" charset="-120"/>
              </a:rPr>
              <a:t>"include"</a:t>
            </a:r>
            <a:r>
              <a:rPr lang="en-US" sz="950" dirty="0">
                <a:solidFill>
                  <a:srgbClr val="E2E8F0"/>
                </a:solidFill>
                <a:latin typeface="Consolas" pitchFamily="34" charset="0"/>
                <a:ea typeface="Consolas" pitchFamily="34" charset="-122"/>
                <a:cs typeface="Consolas" pitchFamily="34" charset="-120"/>
              </a:rPr>
              <a:t>, </a:t>
            </a:r>
            <a:r>
              <a:rPr lang="en-US" sz="950" dirty="0">
                <a:solidFill>
                  <a:srgbClr val="FFD54F"/>
                </a:solidFill>
                <a:latin typeface="Consolas" pitchFamily="34" charset="0"/>
                <a:ea typeface="Consolas" pitchFamily="34" charset="-122"/>
                <a:cs typeface="Consolas" pitchFamily="34" charset="-120"/>
              </a:rPr>
              <a:t>"/home"</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78909C"/>
                </a:solidFill>
                <a:latin typeface="Consolas" pitchFamily="34" charset="0"/>
                <a:ea typeface="Consolas" pitchFamily="34" charset="-122"/>
                <a:cs typeface="Consolas" pitchFamily="34" charset="-120"/>
              </a:rPr>
              <a:t>  </a:t>
            </a:r>
            <a:r>
              <a:rPr lang="en-US" sz="950" dirty="0">
                <a:solidFill>
                  <a:srgbClr val="FF8A80"/>
                </a:solidFill>
                <a:latin typeface="Consolas" pitchFamily="34" charset="0"/>
                <a:ea typeface="Consolas" pitchFamily="34" charset="-122"/>
                <a:cs typeface="Consolas" pitchFamily="34" charset="-120"/>
              </a:rPr>
              <a:t>// ↑ 3 seconds wasted</a:t>
            </a:r>
            <a:endParaRPr lang="en-US" sz="950" dirty="0"/>
          </a:p>
          <a:p>
            <a:pPr marL="0" indent="0">
              <a:spcAft>
                <a:spcPts val="100"/>
              </a:spcAft>
              <a:buNone/>
            </a:pPr>
            <a:r>
              <a:rPr lang="en-US" sz="950" dirty="0">
                <a:solidFill>
                  <a:srgbClr val="000000"/>
                </a:solidFill>
              </a:rPr>
              <a:t> </a:t>
            </a:r>
            <a:endParaRPr lang="en-US" sz="950" dirty="0"/>
          </a:p>
          <a:p>
            <a:pPr marL="0" indent="0">
              <a:spcAft>
                <a:spcPts val="100"/>
              </a:spcAft>
              <a:buNone/>
            </a:pPr>
            <a:r>
              <a:rPr lang="en-US" sz="950" dirty="0">
                <a:solidFill>
                  <a:srgbClr val="78909C"/>
                </a:solidFill>
                <a:latin typeface="Consolas" pitchFamily="34" charset="0"/>
                <a:ea typeface="Consolas" pitchFamily="34" charset="-122"/>
                <a:cs typeface="Consolas" pitchFamily="34" charset="-120"/>
              </a:rPr>
              <a:t>  // actual test: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cy.contains(</a:t>
            </a:r>
            <a:r>
              <a:rPr lang="en-US" sz="950" dirty="0">
                <a:solidFill>
                  <a:srgbClr val="FFD54F"/>
                </a:solidFill>
                <a:latin typeface="Consolas" pitchFamily="34" charset="0"/>
                <a:ea typeface="Consolas" pitchFamily="34" charset="-122"/>
                <a:cs typeface="Consolas" pitchFamily="34" charset="-120"/>
              </a:rPr>
              <a:t>"Add to cart"</a:t>
            </a:r>
            <a:r>
              <a:rPr lang="en-US" sz="950" dirty="0">
                <a:solidFill>
                  <a:srgbClr val="E2E8F0"/>
                </a:solidFill>
                <a:latin typeface="Consolas" pitchFamily="34" charset="0"/>
                <a:ea typeface="Consolas" pitchFamily="34" charset="-122"/>
                <a:cs typeface="Consolas" pitchFamily="34" charset="-120"/>
              </a:rPr>
              <a:t>).click();</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p:txBody>
      </p:sp>
      <p:sp>
        <p:nvSpPr>
          <p:cNvPr id="7" name="Text 5"/>
          <p:cNvSpPr/>
          <p:nvPr/>
        </p:nvSpPr>
        <p:spPr>
          <a:xfrm>
            <a:off x="4663440" y="1188720"/>
            <a:ext cx="4023360" cy="27432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After — fast API login</a:t>
            </a:r>
            <a:endParaRPr lang="en-US" sz="1200" dirty="0"/>
          </a:p>
        </p:txBody>
      </p:sp>
      <p:sp>
        <p:nvSpPr>
          <p:cNvPr id="8" name="Shape 6"/>
          <p:cNvSpPr/>
          <p:nvPr/>
        </p:nvSpPr>
        <p:spPr>
          <a:xfrm>
            <a:off x="4663440" y="1508760"/>
            <a:ext cx="4023360" cy="3108960"/>
          </a:xfrm>
          <a:prstGeom prst="rect">
            <a:avLst/>
          </a:prstGeom>
          <a:solidFill>
            <a:srgbClr val="0F1A3A"/>
          </a:solidFill>
          <a:ln w="12700">
            <a:solidFill>
              <a:srgbClr val="0F1A3A"/>
            </a:solidFill>
            <a:prstDash val="solid"/>
          </a:ln>
        </p:spPr>
        <p:txBody>
          <a:bodyPr/>
          <a:lstStyle/>
          <a:p>
            <a:endParaRPr lang="en-IN"/>
          </a:p>
        </p:txBody>
      </p:sp>
      <p:sp>
        <p:nvSpPr>
          <p:cNvPr id="9" name="Text 7"/>
          <p:cNvSpPr/>
          <p:nvPr/>
        </p:nvSpPr>
        <p:spPr>
          <a:xfrm>
            <a:off x="4846320" y="1600200"/>
            <a:ext cx="3749040" cy="3017520"/>
          </a:xfrm>
          <a:prstGeom prst="rect">
            <a:avLst/>
          </a:prstGeom>
          <a:noFill/>
          <a:ln/>
        </p:spPr>
        <p:txBody>
          <a:bodyPr wrap="square" lIns="0" tIns="0" rIns="0" bIns="0" rtlCol="0" anchor="t"/>
          <a:lstStyle/>
          <a:p>
            <a:pPr marL="0" indent="0">
              <a:spcAft>
                <a:spcPts val="100"/>
              </a:spcAft>
              <a:buNone/>
            </a:pPr>
            <a:r>
              <a:rPr lang="en-US" sz="950" dirty="0">
                <a:solidFill>
                  <a:srgbClr val="F06292"/>
                </a:solidFill>
                <a:latin typeface="Consolas" pitchFamily="34" charset="0"/>
                <a:ea typeface="Consolas" pitchFamily="34" charset="-122"/>
                <a:cs typeface="Consolas" pitchFamily="34" charset="-120"/>
              </a:rPr>
              <a:t>it(</a:t>
            </a:r>
            <a:r>
              <a:rPr lang="en-US" sz="950" dirty="0">
                <a:solidFill>
                  <a:srgbClr val="FFD54F"/>
                </a:solidFill>
                <a:latin typeface="Consolas" pitchFamily="34" charset="0"/>
                <a:ea typeface="Consolas" pitchFamily="34" charset="-122"/>
                <a:cs typeface="Consolas" pitchFamily="34" charset="-120"/>
              </a:rPr>
              <a:t>"adds item to cart"</a:t>
            </a:r>
            <a:r>
              <a:rPr lang="en-US" sz="950" dirty="0">
                <a:solidFill>
                  <a:srgbClr val="E2E8F0"/>
                </a:solidFill>
                <a:latin typeface="Consolas" pitchFamily="34" charset="0"/>
                <a:ea typeface="Consolas" pitchFamily="34" charset="-122"/>
                <a:cs typeface="Consolas" pitchFamily="34" charset="-120"/>
              </a:rPr>
              <a:t>, () =&gt; {</a:t>
            </a:r>
            <a:endParaRPr lang="en-US" sz="950" dirty="0"/>
          </a:p>
          <a:p>
            <a:pPr marL="0" indent="0">
              <a:spcAft>
                <a:spcPts val="100"/>
              </a:spcAft>
              <a:buNone/>
            </a:pPr>
            <a:r>
              <a:rPr lang="en-US" sz="950" dirty="0">
                <a:solidFill>
                  <a:srgbClr val="78909C"/>
                </a:solidFill>
                <a:latin typeface="Consolas" pitchFamily="34" charset="0"/>
                <a:ea typeface="Consolas" pitchFamily="34" charset="-122"/>
                <a:cs typeface="Consolas" pitchFamily="34" charset="-120"/>
              </a:rPr>
              <a:t>  </a:t>
            </a:r>
            <a:r>
              <a:rPr lang="en-US" sz="950" dirty="0">
                <a:solidFill>
                  <a:srgbClr val="9FBF6A"/>
                </a:solidFill>
                <a:latin typeface="Consolas" pitchFamily="34" charset="0"/>
                <a:ea typeface="Consolas" pitchFamily="34" charset="-122"/>
                <a:cs typeface="Consolas" pitchFamily="34" charset="-120"/>
              </a:rPr>
              <a:t>// log in via API — fast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cy.request(</a:t>
            </a:r>
            <a:r>
              <a:rPr lang="en-US" sz="950" dirty="0">
                <a:solidFill>
                  <a:srgbClr val="FFD54F"/>
                </a:solidFill>
                <a:latin typeface="Consolas" pitchFamily="34" charset="0"/>
                <a:ea typeface="Consolas" pitchFamily="34" charset="-122"/>
                <a:cs typeface="Consolas" pitchFamily="34" charset="-120"/>
              </a:rPr>
              <a:t>"POST"</a:t>
            </a:r>
            <a:r>
              <a:rPr lang="en-US" sz="950" dirty="0">
                <a:solidFill>
                  <a:srgbClr val="E2E8F0"/>
                </a:solidFill>
                <a:latin typeface="Consolas" pitchFamily="34" charset="0"/>
                <a:ea typeface="Consolas" pitchFamily="34" charset="-122"/>
                <a:cs typeface="Consolas" pitchFamily="34" charset="-120"/>
              </a:rPr>
              <a:t>, </a:t>
            </a:r>
            <a:r>
              <a:rPr lang="en-US" sz="950" dirty="0">
                <a:solidFill>
                  <a:srgbClr val="FFD54F"/>
                </a:solidFill>
                <a:latin typeface="Consolas" pitchFamily="34" charset="0"/>
                <a:ea typeface="Consolas" pitchFamily="34" charset="-122"/>
                <a:cs typeface="Consolas" pitchFamily="34" charset="-120"/>
              </a:rPr>
              <a:t>"/api/login"</a:t>
            </a:r>
            <a:r>
              <a:rPr lang="en-US" sz="950" dirty="0">
                <a:solidFill>
                  <a:srgbClr val="E2E8F0"/>
                </a:solidFill>
                <a:latin typeface="Consolas" pitchFamily="34" charset="0"/>
                <a:ea typeface="Consolas" pitchFamily="34" charset="-122"/>
                <a:cs typeface="Consolas" pitchFamily="34" charset="-120"/>
              </a:rPr>
              <a:t>, {</a:t>
            </a:r>
            <a:endParaRPr lang="en-US" sz="950" dirty="0"/>
          </a:p>
          <a:p>
            <a:pPr marL="0" indent="0">
              <a:spcAft>
                <a:spcPts val="100"/>
              </a:spcAft>
              <a:buNone/>
            </a:pPr>
            <a:r>
              <a:rPr lang="en-US" sz="950" dirty="0">
                <a:solidFill>
                  <a:srgbClr val="81D4FA"/>
                </a:solidFill>
                <a:latin typeface="Consolas" pitchFamily="34" charset="0"/>
                <a:ea typeface="Consolas" pitchFamily="34" charset="-122"/>
                <a:cs typeface="Consolas" pitchFamily="34" charset="-120"/>
              </a:rPr>
              <a:t>    email: </a:t>
            </a:r>
            <a:r>
              <a:rPr lang="en-US" sz="950" dirty="0">
                <a:solidFill>
                  <a:srgbClr val="FFD54F"/>
                </a:solidFill>
                <a:latin typeface="Consolas" pitchFamily="34" charset="0"/>
                <a:ea typeface="Consolas" pitchFamily="34" charset="-122"/>
                <a:cs typeface="Consolas" pitchFamily="34" charset="-120"/>
              </a:rPr>
              <a:t>"a@b.c"</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81D4FA"/>
                </a:solidFill>
                <a:latin typeface="Consolas" pitchFamily="34" charset="0"/>
                <a:ea typeface="Consolas" pitchFamily="34" charset="-122"/>
                <a:cs typeface="Consolas" pitchFamily="34" charset="-120"/>
              </a:rPr>
              <a:t>    password: </a:t>
            </a:r>
            <a:r>
              <a:rPr lang="en-US" sz="950" dirty="0">
                <a:solidFill>
                  <a:srgbClr val="FFD54F"/>
                </a:solidFill>
                <a:latin typeface="Consolas" pitchFamily="34" charset="0"/>
                <a:ea typeface="Consolas" pitchFamily="34" charset="-122"/>
                <a:cs typeface="Consolas" pitchFamily="34" charset="-120"/>
              </a:rPr>
              <a:t>"1234"</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marL="0" indent="0">
              <a:spcAft>
                <a:spcPts val="100"/>
              </a:spcAft>
              <a:buNone/>
            </a:pPr>
            <a:r>
              <a:rPr lang="en-US" sz="950" dirty="0">
                <a:solidFill>
                  <a:srgbClr val="78909C"/>
                </a:solidFill>
                <a:latin typeface="Consolas" pitchFamily="34" charset="0"/>
                <a:ea typeface="Consolas" pitchFamily="34" charset="-122"/>
                <a:cs typeface="Consolas" pitchFamily="34" charset="-120"/>
              </a:rPr>
              <a:t>  </a:t>
            </a:r>
            <a:r>
              <a:rPr lang="en-US" sz="950" dirty="0">
                <a:solidFill>
                  <a:srgbClr val="9FBF6A"/>
                </a:solidFill>
                <a:latin typeface="Consolas" pitchFamily="34" charset="0"/>
                <a:ea typeface="Consolas" pitchFamily="34" charset="-122"/>
                <a:cs typeface="Consolas" pitchFamily="34" charset="-120"/>
              </a:rPr>
              <a:t>// ↑ ~50ms total</a:t>
            </a:r>
            <a:endParaRPr lang="en-US" sz="950" dirty="0"/>
          </a:p>
          <a:p>
            <a:pPr marL="0" indent="0">
              <a:spcAft>
                <a:spcPts val="100"/>
              </a:spcAft>
              <a:buNone/>
            </a:pPr>
            <a:r>
              <a:rPr lang="en-US" sz="950" dirty="0">
                <a:solidFill>
                  <a:srgbClr val="000000"/>
                </a:solidFill>
              </a:rPr>
              <a:t> </a:t>
            </a:r>
            <a:endParaRPr lang="en-US" sz="950" dirty="0"/>
          </a:p>
          <a:p>
            <a:pPr marL="0" indent="0">
              <a:spcAft>
                <a:spcPts val="100"/>
              </a:spcAft>
              <a:buNone/>
            </a:pPr>
            <a:r>
              <a:rPr lang="en-US" sz="950" dirty="0">
                <a:solidFill>
                  <a:srgbClr val="78909C"/>
                </a:solidFill>
                <a:latin typeface="Consolas" pitchFamily="34" charset="0"/>
                <a:ea typeface="Consolas" pitchFamily="34" charset="-122"/>
                <a:cs typeface="Consolas" pitchFamily="34" charset="-120"/>
              </a:rPr>
              <a:t>  // straight to the test: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cy.visit(</a:t>
            </a:r>
            <a:r>
              <a:rPr lang="en-US" sz="950" dirty="0">
                <a:solidFill>
                  <a:srgbClr val="FFD54F"/>
                </a:solidFill>
                <a:latin typeface="Consolas" pitchFamily="34" charset="0"/>
                <a:ea typeface="Consolas" pitchFamily="34" charset="-122"/>
                <a:cs typeface="Consolas" pitchFamily="34" charset="-120"/>
              </a:rPr>
              <a:t>"/products"</a:t>
            </a:r>
            <a:r>
              <a:rPr lang="en-US" sz="950" dirty="0">
                <a:solidFill>
                  <a:srgbClr val="E2E8F0"/>
                </a:solidFill>
                <a:latin typeface="Consolas" pitchFamily="34" charset="0"/>
                <a:ea typeface="Consolas" pitchFamily="34" charset="-122"/>
                <a:cs typeface="Consolas" pitchFamily="34" charset="-120"/>
              </a:rPr>
              <a:t>);</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  cy.contains(</a:t>
            </a:r>
            <a:r>
              <a:rPr lang="en-US" sz="950" dirty="0">
                <a:solidFill>
                  <a:srgbClr val="FFD54F"/>
                </a:solidFill>
                <a:latin typeface="Consolas" pitchFamily="34" charset="0"/>
                <a:ea typeface="Consolas" pitchFamily="34" charset="-122"/>
                <a:cs typeface="Consolas" pitchFamily="34" charset="-120"/>
              </a:rPr>
              <a:t>"Add to cart"</a:t>
            </a:r>
            <a:r>
              <a:rPr lang="en-US" sz="950" dirty="0">
                <a:solidFill>
                  <a:srgbClr val="E2E8F0"/>
                </a:solidFill>
                <a:latin typeface="Consolas" pitchFamily="34" charset="0"/>
                <a:ea typeface="Consolas" pitchFamily="34" charset="-122"/>
                <a:cs typeface="Consolas" pitchFamily="34" charset="-120"/>
              </a:rPr>
              <a:t>).click();</a:t>
            </a:r>
            <a:endParaRPr lang="en-US" sz="950" dirty="0"/>
          </a:p>
          <a:p>
            <a:pPr marL="0" indent="0">
              <a:spcAft>
                <a:spcPts val="100"/>
              </a:spcAft>
              <a:buNone/>
            </a:pPr>
            <a:r>
              <a:rPr lang="en-US" sz="950" dirty="0">
                <a:solidFill>
                  <a:srgbClr val="E2E8F0"/>
                </a:solidFill>
                <a:latin typeface="Consolas" pitchFamily="34" charset="0"/>
                <a:ea typeface="Consolas" pitchFamily="34" charset="-122"/>
                <a:cs typeface="Consolas" pitchFamily="34" charset="-120"/>
              </a:rPr>
              <a:t>});</a:t>
            </a:r>
            <a:endParaRPr lang="en-US" sz="950" dirty="0"/>
          </a:p>
        </p:txBody>
      </p:sp>
      <p:sp>
        <p:nvSpPr>
          <p:cNvPr id="10" name="Text 8"/>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11" name="Text 9"/>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Use Copilot Well — Three Principles</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Especially important with API tests — wrong data or wrong status code hides real bugs</a:t>
            </a:r>
            <a:endParaRPr lang="en-US" sz="1300" dirty="0"/>
          </a:p>
        </p:txBody>
      </p:sp>
      <p:sp>
        <p:nvSpPr>
          <p:cNvPr id="4" name="Shape 2"/>
          <p:cNvSpPr/>
          <p:nvPr/>
        </p:nvSpPr>
        <p:spPr>
          <a:xfrm>
            <a:off x="457200" y="1280160"/>
            <a:ext cx="2651760" cy="3337560"/>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457200" y="1280160"/>
            <a:ext cx="2651760" cy="914400"/>
          </a:xfrm>
          <a:prstGeom prst="rect">
            <a:avLst/>
          </a:prstGeom>
          <a:solidFill>
            <a:srgbClr val="7C4DFF"/>
          </a:solidFill>
          <a:ln w="12700">
            <a:solidFill>
              <a:srgbClr val="7C4DFF"/>
            </a:solidFill>
            <a:prstDash val="solid"/>
          </a:ln>
        </p:spPr>
        <p:txBody>
          <a:bodyPr/>
          <a:lstStyle/>
          <a:p>
            <a:endParaRPr lang="en-IN"/>
          </a:p>
        </p:txBody>
      </p:sp>
      <p:sp>
        <p:nvSpPr>
          <p:cNvPr id="6" name="Text 4"/>
          <p:cNvSpPr/>
          <p:nvPr/>
        </p:nvSpPr>
        <p:spPr>
          <a:xfrm>
            <a:off x="457200" y="1371600"/>
            <a:ext cx="2651760" cy="45720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548640" y="1828800"/>
            <a:ext cx="24688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Use clear prompts</a:t>
            </a:r>
            <a:endParaRPr lang="en-US" sz="1300" dirty="0"/>
          </a:p>
        </p:txBody>
      </p:sp>
      <p:sp>
        <p:nvSpPr>
          <p:cNvPr id="8" name="Text 6"/>
          <p:cNvSpPr/>
          <p:nvPr/>
        </p:nvSpPr>
        <p:spPr>
          <a:xfrm>
            <a:off x="457200" y="2286000"/>
            <a:ext cx="2651760" cy="365760"/>
          </a:xfrm>
          <a:prstGeom prst="rect">
            <a:avLst/>
          </a:prstGeom>
          <a:noFill/>
          <a:ln/>
        </p:spPr>
        <p:txBody>
          <a:bodyPr wrap="square" lIns="0" tIns="0" rIns="0" bIns="0" rtlCol="0" anchor="ctr"/>
          <a:lstStyle/>
          <a:p>
            <a:pPr marL="0" indent="0" algn="ctr">
              <a:buNone/>
            </a:pPr>
            <a:r>
              <a:rPr lang="en-US" sz="2200" b="1" dirty="0">
                <a:solidFill>
                  <a:srgbClr val="F5B700"/>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594360" y="2697480"/>
            <a:ext cx="237744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Better Copilot output</a:t>
            </a:r>
            <a:endParaRPr lang="en-US" sz="1400" dirty="0"/>
          </a:p>
        </p:txBody>
      </p:sp>
      <p:sp>
        <p:nvSpPr>
          <p:cNvPr id="10" name="Shape 8"/>
          <p:cNvSpPr/>
          <p:nvPr/>
        </p:nvSpPr>
        <p:spPr>
          <a:xfrm>
            <a:off x="914400" y="3154680"/>
            <a:ext cx="1737360" cy="0"/>
          </a:xfrm>
          <a:prstGeom prst="line">
            <a:avLst/>
          </a:prstGeom>
          <a:noFill/>
          <a:ln w="6350">
            <a:solidFill>
              <a:srgbClr val="5B6582"/>
            </a:solidFill>
            <a:prstDash val="solid"/>
          </a:ln>
        </p:spPr>
        <p:txBody>
          <a:bodyPr/>
          <a:lstStyle/>
          <a:p>
            <a:endParaRPr lang="en-IN"/>
          </a:p>
        </p:txBody>
      </p:sp>
      <p:sp>
        <p:nvSpPr>
          <p:cNvPr id="11" name="Text 9"/>
          <p:cNvSpPr/>
          <p:nvPr/>
        </p:nvSpPr>
        <p:spPr>
          <a:xfrm>
            <a:off x="640080" y="3291840"/>
            <a:ext cx="2331720" cy="1280160"/>
          </a:xfrm>
          <a:prstGeom prst="rect">
            <a:avLst/>
          </a:prstGeom>
          <a:noFill/>
          <a:ln/>
        </p:spPr>
        <p:txBody>
          <a:bodyPr wrap="square" lIns="0" tIns="0" rIns="0" bIns="0" rtlCol="0" anchor="t"/>
          <a:lstStyle/>
          <a:p>
            <a:pPr marL="0" indent="0" algn="l">
              <a:buNone/>
            </a:pPr>
            <a:r>
              <a:rPr lang="en-US" sz="1050" dirty="0">
                <a:solidFill>
                  <a:srgbClr val="1A1A2E"/>
                </a:solidFill>
                <a:latin typeface="Calibri" pitchFamily="34" charset="0"/>
                <a:ea typeface="Calibri" pitchFamily="34" charset="-122"/>
                <a:cs typeface="Calibri" pitchFamily="34" charset="-120"/>
              </a:rPr>
              <a:t>Name the method, the URL, the exact body, the expected status. "Test the API" gives you nothing useful.</a:t>
            </a:r>
            <a:endParaRPr lang="en-US" sz="1050" dirty="0"/>
          </a:p>
        </p:txBody>
      </p:sp>
      <p:sp>
        <p:nvSpPr>
          <p:cNvPr id="12" name="Shape 10"/>
          <p:cNvSpPr/>
          <p:nvPr/>
        </p:nvSpPr>
        <p:spPr>
          <a:xfrm>
            <a:off x="3246120" y="1280160"/>
            <a:ext cx="2651760" cy="3337560"/>
          </a:xfrm>
          <a:prstGeom prst="rect">
            <a:avLst/>
          </a:prstGeom>
          <a:solidFill>
            <a:srgbClr val="F7F9FC"/>
          </a:solidFill>
          <a:ln w="12700">
            <a:solidFill>
              <a:srgbClr val="F7F9FC"/>
            </a:solidFill>
            <a:prstDash val="solid"/>
          </a:ln>
        </p:spPr>
        <p:txBody>
          <a:bodyPr/>
          <a:lstStyle/>
          <a:p>
            <a:endParaRPr lang="en-IN"/>
          </a:p>
        </p:txBody>
      </p:sp>
      <p:sp>
        <p:nvSpPr>
          <p:cNvPr id="13" name="Shape 11"/>
          <p:cNvSpPr/>
          <p:nvPr/>
        </p:nvSpPr>
        <p:spPr>
          <a:xfrm>
            <a:off x="3246120" y="1280160"/>
            <a:ext cx="2651760" cy="914400"/>
          </a:xfrm>
          <a:prstGeom prst="rect">
            <a:avLst/>
          </a:prstGeom>
          <a:solidFill>
            <a:srgbClr val="7C4DFF"/>
          </a:solidFill>
          <a:ln w="12700">
            <a:solidFill>
              <a:srgbClr val="7C4DFF"/>
            </a:solidFill>
            <a:prstDash val="solid"/>
          </a:ln>
        </p:spPr>
        <p:txBody>
          <a:bodyPr/>
          <a:lstStyle/>
          <a:p>
            <a:endParaRPr lang="en-IN"/>
          </a:p>
        </p:txBody>
      </p:sp>
      <p:sp>
        <p:nvSpPr>
          <p:cNvPr id="14" name="Text 12"/>
          <p:cNvSpPr/>
          <p:nvPr/>
        </p:nvSpPr>
        <p:spPr>
          <a:xfrm>
            <a:off x="3246120" y="1371600"/>
            <a:ext cx="2651760" cy="45720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5" name="Text 13"/>
          <p:cNvSpPr/>
          <p:nvPr/>
        </p:nvSpPr>
        <p:spPr>
          <a:xfrm>
            <a:off x="3337560" y="1828800"/>
            <a:ext cx="24688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Choose the right mode</a:t>
            </a:r>
            <a:endParaRPr lang="en-US" sz="1300" dirty="0"/>
          </a:p>
        </p:txBody>
      </p:sp>
      <p:sp>
        <p:nvSpPr>
          <p:cNvPr id="16" name="Text 14"/>
          <p:cNvSpPr/>
          <p:nvPr/>
        </p:nvSpPr>
        <p:spPr>
          <a:xfrm>
            <a:off x="3246120" y="2286000"/>
            <a:ext cx="2651760" cy="365760"/>
          </a:xfrm>
          <a:prstGeom prst="rect">
            <a:avLst/>
          </a:prstGeom>
          <a:noFill/>
          <a:ln/>
        </p:spPr>
        <p:txBody>
          <a:bodyPr wrap="square" lIns="0" tIns="0" rIns="0" bIns="0" rtlCol="0" anchor="ctr"/>
          <a:lstStyle/>
          <a:p>
            <a:pPr marL="0" indent="0" algn="ctr">
              <a:buNone/>
            </a:pPr>
            <a:r>
              <a:rPr lang="en-US" sz="2200" b="1" dirty="0">
                <a:solidFill>
                  <a:srgbClr val="F5B700"/>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3383280" y="2697480"/>
            <a:ext cx="237744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Faster productivity</a:t>
            </a:r>
            <a:endParaRPr lang="en-US" sz="1400" dirty="0"/>
          </a:p>
        </p:txBody>
      </p:sp>
      <p:sp>
        <p:nvSpPr>
          <p:cNvPr id="18" name="Shape 16"/>
          <p:cNvSpPr/>
          <p:nvPr/>
        </p:nvSpPr>
        <p:spPr>
          <a:xfrm>
            <a:off x="3703320" y="3154680"/>
            <a:ext cx="1737360" cy="0"/>
          </a:xfrm>
          <a:prstGeom prst="line">
            <a:avLst/>
          </a:prstGeom>
          <a:noFill/>
          <a:ln w="6350">
            <a:solidFill>
              <a:srgbClr val="5B6582"/>
            </a:solidFill>
            <a:prstDash val="solid"/>
          </a:ln>
        </p:spPr>
        <p:txBody>
          <a:bodyPr/>
          <a:lstStyle/>
          <a:p>
            <a:endParaRPr lang="en-IN"/>
          </a:p>
        </p:txBody>
      </p:sp>
      <p:sp>
        <p:nvSpPr>
          <p:cNvPr id="19" name="Text 17"/>
          <p:cNvSpPr/>
          <p:nvPr/>
        </p:nvSpPr>
        <p:spPr>
          <a:xfrm>
            <a:off x="3429000" y="3291840"/>
            <a:ext cx="2331720" cy="1280160"/>
          </a:xfrm>
          <a:prstGeom prst="rect">
            <a:avLst/>
          </a:prstGeom>
          <a:noFill/>
          <a:ln/>
        </p:spPr>
        <p:txBody>
          <a:bodyPr wrap="square" lIns="0" tIns="0" rIns="0" bIns="0" rtlCol="0" anchor="t"/>
          <a:lstStyle/>
          <a:p>
            <a:pPr marL="0" indent="0" algn="l">
              <a:buNone/>
            </a:pPr>
            <a:r>
              <a:rPr lang="en-US" sz="1050" dirty="0">
                <a:solidFill>
                  <a:srgbClr val="1A1A2E"/>
                </a:solidFill>
                <a:latin typeface="Calibri" pitchFamily="34" charset="0"/>
                <a:ea typeface="Calibri" pitchFamily="34" charset="-122"/>
                <a:cs typeface="Calibri" pitchFamily="34" charset="-120"/>
              </a:rPr>
              <a:t>Ask for explanations · Edit when changing one file · Agent for full test scaffolds across multiple specs.</a:t>
            </a:r>
            <a:endParaRPr lang="en-US" sz="1050" dirty="0"/>
          </a:p>
        </p:txBody>
      </p:sp>
      <p:sp>
        <p:nvSpPr>
          <p:cNvPr id="20" name="Shape 18"/>
          <p:cNvSpPr/>
          <p:nvPr/>
        </p:nvSpPr>
        <p:spPr>
          <a:xfrm>
            <a:off x="6035040" y="1280160"/>
            <a:ext cx="2651760" cy="3337560"/>
          </a:xfrm>
          <a:prstGeom prst="rect">
            <a:avLst/>
          </a:prstGeom>
          <a:solidFill>
            <a:srgbClr val="F7F9FC"/>
          </a:solidFill>
          <a:ln w="12700">
            <a:solidFill>
              <a:srgbClr val="F7F9FC"/>
            </a:solidFill>
            <a:prstDash val="solid"/>
          </a:ln>
        </p:spPr>
        <p:txBody>
          <a:bodyPr/>
          <a:lstStyle/>
          <a:p>
            <a:endParaRPr lang="en-IN"/>
          </a:p>
        </p:txBody>
      </p:sp>
      <p:sp>
        <p:nvSpPr>
          <p:cNvPr id="21" name="Shape 19"/>
          <p:cNvSpPr/>
          <p:nvPr/>
        </p:nvSpPr>
        <p:spPr>
          <a:xfrm>
            <a:off x="6035040" y="1280160"/>
            <a:ext cx="2651760" cy="914400"/>
          </a:xfrm>
          <a:prstGeom prst="rect">
            <a:avLst/>
          </a:prstGeom>
          <a:solidFill>
            <a:srgbClr val="7C4DFF"/>
          </a:solidFill>
          <a:ln w="12700">
            <a:solidFill>
              <a:srgbClr val="7C4DFF"/>
            </a:solidFill>
            <a:prstDash val="solid"/>
          </a:ln>
        </p:spPr>
        <p:txBody>
          <a:bodyPr/>
          <a:lstStyle/>
          <a:p>
            <a:endParaRPr lang="en-IN"/>
          </a:p>
        </p:txBody>
      </p:sp>
      <p:sp>
        <p:nvSpPr>
          <p:cNvPr id="22" name="Text 20"/>
          <p:cNvSpPr/>
          <p:nvPr/>
        </p:nvSpPr>
        <p:spPr>
          <a:xfrm>
            <a:off x="6035040" y="1371600"/>
            <a:ext cx="2651760" cy="457200"/>
          </a:xfrm>
          <a:prstGeom prst="rect">
            <a:avLst/>
          </a:prstGeom>
          <a:noFill/>
          <a:ln/>
        </p:spPr>
        <p:txBody>
          <a:bodyPr wrap="square" lIns="0" tIns="0" rIns="0" bIns="0"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23" name="Text 21"/>
          <p:cNvSpPr/>
          <p:nvPr/>
        </p:nvSpPr>
        <p:spPr>
          <a:xfrm>
            <a:off x="6126480" y="1828800"/>
            <a:ext cx="24688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Follow safe prompting</a:t>
            </a:r>
            <a:endParaRPr lang="en-US" sz="1300" dirty="0"/>
          </a:p>
        </p:txBody>
      </p:sp>
      <p:sp>
        <p:nvSpPr>
          <p:cNvPr id="24" name="Text 22"/>
          <p:cNvSpPr/>
          <p:nvPr/>
        </p:nvSpPr>
        <p:spPr>
          <a:xfrm>
            <a:off x="6035040" y="2286000"/>
            <a:ext cx="2651760" cy="365760"/>
          </a:xfrm>
          <a:prstGeom prst="rect">
            <a:avLst/>
          </a:prstGeom>
          <a:noFill/>
          <a:ln/>
        </p:spPr>
        <p:txBody>
          <a:bodyPr wrap="square" lIns="0" tIns="0" rIns="0" bIns="0" rtlCol="0" anchor="ctr"/>
          <a:lstStyle/>
          <a:p>
            <a:pPr marL="0" indent="0" algn="ctr">
              <a:buNone/>
            </a:pPr>
            <a:r>
              <a:rPr lang="en-US" sz="2200" b="1" dirty="0">
                <a:solidFill>
                  <a:srgbClr val="F5B700"/>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6172200" y="2697480"/>
            <a:ext cx="237744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Protect data &amp; stability</a:t>
            </a:r>
            <a:endParaRPr lang="en-US" sz="1400" dirty="0"/>
          </a:p>
        </p:txBody>
      </p:sp>
      <p:sp>
        <p:nvSpPr>
          <p:cNvPr id="26" name="Shape 24"/>
          <p:cNvSpPr/>
          <p:nvPr/>
        </p:nvSpPr>
        <p:spPr>
          <a:xfrm>
            <a:off x="6492240" y="3154680"/>
            <a:ext cx="1737360" cy="0"/>
          </a:xfrm>
          <a:prstGeom prst="line">
            <a:avLst/>
          </a:prstGeom>
          <a:noFill/>
          <a:ln w="6350">
            <a:solidFill>
              <a:srgbClr val="5B6582"/>
            </a:solidFill>
            <a:prstDash val="solid"/>
          </a:ln>
        </p:spPr>
        <p:txBody>
          <a:bodyPr/>
          <a:lstStyle/>
          <a:p>
            <a:endParaRPr lang="en-IN"/>
          </a:p>
        </p:txBody>
      </p:sp>
      <p:sp>
        <p:nvSpPr>
          <p:cNvPr id="27" name="Text 25"/>
          <p:cNvSpPr/>
          <p:nvPr/>
        </p:nvSpPr>
        <p:spPr>
          <a:xfrm>
            <a:off x="6217920" y="3291840"/>
            <a:ext cx="2331720" cy="1280160"/>
          </a:xfrm>
          <a:prstGeom prst="rect">
            <a:avLst/>
          </a:prstGeom>
          <a:noFill/>
          <a:ln/>
        </p:spPr>
        <p:txBody>
          <a:bodyPr wrap="square" lIns="0" tIns="0" rIns="0" bIns="0" rtlCol="0" anchor="t"/>
          <a:lstStyle/>
          <a:p>
            <a:pPr marL="0" indent="0" algn="l">
              <a:buNone/>
            </a:pPr>
            <a:r>
              <a:rPr lang="en-US" sz="1050" dirty="0">
                <a:solidFill>
                  <a:srgbClr val="1A1A2E"/>
                </a:solidFill>
                <a:latin typeface="Calibri" pitchFamily="34" charset="0"/>
                <a:ea typeface="Calibri" pitchFamily="34" charset="-122"/>
                <a:cs typeface="Calibri" pitchFamily="34" charset="-120"/>
              </a:rPr>
              <a:t>Never paste production tokens, real auth headers, or live customer IDs. Use stub values for examples.</a:t>
            </a:r>
            <a:endParaRPr lang="en-US" sz="1050" dirty="0"/>
          </a:p>
        </p:txBody>
      </p:sp>
      <p:sp>
        <p:nvSpPr>
          <p:cNvPr id="28" name="Text 26"/>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29" name="Text 27"/>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Tips  &amp;  Tricks for API Testing</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Things that make Copilot generate sharper, more useful API test code</a:t>
            </a:r>
            <a:endParaRPr lang="en-US" sz="1300" dirty="0"/>
          </a:p>
        </p:txBody>
      </p:sp>
      <p:sp>
        <p:nvSpPr>
          <p:cNvPr id="4" name="Shape 2"/>
          <p:cNvSpPr/>
          <p:nvPr/>
        </p:nvSpPr>
        <p:spPr>
          <a:xfrm>
            <a:off x="457200" y="1188720"/>
            <a:ext cx="4023360" cy="1051560"/>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457200" y="1188720"/>
            <a:ext cx="73152" cy="1051560"/>
          </a:xfrm>
          <a:prstGeom prst="rect">
            <a:avLst/>
          </a:prstGeom>
          <a:solidFill>
            <a:srgbClr val="7C4DFF"/>
          </a:solidFill>
          <a:ln w="12700">
            <a:solidFill>
              <a:srgbClr val="7C4DFF"/>
            </a:solidFill>
            <a:prstDash val="solid"/>
          </a:ln>
        </p:spPr>
        <p:txBody>
          <a:bodyPr/>
          <a:lstStyle/>
          <a:p>
            <a:endParaRPr lang="en-IN"/>
          </a:p>
        </p:txBody>
      </p:sp>
      <p:sp>
        <p:nvSpPr>
          <p:cNvPr id="6" name="Text 4"/>
          <p:cNvSpPr/>
          <p:nvPr/>
        </p:nvSpPr>
        <p:spPr>
          <a:xfrm>
            <a:off x="640080" y="1261872"/>
            <a:ext cx="457200" cy="36576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143000" y="1261872"/>
            <a:ext cx="32461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Paste real API specs</a:t>
            </a:r>
            <a:endParaRPr lang="en-US" sz="1200" dirty="0"/>
          </a:p>
        </p:txBody>
      </p:sp>
      <p:sp>
        <p:nvSpPr>
          <p:cNvPr id="8" name="Text 6"/>
          <p:cNvSpPr/>
          <p:nvPr/>
        </p:nvSpPr>
        <p:spPr>
          <a:xfrm>
            <a:off x="640080" y="1645920"/>
            <a:ext cx="3749040" cy="54864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OpenAPI snippet, Postman screenshot, or 5 lines of "POST /x with body { ... } → returns 201" — all work.</a:t>
            </a:r>
            <a:endParaRPr lang="en-US" sz="1050" dirty="0"/>
          </a:p>
        </p:txBody>
      </p:sp>
      <p:sp>
        <p:nvSpPr>
          <p:cNvPr id="9" name="Shape 7"/>
          <p:cNvSpPr/>
          <p:nvPr/>
        </p:nvSpPr>
        <p:spPr>
          <a:xfrm>
            <a:off x="4617720" y="1188720"/>
            <a:ext cx="4023360" cy="1051560"/>
          </a:xfrm>
          <a:prstGeom prst="rect">
            <a:avLst/>
          </a:prstGeom>
          <a:solidFill>
            <a:srgbClr val="F7F9FC"/>
          </a:solidFill>
          <a:ln w="12700">
            <a:solidFill>
              <a:srgbClr val="F7F9FC"/>
            </a:solidFill>
            <a:prstDash val="solid"/>
          </a:ln>
        </p:spPr>
        <p:txBody>
          <a:bodyPr/>
          <a:lstStyle/>
          <a:p>
            <a:endParaRPr lang="en-IN"/>
          </a:p>
        </p:txBody>
      </p:sp>
      <p:sp>
        <p:nvSpPr>
          <p:cNvPr id="10" name="Shape 8"/>
          <p:cNvSpPr/>
          <p:nvPr/>
        </p:nvSpPr>
        <p:spPr>
          <a:xfrm>
            <a:off x="4617720" y="1188720"/>
            <a:ext cx="73152" cy="1051560"/>
          </a:xfrm>
          <a:prstGeom prst="rect">
            <a:avLst/>
          </a:prstGeom>
          <a:solidFill>
            <a:srgbClr val="7C4DFF"/>
          </a:solidFill>
          <a:ln w="12700">
            <a:solidFill>
              <a:srgbClr val="7C4DFF"/>
            </a:solidFill>
            <a:prstDash val="solid"/>
          </a:ln>
        </p:spPr>
        <p:txBody>
          <a:bodyPr/>
          <a:lstStyle/>
          <a:p>
            <a:endParaRPr lang="en-IN"/>
          </a:p>
        </p:txBody>
      </p:sp>
      <p:sp>
        <p:nvSpPr>
          <p:cNvPr id="11" name="Text 9"/>
          <p:cNvSpPr/>
          <p:nvPr/>
        </p:nvSpPr>
        <p:spPr>
          <a:xfrm>
            <a:off x="4800600" y="1261872"/>
            <a:ext cx="457200" cy="36576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5303520" y="1261872"/>
            <a:ext cx="32461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Ask for negative cases too</a:t>
            </a:r>
            <a:endParaRPr lang="en-US" sz="1200" dirty="0"/>
          </a:p>
        </p:txBody>
      </p:sp>
      <p:sp>
        <p:nvSpPr>
          <p:cNvPr id="13" name="Text 11"/>
          <p:cNvSpPr/>
          <p:nvPr/>
        </p:nvSpPr>
        <p:spPr>
          <a:xfrm>
            <a:off x="4800600" y="1645920"/>
            <a:ext cx="3749040" cy="54864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"also write tests for 401 unauthorized and 422 invalid body" — full coverage in one prompt.</a:t>
            </a:r>
            <a:endParaRPr lang="en-US" sz="1050" dirty="0"/>
          </a:p>
        </p:txBody>
      </p:sp>
      <p:sp>
        <p:nvSpPr>
          <p:cNvPr id="14" name="Shape 12"/>
          <p:cNvSpPr/>
          <p:nvPr/>
        </p:nvSpPr>
        <p:spPr>
          <a:xfrm>
            <a:off x="457200" y="2331720"/>
            <a:ext cx="4023360" cy="105156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457200" y="2331720"/>
            <a:ext cx="73152" cy="1051560"/>
          </a:xfrm>
          <a:prstGeom prst="rect">
            <a:avLst/>
          </a:prstGeom>
          <a:solidFill>
            <a:srgbClr val="7C4DFF"/>
          </a:solidFill>
          <a:ln w="12700">
            <a:solidFill>
              <a:srgbClr val="7C4DFF"/>
            </a:solidFill>
            <a:prstDash val="solid"/>
          </a:ln>
        </p:spPr>
        <p:txBody>
          <a:bodyPr/>
          <a:lstStyle/>
          <a:p>
            <a:endParaRPr lang="en-IN"/>
          </a:p>
        </p:txBody>
      </p:sp>
      <p:sp>
        <p:nvSpPr>
          <p:cNvPr id="16" name="Text 14"/>
          <p:cNvSpPr/>
          <p:nvPr/>
        </p:nvSpPr>
        <p:spPr>
          <a:xfrm>
            <a:off x="640080" y="2404872"/>
            <a:ext cx="457200" cy="36576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143000" y="2404872"/>
            <a:ext cx="32461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Generate stub + real test pair</a:t>
            </a:r>
            <a:endParaRPr lang="en-US" sz="1200" dirty="0"/>
          </a:p>
        </p:txBody>
      </p:sp>
      <p:sp>
        <p:nvSpPr>
          <p:cNvPr id="18" name="Text 16"/>
          <p:cNvSpPr/>
          <p:nvPr/>
        </p:nvSpPr>
        <p:spPr>
          <a:xfrm>
            <a:off x="640080" y="2788920"/>
            <a:ext cx="3749040" cy="54864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"write the same test twice: one with cy.intercept stubbing, one with cy.request hitting the real API."</a:t>
            </a:r>
            <a:endParaRPr lang="en-US" sz="1050" dirty="0"/>
          </a:p>
        </p:txBody>
      </p:sp>
      <p:sp>
        <p:nvSpPr>
          <p:cNvPr id="19" name="Shape 17"/>
          <p:cNvSpPr/>
          <p:nvPr/>
        </p:nvSpPr>
        <p:spPr>
          <a:xfrm>
            <a:off x="4617720" y="2331720"/>
            <a:ext cx="4023360" cy="105156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617720" y="2331720"/>
            <a:ext cx="73152" cy="1051560"/>
          </a:xfrm>
          <a:prstGeom prst="rect">
            <a:avLst/>
          </a:prstGeom>
          <a:solidFill>
            <a:srgbClr val="7C4DFF"/>
          </a:solidFill>
          <a:ln w="12700">
            <a:solidFill>
              <a:srgbClr val="7C4DFF"/>
            </a:solidFill>
            <a:prstDash val="solid"/>
          </a:ln>
        </p:spPr>
        <p:txBody>
          <a:bodyPr/>
          <a:lstStyle/>
          <a:p>
            <a:endParaRPr lang="en-IN"/>
          </a:p>
        </p:txBody>
      </p:sp>
      <p:sp>
        <p:nvSpPr>
          <p:cNvPr id="21" name="Text 19"/>
          <p:cNvSpPr/>
          <p:nvPr/>
        </p:nvSpPr>
        <p:spPr>
          <a:xfrm>
            <a:off x="4800600" y="2404872"/>
            <a:ext cx="457200" cy="36576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5303520" y="2404872"/>
            <a:ext cx="32461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Mention the auth pattern</a:t>
            </a:r>
            <a:endParaRPr lang="en-US" sz="1200" dirty="0"/>
          </a:p>
        </p:txBody>
      </p:sp>
      <p:sp>
        <p:nvSpPr>
          <p:cNvPr id="23" name="Text 21"/>
          <p:cNvSpPr/>
          <p:nvPr/>
        </p:nvSpPr>
        <p:spPr>
          <a:xfrm>
            <a:off x="4800600" y="2788920"/>
            <a:ext cx="3749040" cy="54864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"Bearer token in Authorization header" vs "cookie-based session" — Copilot picks the right code.</a:t>
            </a:r>
            <a:endParaRPr lang="en-US" sz="1050" dirty="0"/>
          </a:p>
        </p:txBody>
      </p:sp>
      <p:sp>
        <p:nvSpPr>
          <p:cNvPr id="24" name="Shape 22"/>
          <p:cNvSpPr/>
          <p:nvPr/>
        </p:nvSpPr>
        <p:spPr>
          <a:xfrm>
            <a:off x="457200" y="3474720"/>
            <a:ext cx="4023360" cy="1051560"/>
          </a:xfrm>
          <a:prstGeom prst="rect">
            <a:avLst/>
          </a:prstGeom>
          <a:solidFill>
            <a:srgbClr val="F7F9FC"/>
          </a:solidFill>
          <a:ln w="12700">
            <a:solidFill>
              <a:srgbClr val="F7F9FC"/>
            </a:solidFill>
            <a:prstDash val="solid"/>
          </a:ln>
        </p:spPr>
        <p:txBody>
          <a:bodyPr/>
          <a:lstStyle/>
          <a:p>
            <a:endParaRPr lang="en-IN"/>
          </a:p>
        </p:txBody>
      </p:sp>
      <p:sp>
        <p:nvSpPr>
          <p:cNvPr id="25" name="Shape 23"/>
          <p:cNvSpPr/>
          <p:nvPr/>
        </p:nvSpPr>
        <p:spPr>
          <a:xfrm>
            <a:off x="457200" y="3474720"/>
            <a:ext cx="73152" cy="1051560"/>
          </a:xfrm>
          <a:prstGeom prst="rect">
            <a:avLst/>
          </a:prstGeom>
          <a:solidFill>
            <a:srgbClr val="7C4DFF"/>
          </a:solidFill>
          <a:ln w="12700">
            <a:solidFill>
              <a:srgbClr val="7C4DFF"/>
            </a:solidFill>
            <a:prstDash val="solid"/>
          </a:ln>
        </p:spPr>
        <p:txBody>
          <a:bodyPr/>
          <a:lstStyle/>
          <a:p>
            <a:endParaRPr lang="en-IN"/>
          </a:p>
        </p:txBody>
      </p:sp>
      <p:sp>
        <p:nvSpPr>
          <p:cNvPr id="26" name="Text 24"/>
          <p:cNvSpPr/>
          <p:nvPr/>
        </p:nvSpPr>
        <p:spPr>
          <a:xfrm>
            <a:off x="640080" y="3547872"/>
            <a:ext cx="457200" cy="36576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1143000" y="3547872"/>
            <a:ext cx="32461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Reuse via Cypress commands</a:t>
            </a:r>
            <a:endParaRPr lang="en-US" sz="1200" dirty="0"/>
          </a:p>
        </p:txBody>
      </p:sp>
      <p:sp>
        <p:nvSpPr>
          <p:cNvPr id="28" name="Text 26"/>
          <p:cNvSpPr/>
          <p:nvPr/>
        </p:nvSpPr>
        <p:spPr>
          <a:xfrm>
            <a:off x="640080" y="3931920"/>
            <a:ext cx="3749040" cy="54864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"wrap this cy.request login into a custom command cy.apiLogin()" — testable, reusable.</a:t>
            </a:r>
            <a:endParaRPr lang="en-US" sz="1050" dirty="0"/>
          </a:p>
        </p:txBody>
      </p:sp>
      <p:sp>
        <p:nvSpPr>
          <p:cNvPr id="29" name="Shape 27"/>
          <p:cNvSpPr/>
          <p:nvPr/>
        </p:nvSpPr>
        <p:spPr>
          <a:xfrm>
            <a:off x="4617720" y="3474720"/>
            <a:ext cx="4023360" cy="1051560"/>
          </a:xfrm>
          <a:prstGeom prst="rect">
            <a:avLst/>
          </a:prstGeom>
          <a:solidFill>
            <a:srgbClr val="F7F9FC"/>
          </a:solidFill>
          <a:ln w="12700">
            <a:solidFill>
              <a:srgbClr val="F7F9FC"/>
            </a:solidFill>
            <a:prstDash val="solid"/>
          </a:ln>
        </p:spPr>
        <p:txBody>
          <a:bodyPr/>
          <a:lstStyle/>
          <a:p>
            <a:endParaRPr lang="en-IN"/>
          </a:p>
        </p:txBody>
      </p:sp>
      <p:sp>
        <p:nvSpPr>
          <p:cNvPr id="30" name="Shape 28"/>
          <p:cNvSpPr/>
          <p:nvPr/>
        </p:nvSpPr>
        <p:spPr>
          <a:xfrm>
            <a:off x="4617720" y="3474720"/>
            <a:ext cx="73152" cy="1051560"/>
          </a:xfrm>
          <a:prstGeom prst="rect">
            <a:avLst/>
          </a:prstGeom>
          <a:solidFill>
            <a:srgbClr val="7C4DFF"/>
          </a:solidFill>
          <a:ln w="12700">
            <a:solidFill>
              <a:srgbClr val="7C4DFF"/>
            </a:solidFill>
            <a:prstDash val="solid"/>
          </a:ln>
        </p:spPr>
        <p:txBody>
          <a:bodyPr/>
          <a:lstStyle/>
          <a:p>
            <a:endParaRPr lang="en-IN"/>
          </a:p>
        </p:txBody>
      </p:sp>
      <p:sp>
        <p:nvSpPr>
          <p:cNvPr id="31" name="Text 29"/>
          <p:cNvSpPr/>
          <p:nvPr/>
        </p:nvSpPr>
        <p:spPr>
          <a:xfrm>
            <a:off x="4800600" y="3547872"/>
            <a:ext cx="457200" cy="365760"/>
          </a:xfrm>
          <a:prstGeom prst="rect">
            <a:avLst/>
          </a:prstGeom>
          <a:noFill/>
          <a:ln/>
        </p:spPr>
        <p:txBody>
          <a:bodyPr wrap="square" lIns="0" tIns="0" rIns="0" bIns="0" rtlCol="0" anchor="ctr"/>
          <a:lstStyle/>
          <a:p>
            <a:pPr marL="0" indent="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Text 30"/>
          <p:cNvSpPr/>
          <p:nvPr/>
        </p:nvSpPr>
        <p:spPr>
          <a:xfrm>
            <a:off x="5303520" y="3547872"/>
            <a:ext cx="32461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Ask for schema assertions</a:t>
            </a:r>
            <a:endParaRPr lang="en-US" sz="1200" dirty="0"/>
          </a:p>
        </p:txBody>
      </p:sp>
      <p:sp>
        <p:nvSpPr>
          <p:cNvPr id="33" name="Text 31"/>
          <p:cNvSpPr/>
          <p:nvPr/>
        </p:nvSpPr>
        <p:spPr>
          <a:xfrm>
            <a:off x="4800600" y="3931920"/>
            <a:ext cx="3749040" cy="54864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"assert the response matches schema: id (number), name (string), roles (array)" → strong contract tests.</a:t>
            </a:r>
            <a:endParaRPr lang="en-US" sz="1050" dirty="0"/>
          </a:p>
        </p:txBody>
      </p:sp>
      <p:sp>
        <p:nvSpPr>
          <p:cNvPr id="34" name="Text 32"/>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35" name="Text 33"/>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412480" cy="5029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Best Practices</a:t>
            </a:r>
            <a:endParaRPr lang="en-US" sz="30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300" i="1" dirty="0">
                <a:solidFill>
                  <a:srgbClr val="5B6582"/>
                </a:solidFill>
                <a:latin typeface="Calibri" pitchFamily="34" charset="0"/>
                <a:ea typeface="Calibri" pitchFamily="34" charset="-122"/>
                <a:cs typeface="Calibri" pitchFamily="34" charset="-120"/>
              </a:rPr>
              <a:t>Habits that keep API tests reliable, fast, and trustworthy in real projects</a:t>
            </a:r>
            <a:endParaRPr lang="en-US" sz="1300" dirty="0"/>
          </a:p>
        </p:txBody>
      </p:sp>
      <p:sp>
        <p:nvSpPr>
          <p:cNvPr id="4" name="Shape 2"/>
          <p:cNvSpPr/>
          <p:nvPr/>
        </p:nvSpPr>
        <p:spPr>
          <a:xfrm>
            <a:off x="457200" y="1188720"/>
            <a:ext cx="8229600" cy="365760"/>
          </a:xfrm>
          <a:prstGeom prst="rect">
            <a:avLst/>
          </a:prstGeom>
          <a:solidFill>
            <a:srgbClr val="1E2761"/>
          </a:solidFill>
          <a:ln w="12700">
            <a:solidFill>
              <a:srgbClr val="1E2761"/>
            </a:solidFill>
            <a:prstDash val="solid"/>
          </a:ln>
        </p:spPr>
        <p:txBody>
          <a:bodyPr/>
          <a:lstStyle/>
          <a:p>
            <a:endParaRPr lang="en-IN"/>
          </a:p>
        </p:txBody>
      </p:sp>
      <p:sp>
        <p:nvSpPr>
          <p:cNvPr id="5" name="Text 3"/>
          <p:cNvSpPr/>
          <p:nvPr/>
        </p:nvSpPr>
        <p:spPr>
          <a:xfrm>
            <a:off x="548640" y="1188720"/>
            <a:ext cx="4023360" cy="365760"/>
          </a:xfrm>
          <a:prstGeom prst="rect">
            <a:avLst/>
          </a:prstGeom>
          <a:noFill/>
          <a:ln/>
        </p:spPr>
        <p:txBody>
          <a:bodyPr wrap="square" lIns="0" tIns="0" rIns="0" bIns="0" rtlCol="0" anchor="ctr"/>
          <a:lstStyle/>
          <a:p>
            <a:pPr marL="0" indent="0">
              <a:buNone/>
            </a:pPr>
            <a:r>
              <a:rPr lang="en-US" sz="1100" b="1" kern="0" spc="400" dirty="0">
                <a:solidFill>
                  <a:srgbClr val="E8F5E9"/>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4663440" y="1188720"/>
            <a:ext cx="4023360" cy="365760"/>
          </a:xfrm>
          <a:prstGeom prst="rect">
            <a:avLst/>
          </a:prstGeom>
          <a:noFill/>
          <a:ln/>
        </p:spPr>
        <p:txBody>
          <a:bodyPr wrap="square" lIns="0" tIns="0" rIns="0" bIns="0" rtlCol="0" anchor="ctr"/>
          <a:lstStyle/>
          <a:p>
            <a:pPr marL="0" indent="0">
              <a:buNone/>
            </a:pPr>
            <a:r>
              <a:rPr lang="en-US" sz="1100" b="1" kern="0" spc="400" dirty="0">
                <a:solidFill>
                  <a:srgbClr val="FFCDD2"/>
                </a:solidFill>
                <a:latin typeface="Calibri" pitchFamily="34" charset="0"/>
                <a:ea typeface="Calibri" pitchFamily="34" charset="-122"/>
                <a:cs typeface="Calibri" pitchFamily="34" charset="-120"/>
              </a:rPr>
              <a:t>DON'T</a:t>
            </a:r>
            <a:endParaRPr lang="en-US" sz="1100" dirty="0"/>
          </a:p>
        </p:txBody>
      </p:sp>
      <p:sp>
        <p:nvSpPr>
          <p:cNvPr id="7" name="Shape 5"/>
          <p:cNvSpPr/>
          <p:nvPr/>
        </p:nvSpPr>
        <p:spPr>
          <a:xfrm>
            <a:off x="457200" y="1554480"/>
            <a:ext cx="8229600" cy="420624"/>
          </a:xfrm>
          <a:prstGeom prst="rect">
            <a:avLst/>
          </a:prstGeom>
          <a:solidFill>
            <a:srgbClr val="F7F9FC"/>
          </a:solidFill>
          <a:ln w="12700">
            <a:solidFill>
              <a:srgbClr val="F7F9FC"/>
            </a:solidFill>
            <a:prstDash val="solid"/>
          </a:ln>
        </p:spPr>
        <p:txBody>
          <a:bodyPr/>
          <a:lstStyle/>
          <a:p>
            <a:endParaRPr lang="en-IN"/>
          </a:p>
        </p:txBody>
      </p:sp>
      <p:sp>
        <p:nvSpPr>
          <p:cNvPr id="8" name="Text 6"/>
          <p:cNvSpPr/>
          <p:nvPr/>
        </p:nvSpPr>
        <p:spPr>
          <a:xfrm>
            <a:off x="548640" y="1554480"/>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868680" y="1554480"/>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Use cy.request for setup (login, seed data)</a:t>
            </a:r>
            <a:endParaRPr lang="en-US" sz="1100" dirty="0"/>
          </a:p>
        </p:txBody>
      </p:sp>
      <p:sp>
        <p:nvSpPr>
          <p:cNvPr id="10" name="Text 8"/>
          <p:cNvSpPr/>
          <p:nvPr/>
        </p:nvSpPr>
        <p:spPr>
          <a:xfrm>
            <a:off x="4754880" y="1554480"/>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5074920" y="1554480"/>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Click through the UI just to set state</a:t>
            </a:r>
            <a:endParaRPr lang="en-US" sz="1100" dirty="0"/>
          </a:p>
        </p:txBody>
      </p:sp>
      <p:sp>
        <p:nvSpPr>
          <p:cNvPr id="12" name="Shape 10"/>
          <p:cNvSpPr/>
          <p:nvPr/>
        </p:nvSpPr>
        <p:spPr>
          <a:xfrm>
            <a:off x="457200" y="1975104"/>
            <a:ext cx="8229600" cy="420624"/>
          </a:xfrm>
          <a:prstGeom prst="rect">
            <a:avLst/>
          </a:prstGeom>
          <a:solidFill>
            <a:srgbClr val="FFFFFF"/>
          </a:solidFill>
          <a:ln w="12700">
            <a:solidFill>
              <a:srgbClr val="FFFFFF"/>
            </a:solidFill>
            <a:prstDash val="solid"/>
          </a:ln>
        </p:spPr>
        <p:txBody>
          <a:bodyPr/>
          <a:lstStyle/>
          <a:p>
            <a:endParaRPr lang="en-IN"/>
          </a:p>
        </p:txBody>
      </p:sp>
      <p:sp>
        <p:nvSpPr>
          <p:cNvPr id="13" name="Text 11"/>
          <p:cNvSpPr/>
          <p:nvPr/>
        </p:nvSpPr>
        <p:spPr>
          <a:xfrm>
            <a:off x="548640" y="1975104"/>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68680" y="1975104"/>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Assert status AND body — both matter</a:t>
            </a:r>
            <a:endParaRPr lang="en-US" sz="1100" dirty="0"/>
          </a:p>
        </p:txBody>
      </p:sp>
      <p:sp>
        <p:nvSpPr>
          <p:cNvPr id="15" name="Text 13"/>
          <p:cNvSpPr/>
          <p:nvPr/>
        </p:nvSpPr>
        <p:spPr>
          <a:xfrm>
            <a:off x="4754880" y="1975104"/>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5074920" y="1975104"/>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Stop at status 200 — bodies can be wrong</a:t>
            </a:r>
            <a:endParaRPr lang="en-US" sz="1100" dirty="0"/>
          </a:p>
        </p:txBody>
      </p:sp>
      <p:sp>
        <p:nvSpPr>
          <p:cNvPr id="17" name="Shape 15"/>
          <p:cNvSpPr/>
          <p:nvPr/>
        </p:nvSpPr>
        <p:spPr>
          <a:xfrm>
            <a:off x="457200" y="2395728"/>
            <a:ext cx="8229600" cy="420624"/>
          </a:xfrm>
          <a:prstGeom prst="rect">
            <a:avLst/>
          </a:prstGeom>
          <a:solidFill>
            <a:srgbClr val="F7F9FC"/>
          </a:solidFill>
          <a:ln w="12700">
            <a:solidFill>
              <a:srgbClr val="F7F9FC"/>
            </a:solidFill>
            <a:prstDash val="solid"/>
          </a:ln>
        </p:spPr>
        <p:txBody>
          <a:bodyPr/>
          <a:lstStyle/>
          <a:p>
            <a:endParaRPr lang="en-IN"/>
          </a:p>
        </p:txBody>
      </p:sp>
      <p:sp>
        <p:nvSpPr>
          <p:cNvPr id="18" name="Text 16"/>
          <p:cNvSpPr/>
          <p:nvPr/>
        </p:nvSpPr>
        <p:spPr>
          <a:xfrm>
            <a:off x="548640" y="2395728"/>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68680" y="2395728"/>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Stub external APIs you don't control</a:t>
            </a:r>
            <a:endParaRPr lang="en-US" sz="1100" dirty="0"/>
          </a:p>
        </p:txBody>
      </p:sp>
      <p:sp>
        <p:nvSpPr>
          <p:cNvPr id="20" name="Text 18"/>
          <p:cNvSpPr/>
          <p:nvPr/>
        </p:nvSpPr>
        <p:spPr>
          <a:xfrm>
            <a:off x="4754880" y="2395728"/>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5074920" y="2395728"/>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Let a third-party 500 fail your tests</a:t>
            </a:r>
            <a:endParaRPr lang="en-US" sz="1100" dirty="0"/>
          </a:p>
        </p:txBody>
      </p:sp>
      <p:sp>
        <p:nvSpPr>
          <p:cNvPr id="22" name="Shape 20"/>
          <p:cNvSpPr/>
          <p:nvPr/>
        </p:nvSpPr>
        <p:spPr>
          <a:xfrm>
            <a:off x="457200" y="2816352"/>
            <a:ext cx="8229600" cy="420624"/>
          </a:xfrm>
          <a:prstGeom prst="rect">
            <a:avLst/>
          </a:prstGeom>
          <a:solidFill>
            <a:srgbClr val="FFFFFF"/>
          </a:solidFill>
          <a:ln w="12700">
            <a:solidFill>
              <a:srgbClr val="FFFFFF"/>
            </a:solidFill>
            <a:prstDash val="solid"/>
          </a:ln>
        </p:spPr>
        <p:txBody>
          <a:bodyPr/>
          <a:lstStyle/>
          <a:p>
            <a:endParaRPr lang="en-IN"/>
          </a:p>
        </p:txBody>
      </p:sp>
      <p:sp>
        <p:nvSpPr>
          <p:cNvPr id="23" name="Text 21"/>
          <p:cNvSpPr/>
          <p:nvPr/>
        </p:nvSpPr>
        <p:spPr>
          <a:xfrm>
            <a:off x="548640" y="2816352"/>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868680" y="2816352"/>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Test happy AND error paths (401, 422, 500)</a:t>
            </a:r>
            <a:endParaRPr lang="en-US" sz="1100" dirty="0"/>
          </a:p>
        </p:txBody>
      </p:sp>
      <p:sp>
        <p:nvSpPr>
          <p:cNvPr id="25" name="Text 23"/>
          <p:cNvSpPr/>
          <p:nvPr/>
        </p:nvSpPr>
        <p:spPr>
          <a:xfrm>
            <a:off x="4754880" y="2816352"/>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5074920" y="2816352"/>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Only assert the success case</a:t>
            </a:r>
            <a:endParaRPr lang="en-US" sz="1100" dirty="0"/>
          </a:p>
        </p:txBody>
      </p:sp>
      <p:sp>
        <p:nvSpPr>
          <p:cNvPr id="27" name="Shape 25"/>
          <p:cNvSpPr/>
          <p:nvPr/>
        </p:nvSpPr>
        <p:spPr>
          <a:xfrm>
            <a:off x="457200" y="3236976"/>
            <a:ext cx="8229600" cy="420624"/>
          </a:xfrm>
          <a:prstGeom prst="rect">
            <a:avLst/>
          </a:prstGeom>
          <a:solidFill>
            <a:srgbClr val="F7F9FC"/>
          </a:solidFill>
          <a:ln w="12700">
            <a:solidFill>
              <a:srgbClr val="F7F9FC"/>
            </a:solidFill>
            <a:prstDash val="solid"/>
          </a:ln>
        </p:spPr>
        <p:txBody>
          <a:bodyPr/>
          <a:lstStyle/>
          <a:p>
            <a:endParaRPr lang="en-IN"/>
          </a:p>
        </p:txBody>
      </p:sp>
      <p:sp>
        <p:nvSpPr>
          <p:cNvPr id="28" name="Text 26"/>
          <p:cNvSpPr/>
          <p:nvPr/>
        </p:nvSpPr>
        <p:spPr>
          <a:xfrm>
            <a:off x="548640" y="3236976"/>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868680" y="3236976"/>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Keep auth tokens in cypress.env.json</a:t>
            </a:r>
            <a:endParaRPr lang="en-US" sz="1100" dirty="0"/>
          </a:p>
        </p:txBody>
      </p:sp>
      <p:sp>
        <p:nvSpPr>
          <p:cNvPr id="30" name="Text 28"/>
          <p:cNvSpPr/>
          <p:nvPr/>
        </p:nvSpPr>
        <p:spPr>
          <a:xfrm>
            <a:off x="4754880" y="3236976"/>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074920" y="3236976"/>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Hardcode Bearer tokens in tests</a:t>
            </a:r>
            <a:endParaRPr lang="en-US" sz="1100" dirty="0"/>
          </a:p>
        </p:txBody>
      </p:sp>
      <p:sp>
        <p:nvSpPr>
          <p:cNvPr id="32" name="Shape 30"/>
          <p:cNvSpPr/>
          <p:nvPr/>
        </p:nvSpPr>
        <p:spPr>
          <a:xfrm>
            <a:off x="457200" y="3657600"/>
            <a:ext cx="8229600" cy="420624"/>
          </a:xfrm>
          <a:prstGeom prst="rect">
            <a:avLst/>
          </a:prstGeom>
          <a:solidFill>
            <a:srgbClr val="FFFFFF"/>
          </a:solidFill>
          <a:ln w="12700">
            <a:solidFill>
              <a:srgbClr val="FFFFFF"/>
            </a:solidFill>
            <a:prstDash val="solid"/>
          </a:ln>
        </p:spPr>
        <p:txBody>
          <a:bodyPr/>
          <a:lstStyle/>
          <a:p>
            <a:endParaRPr lang="en-IN"/>
          </a:p>
        </p:txBody>
      </p:sp>
      <p:sp>
        <p:nvSpPr>
          <p:cNvPr id="33" name="Text 31"/>
          <p:cNvSpPr/>
          <p:nvPr/>
        </p:nvSpPr>
        <p:spPr>
          <a:xfrm>
            <a:off x="548640" y="3657600"/>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868680" y="3657600"/>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Match real API contract — update when it changes</a:t>
            </a:r>
            <a:endParaRPr lang="en-US" sz="1100" dirty="0"/>
          </a:p>
        </p:txBody>
      </p:sp>
      <p:sp>
        <p:nvSpPr>
          <p:cNvPr id="35" name="Text 33"/>
          <p:cNvSpPr/>
          <p:nvPr/>
        </p:nvSpPr>
        <p:spPr>
          <a:xfrm>
            <a:off x="4754880" y="3657600"/>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5074920" y="3657600"/>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Let stubs drift from the actual response shape</a:t>
            </a:r>
            <a:endParaRPr lang="en-US" sz="1100" dirty="0"/>
          </a:p>
        </p:txBody>
      </p:sp>
      <p:sp>
        <p:nvSpPr>
          <p:cNvPr id="37" name="Shape 35"/>
          <p:cNvSpPr/>
          <p:nvPr/>
        </p:nvSpPr>
        <p:spPr>
          <a:xfrm>
            <a:off x="457200" y="4078224"/>
            <a:ext cx="8229600" cy="420624"/>
          </a:xfrm>
          <a:prstGeom prst="rect">
            <a:avLst/>
          </a:prstGeom>
          <a:solidFill>
            <a:srgbClr val="F7F9FC"/>
          </a:solidFill>
          <a:ln w="12700">
            <a:solidFill>
              <a:srgbClr val="F7F9FC"/>
            </a:solidFill>
            <a:prstDash val="solid"/>
          </a:ln>
        </p:spPr>
        <p:txBody>
          <a:bodyPr/>
          <a:lstStyle/>
          <a:p>
            <a:endParaRPr lang="en-IN"/>
          </a:p>
        </p:txBody>
      </p:sp>
      <p:sp>
        <p:nvSpPr>
          <p:cNvPr id="38" name="Text 36"/>
          <p:cNvSpPr/>
          <p:nvPr/>
        </p:nvSpPr>
        <p:spPr>
          <a:xfrm>
            <a:off x="548640" y="4078224"/>
            <a:ext cx="274320" cy="420624"/>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868680" y="4078224"/>
            <a:ext cx="365760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Use Copilot for the boilerplate, verify the contract</a:t>
            </a:r>
            <a:endParaRPr lang="en-US" sz="1100" dirty="0"/>
          </a:p>
        </p:txBody>
      </p:sp>
      <p:sp>
        <p:nvSpPr>
          <p:cNvPr id="40" name="Text 38"/>
          <p:cNvSpPr/>
          <p:nvPr/>
        </p:nvSpPr>
        <p:spPr>
          <a:xfrm>
            <a:off x="4754880" y="4078224"/>
            <a:ext cx="274320" cy="420624"/>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5074920" y="4078224"/>
            <a:ext cx="3520440" cy="420624"/>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Trust Copilot's stub matches your real API</a:t>
            </a:r>
            <a:endParaRPr lang="en-US" sz="1100" dirty="0"/>
          </a:p>
        </p:txBody>
      </p:sp>
      <p:sp>
        <p:nvSpPr>
          <p:cNvPr id="42" name="Text 40"/>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43" name="Text 41"/>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731520" y="2011680"/>
            <a:ext cx="548640" cy="73152"/>
          </a:xfrm>
          <a:prstGeom prst="rect">
            <a:avLst/>
          </a:prstGeom>
          <a:solidFill>
            <a:srgbClr val="7C4DFF"/>
          </a:solidFill>
          <a:ln w="12700">
            <a:solidFill>
              <a:srgbClr val="7C4DFF"/>
            </a:solidFill>
            <a:prstDash val="solid"/>
          </a:ln>
        </p:spPr>
        <p:txBody>
          <a:bodyPr/>
          <a:lstStyle/>
          <a:p>
            <a:endParaRPr lang="en-IN"/>
          </a:p>
        </p:txBody>
      </p:sp>
      <p:sp>
        <p:nvSpPr>
          <p:cNvPr id="3" name="Text 1"/>
          <p:cNvSpPr/>
          <p:nvPr/>
        </p:nvSpPr>
        <p:spPr>
          <a:xfrm>
            <a:off x="731520" y="2148840"/>
            <a:ext cx="8229600" cy="365760"/>
          </a:xfrm>
          <a:prstGeom prst="rect">
            <a:avLst/>
          </a:prstGeom>
          <a:noFill/>
          <a:ln/>
        </p:spPr>
        <p:txBody>
          <a:bodyPr wrap="square" rtlCol="0" anchor="ctr"/>
          <a:lstStyle/>
          <a:p>
            <a:pPr marL="0" indent="0">
              <a:buNone/>
            </a:pPr>
            <a:r>
              <a:rPr lang="en-US" sz="1400" b="1" kern="0" spc="800" dirty="0">
                <a:solidFill>
                  <a:srgbClr val="7C4DFF"/>
                </a:solidFill>
                <a:latin typeface="Calibri" pitchFamily="34" charset="0"/>
                <a:ea typeface="Calibri" pitchFamily="34" charset="-122"/>
                <a:cs typeface="Calibri" pitchFamily="34" charset="-120"/>
              </a:rPr>
              <a:t>QUICK CHECK</a:t>
            </a:r>
            <a:endParaRPr lang="en-US" sz="1400" dirty="0"/>
          </a:p>
        </p:txBody>
      </p:sp>
      <p:sp>
        <p:nvSpPr>
          <p:cNvPr id="4" name="Text 2"/>
          <p:cNvSpPr/>
          <p:nvPr/>
        </p:nvSpPr>
        <p:spPr>
          <a:xfrm>
            <a:off x="731520" y="2560320"/>
            <a:ext cx="8229600" cy="82296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3 Questions — Copilot for API Testing</a:t>
            </a:r>
            <a:endParaRPr lang="en-US" sz="2800" dirty="0"/>
          </a:p>
        </p:txBody>
      </p:sp>
      <p:sp>
        <p:nvSpPr>
          <p:cNvPr id="5" name="Text 3"/>
          <p:cNvSpPr/>
          <p:nvPr/>
        </p:nvSpPr>
        <p:spPr>
          <a:xfrm>
            <a:off x="731520" y="3429000"/>
            <a:ext cx="8229600" cy="365760"/>
          </a:xfrm>
          <a:prstGeom prst="rect">
            <a:avLst/>
          </a:prstGeom>
          <a:noFill/>
          <a:ln/>
        </p:spPr>
        <p:txBody>
          <a:bodyPr wrap="square" lIns="0" tIns="0" rIns="0" bIns="0" rtlCol="0" anchor="ctr"/>
          <a:lstStyle/>
          <a:p>
            <a:pPr marL="0" indent="0">
              <a:buNone/>
            </a:pPr>
            <a:r>
              <a:rPr lang="en-US" sz="1600" i="1" dirty="0">
                <a:solidFill>
                  <a:srgbClr val="CADCFC"/>
                </a:solidFill>
                <a:latin typeface="Georgia" pitchFamily="34" charset="0"/>
                <a:ea typeface="Georgia" pitchFamily="34" charset="-122"/>
                <a:cs typeface="Georgia" pitchFamily="34" charset="-120"/>
              </a:rPr>
              <a:t>Last three — click to reveal each answer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1E2761"/>
                </a:solidFill>
                <a:latin typeface="Calibri" pitchFamily="34" charset="0"/>
                <a:ea typeface="Calibri" pitchFamily="34" charset="-122"/>
                <a:cs typeface="Calibri" pitchFamily="34" charset="-120"/>
              </a:rPr>
              <a:t>QUESTION 4</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4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Which prompt gives you the most useful API test code on the first try?</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"test the API"</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"Cypress test for POST /api/orders with Authorization: Bearer abc123, body { product, qty }, assert status 201 + body has id"</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"write some assertions"</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0" name="Text 18"/>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"make API tests please"</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ANSWER 4</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4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Which prompt gives you the most useful API test code on the first try?</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"test the API"</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"Cypress test for POST /api/orders with Authorization: Bearer abc123, body { product, qty }, assert status 201 + body has id"</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marL="0" indent="0" algn="ctr">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7" name="Text 15"/>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"write some assertions"</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1" name="Text 19"/>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"make API tests please"</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txBody>
          <a:bodyPr/>
          <a:lstStyle/>
          <a:p>
            <a:endParaRPr lang="en-IN"/>
          </a:p>
        </p:txBody>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txBody>
          <a:bodyPr/>
          <a:lstStyle/>
          <a:p>
            <a:endParaRPr lang="en-IN"/>
          </a:p>
        </p:txBody>
      </p:sp>
      <p:sp>
        <p:nvSpPr>
          <p:cNvPr id="25" name="Text 23"/>
          <p:cNvSpPr/>
          <p:nvPr/>
        </p:nvSpPr>
        <p:spPr>
          <a:xfrm>
            <a:off x="685800" y="4114800"/>
            <a:ext cx="7863840" cy="640080"/>
          </a:xfrm>
          <a:prstGeom prst="rect">
            <a:avLst/>
          </a:prstGeom>
          <a:noFill/>
          <a:ln/>
        </p:spPr>
        <p:txBody>
          <a:bodyPr wrap="square" lIns="0" tIns="0" rIns="0" bIns="0" rtlCol="0" anchor="ctr"/>
          <a:lstStyle/>
          <a:p>
            <a:pPr marL="0" indent="0">
              <a:buNone/>
            </a:pPr>
            <a:r>
              <a:rPr lang="en-US" sz="1100" b="1" dirty="0">
                <a:solidFill>
                  <a:srgbClr val="F5B700"/>
                </a:solidFill>
                <a:latin typeface="Calibri" pitchFamily="34" charset="0"/>
                <a:ea typeface="Calibri" pitchFamily="34" charset="-122"/>
                <a:cs typeface="Calibri" pitchFamily="34" charset="-120"/>
              </a:rPr>
              <a:t>Why: </a:t>
            </a:r>
            <a:r>
              <a:rPr lang="en-US" sz="1100" dirty="0">
                <a:solidFill>
                  <a:srgbClr val="1A1A2E"/>
                </a:solidFill>
                <a:latin typeface="Calibri" pitchFamily="34" charset="0"/>
                <a:ea typeface="Calibri" pitchFamily="34" charset="-122"/>
                <a:cs typeface="Calibri" pitchFamily="34" charset="-120"/>
              </a:rPr>
              <a:t>Name the framework, method, URL, auth header, body shape, and expected status + body fields. Specifics → working code. Vague → useless boilerplate.</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1E2761"/>
                </a:solidFill>
                <a:latin typeface="Calibri" pitchFamily="34" charset="0"/>
                <a:ea typeface="Calibri" pitchFamily="34" charset="-122"/>
                <a:cs typeface="Calibri" pitchFamily="34" charset="-120"/>
              </a:rPr>
              <a:t>QUESTION 5</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5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Your UI test starts with a slow login form. What's the right Edit-mode prompt?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"speed this up"</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"make login faster"</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"replace the UI login with a cy.request POST to /api/login — keep the rest of the test unchanged"</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0" name="Text 18"/>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"refactor"</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ANSWER 5</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5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Your UI test starts with a slow login form. What's the right Edit-mode prompt?</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"speed this up"</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"make login faster"</a:t>
            </a:r>
            <a:endParaRPr lang="en-US" sz="1300" dirty="0"/>
          </a:p>
        </p:txBody>
      </p:sp>
      <p:sp>
        <p:nvSpPr>
          <p:cNvPr id="14" name="Shape 12"/>
          <p:cNvSpPr/>
          <p:nvPr/>
        </p:nvSpPr>
        <p:spPr>
          <a:xfrm>
            <a:off x="457200" y="2880360"/>
            <a:ext cx="4023360" cy="685800"/>
          </a:xfrm>
          <a:prstGeom prst="rect">
            <a:avLst/>
          </a:prstGeom>
          <a:solidFill>
            <a:srgbClr val="E8F5E9"/>
          </a:solidFill>
          <a:ln w="25400">
            <a:solidFill>
              <a:srgbClr val="2E7D32"/>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2E7D32"/>
          </a:solidFill>
          <a:ln w="12700">
            <a:solidFill>
              <a:srgbClr val="2E7D32"/>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"replace the UI login with a cy.request POST to /api/login — keep the rest of the test unchanged"</a:t>
            </a:r>
            <a:endParaRPr lang="en-US" sz="1300" dirty="0"/>
          </a:p>
        </p:txBody>
      </p:sp>
      <p:sp>
        <p:nvSpPr>
          <p:cNvPr id="18" name="Text 16"/>
          <p:cNvSpPr/>
          <p:nvPr/>
        </p:nvSpPr>
        <p:spPr>
          <a:xfrm>
            <a:off x="4114800" y="2880360"/>
            <a:ext cx="320040" cy="685800"/>
          </a:xfrm>
          <a:prstGeom prst="rect">
            <a:avLst/>
          </a:prstGeom>
          <a:noFill/>
          <a:ln/>
        </p:spPr>
        <p:txBody>
          <a:bodyPr wrap="square" lIns="0" tIns="0" rIns="0" bIns="0" rtlCol="0" anchor="ctr"/>
          <a:lstStyle/>
          <a:p>
            <a:pPr marL="0" indent="0" algn="ctr">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1" name="Text 19"/>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"refactor"</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txBody>
          <a:bodyPr/>
          <a:lstStyle/>
          <a:p>
            <a:endParaRPr lang="en-IN"/>
          </a:p>
        </p:txBody>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txBody>
          <a:bodyPr/>
          <a:lstStyle/>
          <a:p>
            <a:endParaRPr lang="en-IN"/>
          </a:p>
        </p:txBody>
      </p:sp>
      <p:sp>
        <p:nvSpPr>
          <p:cNvPr id="25" name="Text 23"/>
          <p:cNvSpPr/>
          <p:nvPr/>
        </p:nvSpPr>
        <p:spPr>
          <a:xfrm>
            <a:off x="685800" y="4114800"/>
            <a:ext cx="7863840" cy="640080"/>
          </a:xfrm>
          <a:prstGeom prst="rect">
            <a:avLst/>
          </a:prstGeom>
          <a:noFill/>
          <a:ln/>
        </p:spPr>
        <p:txBody>
          <a:bodyPr wrap="square" lIns="0" tIns="0" rIns="0" bIns="0" rtlCol="0" anchor="ctr"/>
          <a:lstStyle/>
          <a:p>
            <a:pPr marL="0" indent="0">
              <a:buNone/>
            </a:pPr>
            <a:r>
              <a:rPr lang="en-US" sz="1100" b="1" dirty="0">
                <a:solidFill>
                  <a:srgbClr val="F5B700"/>
                </a:solidFill>
                <a:latin typeface="Calibri" pitchFamily="34" charset="0"/>
                <a:ea typeface="Calibri" pitchFamily="34" charset="-122"/>
                <a:cs typeface="Calibri" pitchFamily="34" charset="-120"/>
              </a:rPr>
              <a:t>Why: </a:t>
            </a:r>
            <a:r>
              <a:rPr lang="en-US" sz="1100" dirty="0">
                <a:solidFill>
                  <a:srgbClr val="1A1A2E"/>
                </a:solidFill>
                <a:latin typeface="Calibri" pitchFamily="34" charset="0"/>
                <a:ea typeface="Calibri" pitchFamily="34" charset="-122"/>
                <a:cs typeface="Calibri" pitchFamily="34" charset="-120"/>
              </a:rPr>
              <a:t>Name the replacement (cy.request), the endpoint (/api/login), AND specify "keep the rest unchanged" so Copilot doesn't accidentally rewrite the actual test you care about.</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F5B700"/>
          </a:solidFill>
          <a:ln w="12700">
            <a:solidFill>
              <a:srgbClr val="F5B700"/>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1E2761"/>
                </a:solidFill>
                <a:latin typeface="Calibri" pitchFamily="34" charset="0"/>
                <a:ea typeface="Calibri" pitchFamily="34" charset="-122"/>
                <a:cs typeface="Calibri" pitchFamily="34" charset="-120"/>
              </a:rPr>
              <a:t>QUESTION 6</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6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Why ask Copilot for negative-case API tests (401, 422, 500)?</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Cypress requires three test cases per endpoint</a:t>
            </a:r>
            <a:endParaRPr lang="en-US" sz="1300" dirty="0"/>
          </a:p>
        </p:txBody>
      </p:sp>
      <p:sp>
        <p:nvSpPr>
          <p:cNvPr id="10" name="Shape 8"/>
          <p:cNvSpPr/>
          <p:nvPr/>
        </p:nvSpPr>
        <p:spPr>
          <a:xfrm>
            <a:off x="466344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Real APIs return errors and your UI must handle them — error paths are where bugs hide</a:t>
            </a:r>
            <a:endParaRPr lang="en-US" sz="1300" dirty="0"/>
          </a:p>
        </p:txBody>
      </p:sp>
      <p:sp>
        <p:nvSpPr>
          <p:cNvPr id="14" name="Shape 12"/>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6" name="Text 14"/>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It makes the test file longer</a:t>
            </a:r>
            <a:endParaRPr lang="en-US" sz="1300" dirty="0"/>
          </a:p>
        </p:txBody>
      </p:sp>
      <p:sp>
        <p:nvSpPr>
          <p:cNvPr id="18" name="Shape 16"/>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9" name="Shape 17"/>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0" name="Text 18"/>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Status 200 is unreliable</a:t>
            </a:r>
            <a:endParaRPr lang="en-US" sz="1300" dirty="0"/>
          </a:p>
        </p:txBody>
      </p:sp>
      <p:sp>
        <p:nvSpPr>
          <p:cNvPr id="22" name="Text 20"/>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000" i="1" dirty="0">
                <a:solidFill>
                  <a:srgbClr val="5B6582"/>
                </a:solidFill>
                <a:latin typeface="Calibri" pitchFamily="34" charset="0"/>
                <a:ea typeface="Calibri" pitchFamily="34" charset="-122"/>
                <a:cs typeface="Calibri" pitchFamily="34" charset="-120"/>
              </a:rPr>
              <a:t>Click to reveal answer →</a:t>
            </a:r>
            <a:endParaRPr lang="en-US" sz="1000" dirty="0"/>
          </a:p>
        </p:txBody>
      </p:sp>
      <p:sp>
        <p:nvSpPr>
          <p:cNvPr id="23" name="Text 21"/>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4" name="Text 22"/>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1188720" cy="457200"/>
          </a:xfrm>
          <a:prstGeom prst="roundRect">
            <a:avLst>
              <a:gd name="adj" fmla="val 16000"/>
            </a:avLst>
          </a:prstGeom>
          <a:solidFill>
            <a:srgbClr val="2E7D32"/>
          </a:solidFill>
          <a:ln w="12700">
            <a:solidFill>
              <a:srgbClr val="2E7D32"/>
            </a:solidFill>
            <a:prstDash val="solid"/>
          </a:ln>
        </p:spPr>
        <p:txBody>
          <a:bodyPr/>
          <a:lstStyle/>
          <a:p>
            <a:endParaRPr lang="en-IN"/>
          </a:p>
        </p:txBody>
      </p:sp>
      <p:sp>
        <p:nvSpPr>
          <p:cNvPr id="3" name="Text 1"/>
          <p:cNvSpPr/>
          <p:nvPr/>
        </p:nvSpPr>
        <p:spPr>
          <a:xfrm>
            <a:off x="457200" y="365760"/>
            <a:ext cx="118872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ANSWER 6</a:t>
            </a:r>
            <a:endParaRPr lang="en-US" sz="1100" dirty="0"/>
          </a:p>
        </p:txBody>
      </p:sp>
      <p:sp>
        <p:nvSpPr>
          <p:cNvPr id="4" name="Text 2"/>
          <p:cNvSpPr/>
          <p:nvPr/>
        </p:nvSpPr>
        <p:spPr>
          <a:xfrm>
            <a:off x="7772400" y="457200"/>
            <a:ext cx="914400" cy="274320"/>
          </a:xfrm>
          <a:prstGeom prst="rect">
            <a:avLst/>
          </a:prstGeom>
          <a:noFill/>
          <a:ln/>
        </p:spPr>
        <p:txBody>
          <a:bodyPr wrap="square" lIns="0" tIns="0" rIns="0" bIns="0" rtlCol="0" anchor="ctr"/>
          <a:lstStyle/>
          <a:p>
            <a:pPr marL="0" indent="0" algn="r">
              <a:buNone/>
            </a:pPr>
            <a:r>
              <a:rPr lang="en-US" sz="1100" dirty="0">
                <a:solidFill>
                  <a:srgbClr val="5B6582"/>
                </a:solidFill>
                <a:latin typeface="Calibri" pitchFamily="34" charset="0"/>
                <a:ea typeface="Calibri" pitchFamily="34" charset="-122"/>
                <a:cs typeface="Calibri" pitchFamily="34" charset="-120"/>
              </a:rPr>
              <a:t>6 of 6</a:t>
            </a:r>
            <a:endParaRPr lang="en-US" sz="1100" dirty="0"/>
          </a:p>
        </p:txBody>
      </p:sp>
      <p:sp>
        <p:nvSpPr>
          <p:cNvPr id="5" name="Text 3"/>
          <p:cNvSpPr/>
          <p:nvPr/>
        </p:nvSpPr>
        <p:spPr>
          <a:xfrm>
            <a:off x="457200" y="1051560"/>
            <a:ext cx="8229600" cy="548640"/>
          </a:xfrm>
          <a:prstGeom prst="rect">
            <a:avLst/>
          </a:prstGeom>
          <a:noFill/>
          <a:ln/>
        </p:spPr>
        <p:txBody>
          <a:bodyPr wrap="square" lIns="0" tIns="0" rIns="0" bIns="0" rtlCol="0" anchor="t"/>
          <a:lstStyle/>
          <a:p>
            <a:pPr marL="0" indent="0">
              <a:buNone/>
            </a:pPr>
            <a:r>
              <a:rPr lang="en-US" sz="2200" b="1" dirty="0">
                <a:solidFill>
                  <a:srgbClr val="1E2761"/>
                </a:solidFill>
                <a:latin typeface="Georgia" pitchFamily="34" charset="0"/>
                <a:ea typeface="Georgia" pitchFamily="34" charset="-122"/>
                <a:cs typeface="Georgia" pitchFamily="34" charset="-120"/>
              </a:rPr>
              <a:t>Why ask Copilot for negative-case API tests (401, 422, 500)?</a:t>
            </a:r>
            <a:endParaRPr lang="en-US" sz="2200" dirty="0"/>
          </a:p>
        </p:txBody>
      </p:sp>
      <p:sp>
        <p:nvSpPr>
          <p:cNvPr id="6" name="Shape 4"/>
          <p:cNvSpPr/>
          <p:nvPr/>
        </p:nvSpPr>
        <p:spPr>
          <a:xfrm>
            <a:off x="457200" y="2103120"/>
            <a:ext cx="4023360" cy="685800"/>
          </a:xfrm>
          <a:prstGeom prst="rect">
            <a:avLst/>
          </a:prstGeom>
          <a:solidFill>
            <a:srgbClr val="F7F9FC"/>
          </a:solidFill>
          <a:ln w="12700">
            <a:solidFill>
              <a:srgbClr val="F7F9FC"/>
            </a:solidFill>
            <a:prstDash val="solid"/>
          </a:ln>
        </p:spPr>
        <p:txBody>
          <a:bodyPr/>
          <a:lstStyle/>
          <a:p>
            <a:endParaRPr lang="en-IN"/>
          </a:p>
        </p:txBody>
      </p:sp>
      <p:sp>
        <p:nvSpPr>
          <p:cNvPr id="7" name="Shape 5"/>
          <p:cNvSpPr/>
          <p:nvPr/>
        </p:nvSpPr>
        <p:spPr>
          <a:xfrm>
            <a:off x="640080" y="2263140"/>
            <a:ext cx="365760" cy="365760"/>
          </a:xfrm>
          <a:prstGeom prst="ellipse">
            <a:avLst/>
          </a:prstGeom>
          <a:solidFill>
            <a:srgbClr val="1E2761"/>
          </a:solidFill>
          <a:ln w="12700">
            <a:solidFill>
              <a:srgbClr val="1E2761"/>
            </a:solidFill>
            <a:prstDash val="solid"/>
          </a:ln>
        </p:spPr>
        <p:txBody>
          <a:bodyPr/>
          <a:lstStyle/>
          <a:p>
            <a:endParaRPr lang="en-IN"/>
          </a:p>
        </p:txBody>
      </p:sp>
      <p:sp>
        <p:nvSpPr>
          <p:cNvPr id="8" name="Text 6"/>
          <p:cNvSpPr/>
          <p:nvPr/>
        </p:nvSpPr>
        <p:spPr>
          <a:xfrm>
            <a:off x="64008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143000" y="210312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Cypress requires three test cases per endpoint</a:t>
            </a:r>
            <a:endParaRPr lang="en-US" sz="1300" dirty="0"/>
          </a:p>
        </p:txBody>
      </p:sp>
      <p:sp>
        <p:nvSpPr>
          <p:cNvPr id="10" name="Shape 8"/>
          <p:cNvSpPr/>
          <p:nvPr/>
        </p:nvSpPr>
        <p:spPr>
          <a:xfrm>
            <a:off x="4663440" y="2103120"/>
            <a:ext cx="4023360" cy="685800"/>
          </a:xfrm>
          <a:prstGeom prst="rect">
            <a:avLst/>
          </a:prstGeom>
          <a:solidFill>
            <a:srgbClr val="E8F5E9"/>
          </a:solidFill>
          <a:ln w="25400">
            <a:solidFill>
              <a:srgbClr val="2E7D32"/>
            </a:solidFill>
            <a:prstDash val="solid"/>
          </a:ln>
        </p:spPr>
        <p:txBody>
          <a:bodyPr/>
          <a:lstStyle/>
          <a:p>
            <a:endParaRPr lang="en-IN"/>
          </a:p>
        </p:txBody>
      </p:sp>
      <p:sp>
        <p:nvSpPr>
          <p:cNvPr id="11" name="Shape 9"/>
          <p:cNvSpPr/>
          <p:nvPr/>
        </p:nvSpPr>
        <p:spPr>
          <a:xfrm>
            <a:off x="4846320" y="2263140"/>
            <a:ext cx="365760" cy="365760"/>
          </a:xfrm>
          <a:prstGeom prst="ellipse">
            <a:avLst/>
          </a:prstGeom>
          <a:solidFill>
            <a:srgbClr val="2E7D32"/>
          </a:solidFill>
          <a:ln w="12700">
            <a:solidFill>
              <a:srgbClr val="2E7D32"/>
            </a:solidFill>
            <a:prstDash val="solid"/>
          </a:ln>
        </p:spPr>
        <p:txBody>
          <a:bodyPr/>
          <a:lstStyle/>
          <a:p>
            <a:endParaRPr lang="en-IN"/>
          </a:p>
        </p:txBody>
      </p:sp>
      <p:sp>
        <p:nvSpPr>
          <p:cNvPr id="12" name="Text 10"/>
          <p:cNvSpPr/>
          <p:nvPr/>
        </p:nvSpPr>
        <p:spPr>
          <a:xfrm>
            <a:off x="4846320" y="22631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5349240" y="2103120"/>
            <a:ext cx="2926080" cy="68580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Real APIs return errors and your UI must handle them — error paths are where bugs hide</a:t>
            </a:r>
            <a:endParaRPr lang="en-US" sz="1300" dirty="0"/>
          </a:p>
        </p:txBody>
      </p:sp>
      <p:sp>
        <p:nvSpPr>
          <p:cNvPr id="14" name="Text 12"/>
          <p:cNvSpPr/>
          <p:nvPr/>
        </p:nvSpPr>
        <p:spPr>
          <a:xfrm>
            <a:off x="8321040" y="2103120"/>
            <a:ext cx="320040" cy="685800"/>
          </a:xfrm>
          <a:prstGeom prst="rect">
            <a:avLst/>
          </a:prstGeom>
          <a:noFill/>
          <a:ln/>
        </p:spPr>
        <p:txBody>
          <a:bodyPr wrap="square" lIns="0" tIns="0" rIns="0" bIns="0" rtlCol="0" anchor="ctr"/>
          <a:lstStyle/>
          <a:p>
            <a:pPr marL="0" indent="0" algn="ctr">
              <a:buNone/>
            </a:pPr>
            <a:r>
              <a:rPr lang="en-US" sz="2000" b="1" dirty="0">
                <a:solidFill>
                  <a:srgbClr val="2E7D32"/>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5720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16" name="Shape 14"/>
          <p:cNvSpPr/>
          <p:nvPr/>
        </p:nvSpPr>
        <p:spPr>
          <a:xfrm>
            <a:off x="64008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17" name="Text 15"/>
          <p:cNvSpPr/>
          <p:nvPr/>
        </p:nvSpPr>
        <p:spPr>
          <a:xfrm>
            <a:off x="64008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6"/>
          <p:cNvSpPr/>
          <p:nvPr/>
        </p:nvSpPr>
        <p:spPr>
          <a:xfrm>
            <a:off x="114300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It makes the test file longer</a:t>
            </a:r>
            <a:endParaRPr lang="en-US" sz="1300" dirty="0"/>
          </a:p>
        </p:txBody>
      </p:sp>
      <p:sp>
        <p:nvSpPr>
          <p:cNvPr id="19" name="Shape 17"/>
          <p:cNvSpPr/>
          <p:nvPr/>
        </p:nvSpPr>
        <p:spPr>
          <a:xfrm>
            <a:off x="4663440" y="2880360"/>
            <a:ext cx="4023360" cy="685800"/>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4846320" y="3040380"/>
            <a:ext cx="365760" cy="365760"/>
          </a:xfrm>
          <a:prstGeom prst="ellipse">
            <a:avLst/>
          </a:prstGeom>
          <a:solidFill>
            <a:srgbClr val="1E2761"/>
          </a:solidFill>
          <a:ln w="12700">
            <a:solidFill>
              <a:srgbClr val="1E2761"/>
            </a:solidFill>
            <a:prstDash val="solid"/>
          </a:ln>
        </p:spPr>
        <p:txBody>
          <a:bodyPr/>
          <a:lstStyle/>
          <a:p>
            <a:endParaRPr lang="en-IN"/>
          </a:p>
        </p:txBody>
      </p:sp>
      <p:sp>
        <p:nvSpPr>
          <p:cNvPr id="21" name="Text 19"/>
          <p:cNvSpPr/>
          <p:nvPr/>
        </p:nvSpPr>
        <p:spPr>
          <a:xfrm>
            <a:off x="4846320" y="30403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5349240" y="2880360"/>
            <a:ext cx="2926080" cy="68580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Status 200 is unreliable</a:t>
            </a:r>
            <a:endParaRPr lang="en-US" sz="1300" dirty="0"/>
          </a:p>
        </p:txBody>
      </p:sp>
      <p:sp>
        <p:nvSpPr>
          <p:cNvPr id="23" name="Shape 21"/>
          <p:cNvSpPr/>
          <p:nvPr/>
        </p:nvSpPr>
        <p:spPr>
          <a:xfrm>
            <a:off x="457200" y="4114800"/>
            <a:ext cx="8229600" cy="640080"/>
          </a:xfrm>
          <a:prstGeom prst="rect">
            <a:avLst/>
          </a:prstGeom>
          <a:solidFill>
            <a:srgbClr val="F7F9FC"/>
          </a:solidFill>
          <a:ln w="12700">
            <a:solidFill>
              <a:srgbClr val="F7F9FC"/>
            </a:solidFill>
            <a:prstDash val="solid"/>
          </a:ln>
        </p:spPr>
        <p:txBody>
          <a:bodyPr/>
          <a:lstStyle/>
          <a:p>
            <a:endParaRPr lang="en-IN"/>
          </a:p>
        </p:txBody>
      </p:sp>
      <p:sp>
        <p:nvSpPr>
          <p:cNvPr id="24" name="Shape 22"/>
          <p:cNvSpPr/>
          <p:nvPr/>
        </p:nvSpPr>
        <p:spPr>
          <a:xfrm>
            <a:off x="457200" y="4114800"/>
            <a:ext cx="73152" cy="640080"/>
          </a:xfrm>
          <a:prstGeom prst="rect">
            <a:avLst/>
          </a:prstGeom>
          <a:solidFill>
            <a:srgbClr val="F5B700"/>
          </a:solidFill>
          <a:ln w="12700">
            <a:solidFill>
              <a:srgbClr val="F5B700"/>
            </a:solidFill>
            <a:prstDash val="solid"/>
          </a:ln>
        </p:spPr>
        <p:txBody>
          <a:bodyPr/>
          <a:lstStyle/>
          <a:p>
            <a:endParaRPr lang="en-IN"/>
          </a:p>
        </p:txBody>
      </p:sp>
      <p:sp>
        <p:nvSpPr>
          <p:cNvPr id="25" name="Text 23"/>
          <p:cNvSpPr/>
          <p:nvPr/>
        </p:nvSpPr>
        <p:spPr>
          <a:xfrm>
            <a:off x="685800" y="4114800"/>
            <a:ext cx="7863840" cy="640080"/>
          </a:xfrm>
          <a:prstGeom prst="rect">
            <a:avLst/>
          </a:prstGeom>
          <a:noFill/>
          <a:ln/>
        </p:spPr>
        <p:txBody>
          <a:bodyPr wrap="square" lIns="0" tIns="0" rIns="0" bIns="0" rtlCol="0" anchor="ctr"/>
          <a:lstStyle/>
          <a:p>
            <a:pPr marL="0" indent="0">
              <a:buNone/>
            </a:pPr>
            <a:r>
              <a:rPr lang="en-US" sz="1100" b="1" dirty="0">
                <a:solidFill>
                  <a:srgbClr val="F5B700"/>
                </a:solidFill>
                <a:latin typeface="Calibri" pitchFamily="34" charset="0"/>
                <a:ea typeface="Calibri" pitchFamily="34" charset="-122"/>
                <a:cs typeface="Calibri" pitchFamily="34" charset="-120"/>
              </a:rPr>
              <a:t>Why: </a:t>
            </a:r>
            <a:r>
              <a:rPr lang="en-US" sz="1100" dirty="0">
                <a:solidFill>
                  <a:srgbClr val="1A1A2E"/>
                </a:solidFill>
                <a:latin typeface="Calibri" pitchFamily="34" charset="0"/>
                <a:ea typeface="Calibri" pitchFamily="34" charset="-122"/>
                <a:cs typeface="Calibri" pitchFamily="34" charset="-120"/>
              </a:rPr>
              <a:t>Happy paths get tested first by everyone. Error states (auth failures, bad input, server crashes) are where users actually see bugs. Asking Copilot for the negative cases costs nothing and catches real issues.</a:t>
            </a:r>
            <a:endParaRPr lang="en-US" sz="1100" dirty="0"/>
          </a:p>
        </p:txBody>
      </p:sp>
      <p:sp>
        <p:nvSpPr>
          <p:cNvPr id="26" name="Text 24"/>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Quick Check</a:t>
            </a:r>
            <a:endParaRPr lang="en-US" sz="900" dirty="0"/>
          </a:p>
        </p:txBody>
      </p:sp>
      <p:sp>
        <p:nvSpPr>
          <p:cNvPr id="27" name="Text 25"/>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marL="0" indent="0">
              <a:buNone/>
            </a:pPr>
            <a:r>
              <a:rPr lang="en-US" sz="3200" b="1" dirty="0">
                <a:solidFill>
                  <a:srgbClr val="1E2761"/>
                </a:solidFill>
                <a:latin typeface="Georgia" pitchFamily="34" charset="0"/>
                <a:ea typeface="Georgia" pitchFamily="34" charset="-122"/>
                <a:cs typeface="Georgia" pitchFamily="34" charset="-120"/>
              </a:rPr>
              <a:t>Day 10 Takeaways</a:t>
            </a:r>
            <a:endParaRPr lang="en-US" sz="3200" dirty="0"/>
          </a:p>
        </p:txBody>
      </p:sp>
      <p:sp>
        <p:nvSpPr>
          <p:cNvPr id="3" name="Text 1"/>
          <p:cNvSpPr/>
          <p:nvPr/>
        </p:nvSpPr>
        <p:spPr>
          <a:xfrm>
            <a:off x="457200" y="868680"/>
            <a:ext cx="8229600" cy="320040"/>
          </a:xfrm>
          <a:prstGeom prst="rect">
            <a:avLst/>
          </a:prstGeom>
          <a:noFill/>
          <a:ln/>
        </p:spPr>
        <p:txBody>
          <a:bodyPr wrap="square" rtlCol="0" anchor="ctr"/>
          <a:lstStyle/>
          <a:p>
            <a:pPr marL="0" indent="0">
              <a:buNone/>
            </a:pPr>
            <a:r>
              <a:rPr lang="en-US" sz="1400" i="1" dirty="0">
                <a:solidFill>
                  <a:srgbClr val="5B6582"/>
                </a:solidFill>
                <a:latin typeface="Calibri" pitchFamily="34" charset="0"/>
                <a:ea typeface="Calibri" pitchFamily="34" charset="-122"/>
                <a:cs typeface="Calibri" pitchFamily="34" charset="-120"/>
              </a:rPr>
              <a:t>Four habits that turn slow, flaky e2e tests into fast, reliable API-driven coverage</a:t>
            </a:r>
            <a:endParaRPr lang="en-US" sz="1400" dirty="0"/>
          </a:p>
        </p:txBody>
      </p:sp>
      <p:sp>
        <p:nvSpPr>
          <p:cNvPr id="4" name="Shape 2"/>
          <p:cNvSpPr/>
          <p:nvPr/>
        </p:nvSpPr>
        <p:spPr>
          <a:xfrm>
            <a:off x="457200" y="1417320"/>
            <a:ext cx="8229600" cy="658368"/>
          </a:xfrm>
          <a:prstGeom prst="rect">
            <a:avLst/>
          </a:prstGeom>
          <a:solidFill>
            <a:srgbClr val="F7F9FC"/>
          </a:solidFill>
          <a:ln w="12700">
            <a:solidFill>
              <a:srgbClr val="F7F9FC"/>
            </a:solidFill>
            <a:prstDash val="solid"/>
          </a:ln>
        </p:spPr>
        <p:txBody>
          <a:bodyPr/>
          <a:lstStyle/>
          <a:p>
            <a:endParaRPr lang="en-IN"/>
          </a:p>
        </p:txBody>
      </p:sp>
      <p:sp>
        <p:nvSpPr>
          <p:cNvPr id="5" name="Shape 3"/>
          <p:cNvSpPr/>
          <p:nvPr/>
        </p:nvSpPr>
        <p:spPr>
          <a:xfrm>
            <a:off x="640080" y="1563624"/>
            <a:ext cx="384048" cy="384048"/>
          </a:xfrm>
          <a:prstGeom prst="ellipse">
            <a:avLst/>
          </a:prstGeom>
          <a:solidFill>
            <a:srgbClr val="69D3A7"/>
          </a:solidFill>
          <a:ln w="12700">
            <a:solidFill>
              <a:srgbClr val="69D3A7"/>
            </a:solidFill>
            <a:prstDash val="solid"/>
          </a:ln>
        </p:spPr>
        <p:txBody>
          <a:bodyPr/>
          <a:lstStyle/>
          <a:p>
            <a:endParaRPr lang="en-IN"/>
          </a:p>
        </p:txBody>
      </p:sp>
      <p:sp>
        <p:nvSpPr>
          <p:cNvPr id="6" name="Text 4"/>
          <p:cNvSpPr/>
          <p:nvPr/>
        </p:nvSpPr>
        <p:spPr>
          <a:xfrm>
            <a:off x="640080" y="1563624"/>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1</a:t>
            </a:r>
            <a:endParaRPr lang="en-US" sz="1400" dirty="0"/>
          </a:p>
        </p:txBody>
      </p:sp>
      <p:sp>
        <p:nvSpPr>
          <p:cNvPr id="7" name="Text 5"/>
          <p:cNvSpPr/>
          <p:nvPr/>
        </p:nvSpPr>
        <p:spPr>
          <a:xfrm>
            <a:off x="1188720" y="1490472"/>
            <a:ext cx="7315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Two tools, two jobs</a:t>
            </a:r>
            <a:endParaRPr lang="en-US" sz="1300" dirty="0"/>
          </a:p>
        </p:txBody>
      </p:sp>
      <p:sp>
        <p:nvSpPr>
          <p:cNvPr id="8" name="Text 6"/>
          <p:cNvSpPr/>
          <p:nvPr/>
        </p:nvSpPr>
        <p:spPr>
          <a:xfrm>
            <a:off x="1188720" y="1764792"/>
            <a:ext cx="7315200" cy="274320"/>
          </a:xfrm>
          <a:prstGeom prst="rect">
            <a:avLst/>
          </a:prstGeom>
          <a:noFill/>
          <a:ln/>
        </p:spPr>
        <p:txBody>
          <a:bodyPr wrap="square" lIns="0" tIns="0" rIns="0" bIns="0" rtlCol="0" anchor="ctr"/>
          <a:lstStyle/>
          <a:p>
            <a:pPr marL="0" indent="0">
              <a:buNone/>
            </a:pPr>
            <a:r>
              <a:rPr lang="en-US" sz="1100" dirty="0">
                <a:solidFill>
                  <a:srgbClr val="5B6582"/>
                </a:solidFill>
                <a:latin typeface="Calibri" pitchFamily="34" charset="0"/>
                <a:ea typeface="Calibri" pitchFamily="34" charset="-122"/>
                <a:cs typeface="Calibri" pitchFamily="34" charset="-120"/>
              </a:rPr>
              <a:t>cy.request makes real API calls. cy.intercept watches/stubs the browser's network. Match the tool to the task.</a:t>
            </a:r>
            <a:endParaRPr lang="en-US" sz="1100" dirty="0"/>
          </a:p>
        </p:txBody>
      </p:sp>
      <p:sp>
        <p:nvSpPr>
          <p:cNvPr id="9" name="Shape 7"/>
          <p:cNvSpPr/>
          <p:nvPr/>
        </p:nvSpPr>
        <p:spPr>
          <a:xfrm>
            <a:off x="457200" y="2167128"/>
            <a:ext cx="8229600" cy="658368"/>
          </a:xfrm>
          <a:prstGeom prst="rect">
            <a:avLst/>
          </a:prstGeom>
          <a:solidFill>
            <a:srgbClr val="F7F9FC"/>
          </a:solidFill>
          <a:ln w="12700">
            <a:solidFill>
              <a:srgbClr val="F7F9FC"/>
            </a:solidFill>
            <a:prstDash val="solid"/>
          </a:ln>
        </p:spPr>
        <p:txBody>
          <a:bodyPr/>
          <a:lstStyle/>
          <a:p>
            <a:endParaRPr lang="en-IN"/>
          </a:p>
        </p:txBody>
      </p:sp>
      <p:sp>
        <p:nvSpPr>
          <p:cNvPr id="10" name="Shape 8"/>
          <p:cNvSpPr/>
          <p:nvPr/>
        </p:nvSpPr>
        <p:spPr>
          <a:xfrm>
            <a:off x="640080" y="2313432"/>
            <a:ext cx="384048" cy="384048"/>
          </a:xfrm>
          <a:prstGeom prst="ellipse">
            <a:avLst/>
          </a:prstGeom>
          <a:solidFill>
            <a:srgbClr val="69D3A7"/>
          </a:solidFill>
          <a:ln w="12700">
            <a:solidFill>
              <a:srgbClr val="69D3A7"/>
            </a:solidFill>
            <a:prstDash val="solid"/>
          </a:ln>
        </p:spPr>
        <p:txBody>
          <a:bodyPr/>
          <a:lstStyle/>
          <a:p>
            <a:endParaRPr lang="en-IN"/>
          </a:p>
        </p:txBody>
      </p:sp>
      <p:sp>
        <p:nvSpPr>
          <p:cNvPr id="11" name="Text 9"/>
          <p:cNvSpPr/>
          <p:nvPr/>
        </p:nvSpPr>
        <p:spPr>
          <a:xfrm>
            <a:off x="640080" y="2313432"/>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188720" y="2240280"/>
            <a:ext cx="7315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API setup before UI test = speed</a:t>
            </a:r>
            <a:endParaRPr lang="en-US" sz="1300" dirty="0"/>
          </a:p>
        </p:txBody>
      </p:sp>
      <p:sp>
        <p:nvSpPr>
          <p:cNvPr id="13" name="Text 11"/>
          <p:cNvSpPr/>
          <p:nvPr/>
        </p:nvSpPr>
        <p:spPr>
          <a:xfrm>
            <a:off x="1188720" y="2514600"/>
            <a:ext cx="7315200" cy="274320"/>
          </a:xfrm>
          <a:prstGeom prst="rect">
            <a:avLst/>
          </a:prstGeom>
          <a:noFill/>
          <a:ln/>
        </p:spPr>
        <p:txBody>
          <a:bodyPr wrap="square" lIns="0" tIns="0" rIns="0" bIns="0" rtlCol="0" anchor="ctr"/>
          <a:lstStyle/>
          <a:p>
            <a:pPr marL="0" indent="0">
              <a:buNone/>
            </a:pPr>
            <a:r>
              <a:rPr lang="en-US" sz="1100" dirty="0">
                <a:solidFill>
                  <a:srgbClr val="5B6582"/>
                </a:solidFill>
                <a:latin typeface="Calibri" pitchFamily="34" charset="0"/>
                <a:ea typeface="Calibri" pitchFamily="34" charset="-122"/>
                <a:cs typeface="Calibri" pitchFamily="34" charset="-120"/>
              </a:rPr>
              <a:t>Log in via cy.request, seed data via cy.request — then drive the UI for the part you actually want to test.</a:t>
            </a:r>
            <a:endParaRPr lang="en-US" sz="1100" dirty="0"/>
          </a:p>
        </p:txBody>
      </p:sp>
      <p:sp>
        <p:nvSpPr>
          <p:cNvPr id="14" name="Shape 12"/>
          <p:cNvSpPr/>
          <p:nvPr/>
        </p:nvSpPr>
        <p:spPr>
          <a:xfrm>
            <a:off x="457200" y="2916936"/>
            <a:ext cx="8229600" cy="658368"/>
          </a:xfrm>
          <a:prstGeom prst="rect">
            <a:avLst/>
          </a:prstGeom>
          <a:solidFill>
            <a:srgbClr val="F7F9FC"/>
          </a:solidFill>
          <a:ln w="12700">
            <a:solidFill>
              <a:srgbClr val="F7F9FC"/>
            </a:solidFill>
            <a:prstDash val="solid"/>
          </a:ln>
        </p:spPr>
        <p:txBody>
          <a:bodyPr/>
          <a:lstStyle/>
          <a:p>
            <a:endParaRPr lang="en-IN"/>
          </a:p>
        </p:txBody>
      </p:sp>
      <p:sp>
        <p:nvSpPr>
          <p:cNvPr id="15" name="Shape 13"/>
          <p:cNvSpPr/>
          <p:nvPr/>
        </p:nvSpPr>
        <p:spPr>
          <a:xfrm>
            <a:off x="640080" y="3063240"/>
            <a:ext cx="384048" cy="384048"/>
          </a:xfrm>
          <a:prstGeom prst="ellipse">
            <a:avLst/>
          </a:prstGeom>
          <a:solidFill>
            <a:srgbClr val="69D3A7"/>
          </a:solidFill>
          <a:ln w="12700">
            <a:solidFill>
              <a:srgbClr val="69D3A7"/>
            </a:solidFill>
            <a:prstDash val="solid"/>
          </a:ln>
        </p:spPr>
        <p:txBody>
          <a:bodyPr/>
          <a:lstStyle/>
          <a:p>
            <a:endParaRPr lang="en-IN"/>
          </a:p>
        </p:txBody>
      </p:sp>
      <p:sp>
        <p:nvSpPr>
          <p:cNvPr id="16" name="Text 14"/>
          <p:cNvSpPr/>
          <p:nvPr/>
        </p:nvSpPr>
        <p:spPr>
          <a:xfrm>
            <a:off x="640080" y="3063240"/>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3</a:t>
            </a:r>
            <a:endParaRPr lang="en-US" sz="1400" dirty="0"/>
          </a:p>
        </p:txBody>
      </p:sp>
      <p:sp>
        <p:nvSpPr>
          <p:cNvPr id="17" name="Text 15"/>
          <p:cNvSpPr/>
          <p:nvPr/>
        </p:nvSpPr>
        <p:spPr>
          <a:xfrm>
            <a:off x="1188720" y="2990088"/>
            <a:ext cx="7315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Stubs unlock edge cases</a:t>
            </a:r>
            <a:endParaRPr lang="en-US" sz="1300" dirty="0"/>
          </a:p>
        </p:txBody>
      </p:sp>
      <p:sp>
        <p:nvSpPr>
          <p:cNvPr id="18" name="Text 16"/>
          <p:cNvSpPr/>
          <p:nvPr/>
        </p:nvSpPr>
        <p:spPr>
          <a:xfrm>
            <a:off x="1188720" y="3264408"/>
            <a:ext cx="7315200" cy="274320"/>
          </a:xfrm>
          <a:prstGeom prst="rect">
            <a:avLst/>
          </a:prstGeom>
          <a:noFill/>
          <a:ln/>
        </p:spPr>
        <p:txBody>
          <a:bodyPr wrap="square" lIns="0" tIns="0" rIns="0" bIns="0" rtlCol="0" anchor="ctr"/>
          <a:lstStyle/>
          <a:p>
            <a:pPr marL="0" indent="0">
              <a:buNone/>
            </a:pPr>
            <a:r>
              <a:rPr lang="en-US" sz="1100" dirty="0">
                <a:solidFill>
                  <a:srgbClr val="5B6582"/>
                </a:solidFill>
                <a:latin typeface="Calibri" pitchFamily="34" charset="0"/>
                <a:ea typeface="Calibri" pitchFamily="34" charset="-122"/>
                <a:cs typeface="Calibri" pitchFamily="34" charset="-120"/>
              </a:rPr>
              <a:t>Empty states, 500 errors, slow APIs, pre-release backends — all tested without touching the real server.</a:t>
            </a:r>
            <a:endParaRPr lang="en-US" sz="1100" dirty="0"/>
          </a:p>
        </p:txBody>
      </p:sp>
      <p:sp>
        <p:nvSpPr>
          <p:cNvPr id="19" name="Shape 17"/>
          <p:cNvSpPr/>
          <p:nvPr/>
        </p:nvSpPr>
        <p:spPr>
          <a:xfrm>
            <a:off x="457200" y="3666744"/>
            <a:ext cx="8229600" cy="658368"/>
          </a:xfrm>
          <a:prstGeom prst="rect">
            <a:avLst/>
          </a:prstGeom>
          <a:solidFill>
            <a:srgbClr val="F7F9FC"/>
          </a:solidFill>
          <a:ln w="12700">
            <a:solidFill>
              <a:srgbClr val="F7F9FC"/>
            </a:solidFill>
            <a:prstDash val="solid"/>
          </a:ln>
        </p:spPr>
        <p:txBody>
          <a:bodyPr/>
          <a:lstStyle/>
          <a:p>
            <a:endParaRPr lang="en-IN"/>
          </a:p>
        </p:txBody>
      </p:sp>
      <p:sp>
        <p:nvSpPr>
          <p:cNvPr id="20" name="Shape 18"/>
          <p:cNvSpPr/>
          <p:nvPr/>
        </p:nvSpPr>
        <p:spPr>
          <a:xfrm>
            <a:off x="640080" y="3813048"/>
            <a:ext cx="384048" cy="384048"/>
          </a:xfrm>
          <a:prstGeom prst="ellipse">
            <a:avLst/>
          </a:prstGeom>
          <a:solidFill>
            <a:srgbClr val="69D3A7"/>
          </a:solidFill>
          <a:ln w="12700">
            <a:solidFill>
              <a:srgbClr val="69D3A7"/>
            </a:solidFill>
            <a:prstDash val="solid"/>
          </a:ln>
        </p:spPr>
        <p:txBody>
          <a:bodyPr/>
          <a:lstStyle/>
          <a:p>
            <a:endParaRPr lang="en-IN"/>
          </a:p>
        </p:txBody>
      </p:sp>
      <p:sp>
        <p:nvSpPr>
          <p:cNvPr id="21" name="Text 19"/>
          <p:cNvSpPr/>
          <p:nvPr/>
        </p:nvSpPr>
        <p:spPr>
          <a:xfrm>
            <a:off x="640080" y="3813048"/>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4</a:t>
            </a:r>
            <a:endParaRPr lang="en-US" sz="1400" dirty="0"/>
          </a:p>
        </p:txBody>
      </p:sp>
      <p:sp>
        <p:nvSpPr>
          <p:cNvPr id="22" name="Text 20"/>
          <p:cNvSpPr/>
          <p:nvPr/>
        </p:nvSpPr>
        <p:spPr>
          <a:xfrm>
            <a:off x="1188720" y="3739896"/>
            <a:ext cx="7315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Always assert status AND body</a:t>
            </a:r>
            <a:endParaRPr lang="en-US" sz="1300" dirty="0"/>
          </a:p>
        </p:txBody>
      </p:sp>
      <p:sp>
        <p:nvSpPr>
          <p:cNvPr id="23" name="Text 21"/>
          <p:cNvSpPr/>
          <p:nvPr/>
        </p:nvSpPr>
        <p:spPr>
          <a:xfrm>
            <a:off x="1188720" y="4014216"/>
            <a:ext cx="7315200" cy="274320"/>
          </a:xfrm>
          <a:prstGeom prst="rect">
            <a:avLst/>
          </a:prstGeom>
          <a:noFill/>
          <a:ln/>
        </p:spPr>
        <p:txBody>
          <a:bodyPr wrap="square" lIns="0" tIns="0" rIns="0" bIns="0" rtlCol="0" anchor="ctr"/>
          <a:lstStyle/>
          <a:p>
            <a:pPr marL="0" indent="0">
              <a:buNone/>
            </a:pPr>
            <a:r>
              <a:rPr lang="en-US" sz="1100" dirty="0">
                <a:solidFill>
                  <a:srgbClr val="5B6582"/>
                </a:solidFill>
                <a:latin typeface="Calibri" pitchFamily="34" charset="0"/>
                <a:ea typeface="Calibri" pitchFamily="34" charset="-122"/>
                <a:cs typeface="Calibri" pitchFamily="34" charset="-120"/>
              </a:rPr>
              <a:t>200 alone proves nothing. Check the body shape, key fields, and headers — that's the contract you're testing.</a:t>
            </a:r>
            <a:endParaRPr lang="en-US" sz="1100" dirty="0"/>
          </a:p>
        </p:txBody>
      </p:sp>
      <p:sp>
        <p:nvSpPr>
          <p:cNvPr id="24" name="Text 22"/>
          <p:cNvSpPr/>
          <p:nvPr/>
        </p:nvSpPr>
        <p:spPr>
          <a:xfrm>
            <a:off x="365760" y="4800600"/>
            <a:ext cx="6400800" cy="228600"/>
          </a:xfrm>
          <a:prstGeom prst="rect">
            <a:avLst/>
          </a:prstGeom>
          <a:noFill/>
          <a:ln/>
        </p:spPr>
        <p:txBody>
          <a:bodyPr wrap="square" rtlCol="0" anchor="ctr"/>
          <a:lstStyle/>
          <a:p>
            <a:pPr marL="0" indent="0">
              <a:buNone/>
            </a:pPr>
            <a:r>
              <a:rPr lang="en-US" sz="900" dirty="0">
                <a:solidFill>
                  <a:srgbClr val="5B6582"/>
                </a:solidFill>
                <a:latin typeface="Calibri" pitchFamily="34" charset="0"/>
                <a:ea typeface="Calibri" pitchFamily="34" charset="-122"/>
                <a:cs typeface="Calibri" pitchFamily="34" charset="-120"/>
              </a:rPr>
              <a:t>Part 2 · Copilot for API Testing</a:t>
            </a:r>
            <a:endParaRPr lang="en-US" sz="900" dirty="0"/>
          </a:p>
        </p:txBody>
      </p:sp>
      <p:sp>
        <p:nvSpPr>
          <p:cNvPr id="25" name="Text 23"/>
          <p:cNvSpPr/>
          <p:nvPr/>
        </p:nvSpPr>
        <p:spPr>
          <a:xfrm>
            <a:off x="8412480" y="4800600"/>
            <a:ext cx="365760" cy="228600"/>
          </a:xfrm>
          <a:prstGeom prst="rect">
            <a:avLst/>
          </a:prstGeom>
          <a:noFill/>
          <a:ln/>
        </p:spPr>
        <p:txBody>
          <a:bodyPr wrap="square" rtlCol="0" anchor="ctr"/>
          <a:lstStyle/>
          <a:p>
            <a:pPr marL="0" indent="0" algn="r">
              <a:buNone/>
            </a:pPr>
            <a:r>
              <a:rPr lang="en-US" sz="900" dirty="0">
                <a:solidFill>
                  <a:srgbClr val="5B6582"/>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206240" y="2011680"/>
            <a:ext cx="731520" cy="73152"/>
          </a:xfrm>
          <a:prstGeom prst="rect">
            <a:avLst/>
          </a:prstGeom>
          <a:solidFill>
            <a:srgbClr val="69D3A7"/>
          </a:solidFill>
          <a:ln w="12700">
            <a:solidFill>
              <a:srgbClr val="69D3A7"/>
            </a:solidFill>
            <a:prstDash val="solid"/>
          </a:ln>
        </p:spPr>
        <p:txBody>
          <a:bodyPr/>
          <a:lstStyle/>
          <a:p>
            <a:endParaRPr lang="en-IN"/>
          </a:p>
        </p:txBody>
      </p:sp>
      <p:sp>
        <p:nvSpPr>
          <p:cNvPr id="3" name="Text 1"/>
          <p:cNvSpPr/>
          <p:nvPr/>
        </p:nvSpPr>
        <p:spPr>
          <a:xfrm>
            <a:off x="457200" y="2194560"/>
            <a:ext cx="8229600" cy="91440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Questions?</a:t>
            </a:r>
            <a:endParaRPr lang="en-US" sz="6000" dirty="0"/>
          </a:p>
        </p:txBody>
      </p:sp>
      <p:sp>
        <p:nvSpPr>
          <p:cNvPr id="4" name="Text 2"/>
          <p:cNvSpPr/>
          <p:nvPr/>
        </p:nvSpPr>
        <p:spPr>
          <a:xfrm>
            <a:off x="457200" y="3200400"/>
            <a:ext cx="8229600" cy="365760"/>
          </a:xfrm>
          <a:prstGeom prst="rect">
            <a:avLst/>
          </a:prstGeom>
          <a:noFill/>
          <a:ln/>
        </p:spPr>
        <p:txBody>
          <a:bodyPr wrap="square" lIns="0" tIns="0" rIns="0" bIns="0" rtlCol="0" anchor="ctr"/>
          <a:lstStyle/>
          <a:p>
            <a:pPr marL="0" indent="0" algn="ctr">
              <a:buNone/>
            </a:pPr>
            <a:r>
              <a:rPr lang="en-US" sz="1400" i="1" dirty="0">
                <a:solidFill>
                  <a:srgbClr val="CADCFC"/>
                </a:solidFill>
                <a:latin typeface="Georgia" pitchFamily="34" charset="0"/>
                <a:ea typeface="Georgia" pitchFamily="34" charset="-122"/>
                <a:cs typeface="Georgia" pitchFamily="34" charset="-120"/>
              </a:rPr>
              <a:t>Next session: hooks, custom commands, and reusable test setup</a:t>
            </a:r>
            <a:endParaRPr lang="en-US" sz="1400" dirty="0"/>
          </a:p>
        </p:txBody>
      </p:sp>
      <p:sp>
        <p:nvSpPr>
          <p:cNvPr id="5" name="Text 3"/>
          <p:cNvSpPr/>
          <p:nvPr/>
        </p:nvSpPr>
        <p:spPr>
          <a:xfrm>
            <a:off x="457200" y="4114800"/>
            <a:ext cx="8229600" cy="320040"/>
          </a:xfrm>
          <a:prstGeom prst="rect">
            <a:avLst/>
          </a:prstGeom>
          <a:noFill/>
          <a:ln/>
        </p:spPr>
        <p:txBody>
          <a:bodyPr wrap="square" lIns="0" tIns="0" rIns="0" bIns="0" rtlCol="0" anchor="ctr"/>
          <a:lstStyle/>
          <a:p>
            <a:pPr marL="0" indent="0" algn="ctr">
              <a:buNone/>
            </a:pPr>
            <a:r>
              <a:rPr lang="en-US" sz="1100" kern="0" spc="300" dirty="0">
                <a:solidFill>
                  <a:srgbClr val="69D3A7"/>
                </a:solidFill>
                <a:latin typeface="Calibri" pitchFamily="34" charset="0"/>
                <a:ea typeface="Calibri" pitchFamily="34" charset="-122"/>
                <a:cs typeface="Calibri" pitchFamily="34" charset="-120"/>
              </a:rPr>
              <a:t>Homework: pick one UI test in your suite — replace the login flow with cy.request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4107</Words>
  <Application>Microsoft Office PowerPoint</Application>
  <PresentationFormat>On-screen Show (16:9)</PresentationFormat>
  <Paragraphs>679</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Day 10 - Network Interception &amp; API Testing</dc:title>
  <dc:subject>PptxGenJS Presentation</dc:subject>
  <dc:creator>PptxGenJS</dc:creator>
  <cp:lastModifiedBy>Lakshmanan, Ajithkumar (Cognizant)</cp:lastModifiedBy>
  <cp:revision>3</cp:revision>
  <dcterms:created xsi:type="dcterms:W3CDTF">2026-05-13T09:37:42Z</dcterms:created>
  <dcterms:modified xsi:type="dcterms:W3CDTF">2026-05-13T09:42:59Z</dcterms:modified>
</cp:coreProperties>
</file>