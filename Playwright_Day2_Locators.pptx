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217920" cy="621792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48640"/>
            <a:ext cx="1828800" cy="182880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TRAINING · DAY 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Elements:
</a:t>
            </a:r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for manual &amp; functional testers — no coding background needed.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6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4681728"/>
            <a:ext cx="292608" cy="29260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692" y="4760732"/>
            <a:ext cx="134600" cy="134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572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page's structure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703320" y="45720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6384F"/>
          </a:solidFill>
          <a:ln/>
        </p:spPr>
      </p:sp>
      <p:sp>
        <p:nvSpPr>
          <p:cNvPr id="14" name="Shape 11"/>
          <p:cNvSpPr/>
          <p:nvPr/>
        </p:nvSpPr>
        <p:spPr>
          <a:xfrm>
            <a:off x="3813048" y="4681728"/>
            <a:ext cx="292608" cy="29260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052" y="4760732"/>
            <a:ext cx="134600" cy="134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4572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any element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17920" y="45720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6384F"/>
          </a:solidFill>
          <a:ln/>
        </p:spPr>
      </p:sp>
      <p:sp>
        <p:nvSpPr>
          <p:cNvPr id="18" name="Shape 14"/>
          <p:cNvSpPr/>
          <p:nvPr/>
        </p:nvSpPr>
        <p:spPr>
          <a:xfrm>
            <a:off x="6327648" y="4681728"/>
            <a:ext cx="292608" cy="29260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652" y="4760732"/>
            <a:ext cx="134600" cy="134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4572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locator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5623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you'll move from “what is this page made of?” to “how do I tell Playwright exactly which element to use.”</a:t>
            </a:r>
            <a:endParaRPr lang="en-US" sz="135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94960" cy="50292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73936"/>
            <a:ext cx="347472" cy="34747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489" y="1867753"/>
            <a:ext cx="159837" cy="1598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691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· Understanding Pages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144768" y="1691640"/>
            <a:ext cx="5394960" cy="50292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9" name="Shape 6"/>
          <p:cNvSpPr/>
          <p:nvPr/>
        </p:nvSpPr>
        <p:spPr>
          <a:xfrm>
            <a:off x="6291072" y="1773936"/>
            <a:ext cx="347472" cy="34747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889" y="1867753"/>
            <a:ext cx="159837" cy="1598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84848" y="1691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 · Playwright Locators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58368" y="2377440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248716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252728" y="237744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web page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58368" y="2980944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3090672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252728" y="2980944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— a tree of elements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58368" y="3584448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7"/>
          <p:cNvSpPr/>
          <p:nvPr/>
        </p:nvSpPr>
        <p:spPr>
          <a:xfrm>
            <a:off x="822960" y="36941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252728" y="3584448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Elements, attributes &amp; values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58368" y="4187952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1"/>
          <p:cNvSpPr/>
          <p:nvPr/>
        </p:nvSpPr>
        <p:spPr>
          <a:xfrm>
            <a:off x="822960" y="42976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252728" y="4187952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Class · Name · Tag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58368" y="4791456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5"/>
          <p:cNvSpPr/>
          <p:nvPr/>
        </p:nvSpPr>
        <p:spPr>
          <a:xfrm>
            <a:off x="822960" y="4901184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6"/>
          <p:cNvSpPr/>
          <p:nvPr/>
        </p:nvSpPr>
        <p:spPr>
          <a:xfrm>
            <a:off x="822960" y="4901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252728" y="4791456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&amp; XPath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58368" y="5394960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29"/>
          <p:cNvSpPr/>
          <p:nvPr/>
        </p:nvSpPr>
        <p:spPr>
          <a:xfrm>
            <a:off x="822960" y="550468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Text 30"/>
          <p:cNvSpPr/>
          <p:nvPr/>
        </p:nvSpPr>
        <p:spPr>
          <a:xfrm>
            <a:off x="82296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252728" y="539496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inspect elements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144768" y="2377440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3"/>
          <p:cNvSpPr/>
          <p:nvPr/>
        </p:nvSpPr>
        <p:spPr>
          <a:xfrm>
            <a:off x="6309360" y="248716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Text 34"/>
          <p:cNvSpPr/>
          <p:nvPr/>
        </p:nvSpPr>
        <p:spPr>
          <a:xfrm>
            <a:off x="630936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739128" y="237744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sites: WebdriverU &amp; AutoExercise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6144768" y="2980944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Shape 37"/>
          <p:cNvSpPr/>
          <p:nvPr/>
        </p:nvSpPr>
        <p:spPr>
          <a:xfrm>
            <a:off x="6309360" y="3090672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2" name="Text 38"/>
          <p:cNvSpPr/>
          <p:nvPr/>
        </p:nvSpPr>
        <p:spPr>
          <a:xfrm>
            <a:off x="630936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6739128" y="2980944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Playwright locator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6144768" y="3584448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Shape 41"/>
          <p:cNvSpPr/>
          <p:nvPr/>
        </p:nvSpPr>
        <p:spPr>
          <a:xfrm>
            <a:off x="6309360" y="36941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6" name="Text 42"/>
          <p:cNvSpPr/>
          <p:nvPr/>
        </p:nvSpPr>
        <p:spPr>
          <a:xfrm>
            <a:off x="630936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6739128" y="3584448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locators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6144768" y="4187952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Shape 45"/>
          <p:cNvSpPr/>
          <p:nvPr/>
        </p:nvSpPr>
        <p:spPr>
          <a:xfrm>
            <a:off x="6309360" y="42976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0" name="Text 46"/>
          <p:cNvSpPr/>
          <p:nvPr/>
        </p:nvSpPr>
        <p:spPr>
          <a:xfrm>
            <a:off x="630936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6739128" y="4187952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page.locator (CSS / XPath)</a:t>
            </a:r>
            <a:endParaRPr lang="en-US" sz="1400" dirty="0"/>
          </a:p>
        </p:txBody>
      </p:sp>
      <p:sp>
        <p:nvSpPr>
          <p:cNvPr id="52" name="Shape 48"/>
          <p:cNvSpPr/>
          <p:nvPr/>
        </p:nvSpPr>
        <p:spPr>
          <a:xfrm>
            <a:off x="6144768" y="4791456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Shape 49"/>
          <p:cNvSpPr/>
          <p:nvPr/>
        </p:nvSpPr>
        <p:spPr>
          <a:xfrm>
            <a:off x="6309360" y="4901184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4" name="Text 50"/>
          <p:cNvSpPr/>
          <p:nvPr/>
        </p:nvSpPr>
        <p:spPr>
          <a:xfrm>
            <a:off x="6309360" y="4901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6739128" y="4791456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6144768" y="5394960"/>
            <a:ext cx="5394960" cy="4937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Shape 53"/>
          <p:cNvSpPr/>
          <p:nvPr/>
        </p:nvSpPr>
        <p:spPr>
          <a:xfrm>
            <a:off x="6309360" y="550468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8" name="Text 54"/>
          <p:cNvSpPr/>
          <p:nvPr/>
        </p:nvSpPr>
        <p:spPr>
          <a:xfrm>
            <a:off x="630936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6739128" y="539496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cheat sheet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·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Page?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7132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00200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page is simply what you see in your browser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text, boxes, buttons, links and images, all drawn on screen.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3232" y="274320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633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from instructions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page is a set of instructions called HTML that describes what to show.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384048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730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browser draws it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24128" y="40965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 read those instructions and paint the page you actually see.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493776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828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is an “element”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24128" y="519379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visible piece — a button, a text box, a heading — is called an element.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92240" y="2697480"/>
            <a:ext cx="5029200" cy="3246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A PAPER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246120"/>
            <a:ext cx="4297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3246120"/>
            <a:ext cx="4297680" cy="36576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0" name="Shape 18"/>
          <p:cNvSpPr/>
          <p:nvPr/>
        </p:nvSpPr>
        <p:spPr>
          <a:xfrm>
            <a:off x="6967728" y="3364992"/>
            <a:ext cx="118872" cy="11887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336499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6912" y="3364992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3703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3931920"/>
            <a:ext cx="3931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297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4526280"/>
            <a:ext cx="3931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49834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4983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5779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boxes to type in, and a button — a web page works just like a form.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·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DOM — a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 of Elements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browser reads the HTML, it builds a tree of all the elements called the DOM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Object Model).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family tree or folders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contains sections, sections contain boxes, boxes contain text — parents and children.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locator is just a way to point to one branch or leaf of this tree.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2606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34747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306324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4343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393192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53035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5303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53035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5303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53035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81160" y="5303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6309360" y="4800600"/>
            <a:ext cx="187452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4800600"/>
            <a:ext cx="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4800600"/>
            <a:ext cx="187452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58704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= one element · lines = parent → child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·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the building blocks of a page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like Lego bricks. Each one is written with a tag in angle brackets, e.g. &lt;button&gt;.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3584448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423160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2715768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447" y="2893527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55648" y="26974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box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55648" y="308152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50976" y="352044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type — name, email…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25696" y="2423160"/>
            <a:ext cx="3584448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25696" y="2423160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Shape 13"/>
          <p:cNvSpPr/>
          <p:nvPr/>
        </p:nvSpPr>
        <p:spPr>
          <a:xfrm>
            <a:off x="4700016" y="2715768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75" y="2893527"/>
            <a:ext cx="302849" cy="3028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22976" y="26974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522976" y="308152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718304" y="352044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do something (Submit).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93024" y="2423160"/>
            <a:ext cx="3584448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93024" y="2423160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Shape 19"/>
          <p:cNvSpPr/>
          <p:nvPr/>
        </p:nvSpPr>
        <p:spPr>
          <a:xfrm>
            <a:off x="8467344" y="2715768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103" y="2893527"/>
            <a:ext cx="302849" cy="30284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90304" y="26974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290304" y="308152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485632" y="352044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 to another page.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58368" y="4325112"/>
            <a:ext cx="3584448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58368" y="4325112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5"/>
          <p:cNvSpPr/>
          <p:nvPr/>
        </p:nvSpPr>
        <p:spPr>
          <a:xfrm>
            <a:off x="932688" y="461772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447" y="4795479"/>
            <a:ext cx="302849" cy="30284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755648" y="4599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Heading / Text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1755648" y="49834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 &lt;p&gt;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50976" y="542239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and paragraphs.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4425696" y="4325112"/>
            <a:ext cx="3584448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425696" y="4325112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Shape 31"/>
          <p:cNvSpPr/>
          <p:nvPr/>
        </p:nvSpPr>
        <p:spPr>
          <a:xfrm>
            <a:off x="4700016" y="461772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775" y="4795479"/>
            <a:ext cx="302849" cy="302849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522976" y="4599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5522976" y="49834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4718304" y="542239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on the page.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8193024" y="4325112"/>
            <a:ext cx="3584448" cy="1737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8193024" y="4325112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Shape 37"/>
          <p:cNvSpPr/>
          <p:nvPr/>
        </p:nvSpPr>
        <p:spPr>
          <a:xfrm>
            <a:off x="8467344" y="461772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5103" y="4795479"/>
            <a:ext cx="302849" cy="302849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290304" y="4599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Dropdown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9290304" y="49834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8485632" y="542239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 a list.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·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Attributes &amp;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extra details attached to an element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like sticky labels on a box. Each attribute has a value.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514600"/>
            <a:ext cx="10881360" cy="914400"/>
          </a:xfrm>
          <a:prstGeom prst="rect">
            <a:avLst/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6060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element with several attributes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29077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placeholder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 Address"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922776"/>
            <a:ext cx="292608" cy="2926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86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element type — input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489704"/>
            <a:ext cx="292608" cy="2926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4531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label — type, id, name, placeholder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292608" cy="29260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02005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the quotes — "text", "email"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55280" y="3886200"/>
            <a:ext cx="3584448" cy="2103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3886200"/>
            <a:ext cx="91440" cy="2103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ATTRIBUTES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43708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unique — one per page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group label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form field name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kind of input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hint text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· 05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Handles: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· Class · Name · Tag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attributes are the most common ways to “grab” an element.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286000"/>
            <a:ext cx="2670048" cy="3246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286000"/>
            <a:ext cx="267004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730" y="2813426"/>
            <a:ext cx="353324" cy="3533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3474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9536" y="393192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name tag — only one on the whole page. The most reliable.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32688" y="4892040"/>
            <a:ext cx="2121408" cy="41148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48920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id="email"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22576" y="2487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BEST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93008" y="2286000"/>
            <a:ext cx="2670048" cy="3246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93008" y="2286000"/>
            <a:ext cx="2670048" cy="91440"/>
          </a:xfrm>
          <a:prstGeom prst="rect">
            <a:avLst/>
          </a:prstGeom>
          <a:solidFill>
            <a:srgbClr val="1E4A66"/>
          </a:solidFill>
          <a:ln/>
        </p:spPr>
      </p:sp>
      <p:sp>
        <p:nvSpPr>
          <p:cNvPr id="18" name="Shape 15"/>
          <p:cNvSpPr/>
          <p:nvPr/>
        </p:nvSpPr>
        <p:spPr>
          <a:xfrm>
            <a:off x="444398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70" y="2813426"/>
            <a:ext cx="353324" cy="3533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93008" y="3474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694176" y="393192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label — many elements can share the same class.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767328" y="4892040"/>
            <a:ext cx="2121408" cy="41148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3" name="Text 19"/>
          <p:cNvSpPr/>
          <p:nvPr/>
        </p:nvSpPr>
        <p:spPr>
          <a:xfrm>
            <a:off x="3767328" y="48920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class="form-control"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27648" y="2286000"/>
            <a:ext cx="2670048" cy="3246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27648" y="2286000"/>
            <a:ext cx="2670048" cy="91440"/>
          </a:xfrm>
          <a:prstGeom prst="rect">
            <a:avLst/>
          </a:prstGeom>
          <a:solidFill>
            <a:srgbClr val="1E4A66"/>
          </a:solidFill>
          <a:ln/>
        </p:spPr>
      </p:sp>
      <p:sp>
        <p:nvSpPr>
          <p:cNvPr id="26" name="Shape 22"/>
          <p:cNvSpPr/>
          <p:nvPr/>
        </p:nvSpPr>
        <p:spPr>
          <a:xfrm>
            <a:off x="72786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010" y="2813426"/>
            <a:ext cx="353324" cy="35332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27648" y="3474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6528816" y="393192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field's name — used when forms are submitted.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601968" y="4892040"/>
            <a:ext cx="2121408" cy="41148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1" name="Text 26"/>
          <p:cNvSpPr/>
          <p:nvPr/>
        </p:nvSpPr>
        <p:spPr>
          <a:xfrm>
            <a:off x="6601968" y="48920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name="email"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162288" y="2286000"/>
            <a:ext cx="2670048" cy="3246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62288" y="2286000"/>
            <a:ext cx="2670048" cy="91440"/>
          </a:xfrm>
          <a:prstGeom prst="rect">
            <a:avLst/>
          </a:prstGeom>
          <a:solidFill>
            <a:srgbClr val="1E4A66"/>
          </a:solidFill>
          <a:ln/>
        </p:spPr>
      </p:sp>
      <p:sp>
        <p:nvSpPr>
          <p:cNvPr id="34" name="Shape 29"/>
          <p:cNvSpPr/>
          <p:nvPr/>
        </p:nvSpPr>
        <p:spPr>
          <a:xfrm>
            <a:off x="1011326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650" y="2813426"/>
            <a:ext cx="353324" cy="35332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162288" y="3474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</a:t>
            </a:r>
            <a:endParaRPr lang="en-US" sz="2200" dirty="0"/>
          </a:p>
        </p:txBody>
      </p:sp>
      <p:sp>
        <p:nvSpPr>
          <p:cNvPr id="37" name="Text 31"/>
          <p:cNvSpPr/>
          <p:nvPr/>
        </p:nvSpPr>
        <p:spPr>
          <a:xfrm>
            <a:off x="9363456" y="393192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type itself — matches every element of that kind.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9436608" y="4892040"/>
            <a:ext cx="2121408" cy="41148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9" name="Text 33"/>
          <p:cNvSpPr/>
          <p:nvPr/>
        </p:nvSpPr>
        <p:spPr>
          <a:xfrm>
            <a:off x="9436608" y="48920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input, button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· 06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CSS selector is a short “address” to find elements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think # for an id (like a #hashtag) and . for a class (like a .category).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384048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#email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24688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whose id is email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26880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means 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3182112"/>
            <a:ext cx="384048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821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.form-control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1821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with class form-control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0" y="31821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means class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895344"/>
            <a:ext cx="384048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953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38953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&lt;input&gt; element on the page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26880" y="38953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tag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608576"/>
            <a:ext cx="384048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085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[name="email"]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46085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whose name is email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26880" y="46085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[attribute="value"]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5321808"/>
            <a:ext cx="384048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3218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input#email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9160" y="53218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&lt;input&gt; that also has id email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26880" y="53218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for precision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· 07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is a path through the tree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like a folder path to a file. It can do things CSS can't, such as finding by visible text.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512064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//input[@id='email']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89320" y="24688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&lt;input&gt; with id email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182112"/>
            <a:ext cx="512064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821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//button[text()='SUBMIT']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89320" y="31821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whose visible text is SUBMIT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3895344"/>
            <a:ext cx="512064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953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//form/input[1]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89320" y="389534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&lt;input&gt; inside the form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4608576"/>
            <a:ext cx="512064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085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//label[text()='Email']/..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89320" y="460857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up to the parent of a label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5394960"/>
            <a:ext cx="1088136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5394960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94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XPath when: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id/class to grab, or you need to match by text or move up/down the tree. Powerful, but more verbose.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XPath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349240" cy="4160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53492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830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78408" y="2697480"/>
            <a:ext cx="365760" cy="36576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796235"/>
            <a:ext cx="168250" cy="168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697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easy to read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78408" y="3337560"/>
            <a:ext cx="365760" cy="36576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" y="3436315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7048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very widely used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78408" y="3977640"/>
            <a:ext cx="365760" cy="36576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" y="4076395"/>
            <a:ext cx="168250" cy="1682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27048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id, class, attributes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78408" y="4617720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7" name="Text 12"/>
          <p:cNvSpPr/>
          <p:nvPr/>
        </p:nvSpPr>
        <p:spPr>
          <a:xfrm>
            <a:off x="97840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27048" y="4617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select by visible text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78408" y="5257800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0" name="Text 15"/>
          <p:cNvSpPr/>
          <p:nvPr/>
        </p:nvSpPr>
        <p:spPr>
          <a:xfrm>
            <a:off x="978408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27048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move up to a parent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190488" y="1783080"/>
            <a:ext cx="5349240" cy="4160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90488" y="1783080"/>
            <a:ext cx="5349240" cy="64008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4" name="Text 19"/>
          <p:cNvSpPr/>
          <p:nvPr/>
        </p:nvSpPr>
        <p:spPr>
          <a:xfrm>
            <a:off x="6190488" y="17830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XPath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510528" y="2697480"/>
            <a:ext cx="365760" cy="36576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2796235"/>
            <a:ext cx="168250" cy="1682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59168" y="2697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match by visible text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6510528" y="3337560"/>
            <a:ext cx="365760" cy="36576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283" y="3436315"/>
            <a:ext cx="168250" cy="1682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59168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navigate up &amp; down the tree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6510528" y="3977640"/>
            <a:ext cx="365760" cy="36576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283" y="4076395"/>
            <a:ext cx="168250" cy="1682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59168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select by position (1st, 2nd)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6510528" y="4617720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35" name="Text 27"/>
          <p:cNvSpPr/>
          <p:nvPr/>
        </p:nvSpPr>
        <p:spPr>
          <a:xfrm>
            <a:off x="651052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7059168" y="4617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and harder to read</a:t>
            </a:r>
            <a:endParaRPr lang="en-US" sz="1350" dirty="0"/>
          </a:p>
        </p:txBody>
      </p:sp>
      <p:sp>
        <p:nvSpPr>
          <p:cNvPr id="37" name="Shape 29"/>
          <p:cNvSpPr/>
          <p:nvPr/>
        </p:nvSpPr>
        <p:spPr>
          <a:xfrm>
            <a:off x="6510528" y="5257800"/>
            <a:ext cx="365760" cy="36576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38" name="Text 30"/>
          <p:cNvSpPr/>
          <p:nvPr/>
        </p:nvSpPr>
        <p:spPr>
          <a:xfrm>
            <a:off x="6510528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7059168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slower / more fragile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an Element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94560"/>
            <a:ext cx="2670048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45059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414016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2149" y="261701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2004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website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32688" y="38862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page in Chrome or Edge.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93008" y="2194560"/>
            <a:ext cx="2670048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21608" y="245059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37216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248656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789" y="261701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32004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Right-click → Inspect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3767328" y="38862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press F12 to open DevTools.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27648" y="2194560"/>
            <a:ext cx="2670048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56248" y="245059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6"/>
          <p:cNvSpPr/>
          <p:nvPr/>
        </p:nvSpPr>
        <p:spPr>
          <a:xfrm>
            <a:off x="655624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083296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429" y="2617013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32004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element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6601968" y="38862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arrow tool, then click any element.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162288" y="2194560"/>
            <a:ext cx="2670048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90888" y="245059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2"/>
          <p:cNvSpPr/>
          <p:nvPr/>
        </p:nvSpPr>
        <p:spPr>
          <a:xfrm>
            <a:off x="939088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10917936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069" y="2617013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18320" y="32004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its details</a:t>
            </a:r>
            <a:endParaRPr lang="en-US" sz="1650" dirty="0"/>
          </a:p>
        </p:txBody>
      </p:sp>
      <p:sp>
        <p:nvSpPr>
          <p:cNvPr id="31" name="Text 25"/>
          <p:cNvSpPr/>
          <p:nvPr/>
        </p:nvSpPr>
        <p:spPr>
          <a:xfrm>
            <a:off x="9436608" y="388620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tag, id, class, name and values.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58368" y="5212080"/>
            <a:ext cx="1088136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27"/>
          <p:cNvSpPr/>
          <p:nvPr/>
        </p:nvSpPr>
        <p:spPr>
          <a:xfrm>
            <a:off x="658368" y="5212080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8"/>
          <p:cNvSpPr/>
          <p:nvPr/>
        </p:nvSpPr>
        <p:spPr>
          <a:xfrm>
            <a:off x="868680" y="5212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highlighted blue line in DevTools is your element. Look for id first, then name, then class.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EXAMPLE ·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WebdriverUniversity —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webdriveruniversity.com/Contact-Us/contactus.html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4754880" cy="4114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FORM YOU SEE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377440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944368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944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511296"/>
            <a:ext cx="4023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511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41148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5074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INSPECT REVEALS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2286000"/>
            <a:ext cx="5779008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2286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name="first_name"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2944368"/>
            <a:ext cx="5779008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9443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29443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2944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name="last_name"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3602736"/>
            <a:ext cx="5779008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6027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360273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36027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name="email"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4261104"/>
            <a:ext cx="5779008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42611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63840" y="426110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42611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name="message"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0" y="4919472"/>
            <a:ext cx="5779008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4919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49194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0" y="49194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· text “SUBMIT”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60720" y="5650992"/>
            <a:ext cx="5779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fields use the name attribute — handy for locating them.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EXAMPLE ·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AutomationExercise —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Signup / Login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automationexercise.com  →  Signup / Login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783080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 adds custom data-qa attributes just for testing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most stable thing to locate by, because they rarely change.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534924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788920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Signup — Name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data-qa="signup-name"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2788920"/>
            <a:ext cx="534924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2788920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Signup — Email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data-qa="signup-email"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630168"/>
            <a:ext cx="534924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630168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37216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Signup button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4014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data-qa="signup-button"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6208" y="3630168"/>
            <a:ext cx="534924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6208" y="3630168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7216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— Email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64808" y="4014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data-qa="login-email"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4471416"/>
            <a:ext cx="534924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471416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45628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— Password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4855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data-qa="login-password"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6208" y="4471416"/>
            <a:ext cx="5349240" cy="71323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36208" y="4471416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5628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password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64808" y="4855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id="password"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·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Locator?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locator is Playwright's way to find an element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reusable “pointer” you create once and then act on (type, click, check).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3232" y="269748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178" y="2860426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679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Auto-waits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508760" y="30266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waits for the element to appear before acting — far fewer flaky failures.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37216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78" y="3884554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703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Re-finds fresh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508760" y="40507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locates the element again each time, so it survives small page changes.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13232" y="4745736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" y="4908682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727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like English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50876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getByRole('button', { name: 'SUBMIT' }) — almost plain language.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92240" y="2697480"/>
            <a:ext cx="5029200" cy="3246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9224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FAMILIES OF LOCATORS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12280" y="329184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95160" y="3456432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04" y="357987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User-facing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995160" y="38221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human sees the page — role, label, text. Preferred.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812280" y="461772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A6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995160" y="478231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2A3F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604" y="4905756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89520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page.locator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995160" y="5148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sees it — CSS / XPath selectors. For fallback.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·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User-Facing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elements the way a person does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by role, label or visible text. Resilient, readable, and great for accessibility.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59436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getByRole('button', { name: 'SUBMIT' })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12280" y="24688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its role (button, textbox, link) + 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3182112"/>
            <a:ext cx="59436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8211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getByLabel('Email Address')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12280" y="31821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field's visible label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895344"/>
            <a:ext cx="59436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953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getByPlaceholder('First Name')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12280" y="38953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grey hint text inside a box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4608576"/>
            <a:ext cx="59436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0857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getByText('SUBMIT')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12280" y="460857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any visible text on the page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5321808"/>
            <a:ext cx="59436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2180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getByTestId('signup-email')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12280" y="5321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test id (e.g. a data-qa value)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·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page.locator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CSS / XPath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72768"/>
            <a:ext cx="82296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to point using the page's structure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same CSS and XPath you just learned, with the full power of selectors.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64008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page.locator('#password')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24688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id  →  AutomationExercise password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182112"/>
            <a:ext cx="64008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8211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page.locator('[name="first_name"]')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31821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attribute  →  WebdriverU first name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895344"/>
            <a:ext cx="64008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9534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page.locator('[data-qa="login-email"]')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38953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attribute  →  AutomationExercise login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608576"/>
            <a:ext cx="64008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0857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page.locator('.form-control')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46085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class  →  matches a group of fields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5321808"/>
            <a:ext cx="6400800" cy="566928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2180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page.locator('xpath=//button[text()="SUBMIT"]')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53218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 →  button by visible text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·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2286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91640"/>
            <a:ext cx="91440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201030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 user-facing locators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420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element has a visible label, text or clear role — buttons, links, labelled inputs.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time, this is the right choice: readable and resilient.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0488" y="1691640"/>
            <a:ext cx="534924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6190488" y="1691640"/>
            <a:ext cx="91440" cy="228600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2A3F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88" y="201030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page.locator (CSS / XPath)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00800" y="25420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there's no label/text/role, but a stable id or data-qa exists.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icon-only buttons, a specific position, or complex/dynamic pages.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SCENARIOS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58368" y="4526280"/>
            <a:ext cx="512064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52628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“SUBMIT” button on the contact form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806440" y="452628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72200" y="4526280"/>
            <a:ext cx="5367528" cy="438912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1" name="Text 17"/>
          <p:cNvSpPr/>
          <p:nvPr/>
        </p:nvSpPr>
        <p:spPr>
          <a:xfrm>
            <a:off x="6309360" y="45262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getByRole('button', { name: 'SUBMIT' })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8368" y="5038344"/>
            <a:ext cx="512064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503834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with only name="first_name", no label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806440" y="5038344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172200" y="5038344"/>
            <a:ext cx="5367528" cy="438912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6" name="Text 22"/>
          <p:cNvSpPr/>
          <p:nvPr/>
        </p:nvSpPr>
        <p:spPr>
          <a:xfrm>
            <a:off x="6309360" y="503834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page.locator('[name="first_name"]')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58368" y="5550408"/>
            <a:ext cx="512064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4"/>
          <p:cNvSpPr/>
          <p:nvPr/>
        </p:nvSpPr>
        <p:spPr>
          <a:xfrm>
            <a:off x="777240" y="555040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data-qa="login-email" on AutomationExercise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806440" y="555040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172200" y="5550408"/>
            <a:ext cx="5367528" cy="438912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1" name="Text 27"/>
          <p:cNvSpPr/>
          <p:nvPr/>
        </p:nvSpPr>
        <p:spPr>
          <a:xfrm>
            <a:off x="6309360" y="55504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getByTestId('login-email')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658368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user-facing needs good labels/roles; CSS/XPath breaks if developers rename ids or classes. Avoid long, brittle XPath.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slow" p14:dur="8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108960" cy="310896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&amp; </a:t>
            </a:r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Cheat Sheet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420624" cy="42062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800" y="1896648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7592" y="17830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 → DOM tree of elements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420624" cy="42062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200" y="1896648"/>
            <a:ext cx="193487" cy="193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93992" y="17830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have attributes &amp; values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13232" y="2441448"/>
            <a:ext cx="420624" cy="42062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0" y="2555016"/>
            <a:ext cx="193487" cy="193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244144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Class · Name · Tag to grab them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99632" y="2441448"/>
            <a:ext cx="420624" cy="42062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200" y="2555016"/>
            <a:ext cx="193487" cy="1934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93992" y="244144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short address; XPath = tree path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713232" y="3099816"/>
            <a:ext cx="420624" cy="42062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00" y="3213384"/>
            <a:ext cx="193487" cy="19348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07592" y="309981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with right-click → Inspect (F12)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199632" y="3099816"/>
            <a:ext cx="420624" cy="42062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200" y="3213384"/>
            <a:ext cx="193487" cy="19348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93992" y="309981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auto-wait &amp; re-find elements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58368" y="4160520"/>
            <a:ext cx="10881360" cy="1051560"/>
          </a:xfrm>
          <a:prstGeom prst="rect">
            <a:avLst/>
          </a:prstGeom>
          <a:solidFill>
            <a:srgbClr val="16384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60120" y="4434840"/>
            <a:ext cx="502920" cy="502920"/>
          </a:xfrm>
          <a:prstGeom prst="ellipse">
            <a:avLst/>
          </a:prstGeom>
          <a:solidFill>
            <a:srgbClr val="1E4A66"/>
          </a:solidFill>
          <a:ln/>
          <a:effectLst>
            <a:outerShdw sx="100000" sy="100000" kx="0" ky="0" algn="bl" rotWithShape="0" blurRad="114300" dist="38100" dir="5400000">
              <a:srgbClr val="0F2A3F">
                <a:alpha val="15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908" y="4570628"/>
            <a:ext cx="231343" cy="23134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645920" y="41605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getByRole / getByText / getByLabel. Fall back to page.locator with a stable id or data-qa. Use XPath only when you need text or tree navigation.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58368" y="5440680"/>
            <a:ext cx="10881360" cy="566928"/>
          </a:xfrm>
          <a:prstGeom prst="rect">
            <a:avLst/>
          </a:prstGeom>
          <a:solidFill>
            <a:srgbClr val="16384F"/>
          </a:solidFill>
          <a:ln/>
        </p:spPr>
      </p:sp>
      <p:sp>
        <p:nvSpPr>
          <p:cNvPr id="29" name="Shape 20"/>
          <p:cNvSpPr/>
          <p:nvPr/>
        </p:nvSpPr>
        <p:spPr>
          <a:xfrm>
            <a:off x="658368" y="5440680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1"/>
          <p:cNvSpPr/>
          <p:nvPr/>
        </p:nvSpPr>
        <p:spPr>
          <a:xfrm>
            <a:off x="868680" y="5440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→ Day 3: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 with elements — typing, clicking, and checking results with assertions.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Day 2 — Locators</dc:title>
  <dc:subject>PptxGenJS Presentation</dc:subject>
  <dc:creator>Automation Training Team</dc:creator>
  <cp:lastModifiedBy>Automation Training Team</cp:lastModifiedBy>
  <cp:revision>1</cp:revision>
  <dcterms:created xsi:type="dcterms:W3CDTF">2026-06-22T18:18:31Z</dcterms:created>
  <dcterms:modified xsi:type="dcterms:W3CDTF">2026-06-22T18:18:31Z</dcterms:modified>
</cp:coreProperties>
</file>