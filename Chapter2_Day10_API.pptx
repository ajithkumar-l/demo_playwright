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69D3A7"/>
          </a:solidFill>
          <a:ln w="12700">
            <a:solidFill>
              <a:srgbClr val="69D3A7"/>
            </a:solidFill>
            <a:prstDash val="solid"/>
          </a:ln>
        </p:spPr>
      </p:sp>
      <p:sp>
        <p:nvSpPr>
          <p:cNvPr id="3" name="Text 1"/>
          <p:cNvSpPr/>
          <p:nvPr/>
        </p:nvSpPr>
        <p:spPr>
          <a:xfrm>
            <a:off x="548640" y="914400"/>
            <a:ext cx="8229600" cy="365760"/>
          </a:xfrm>
          <a:prstGeom prst="rect">
            <a:avLst/>
          </a:prstGeom>
          <a:noFill/>
          <a:ln/>
        </p:spPr>
        <p:txBody>
          <a:bodyPr wrap="square" rtlCol="0" anchor="ctr"/>
          <a:lstStyle/>
          <a:p>
            <a:pPr indent="0" marL="0">
              <a:buNone/>
            </a:pPr>
            <a:r>
              <a:rPr lang="en-US" sz="1200" b="1" spc="600" kern="0" dirty="0">
                <a:solidFill>
                  <a:srgbClr val="69D3A7"/>
                </a:solidFill>
                <a:latin typeface="Calibri" pitchFamily="34" charset="0"/>
                <a:ea typeface="Calibri" pitchFamily="34" charset="-122"/>
                <a:cs typeface="Calibri" pitchFamily="34" charset="-120"/>
              </a:rPr>
              <a:t>1-HOUR SESSION  ·  DAY 10</a:t>
            </a:r>
            <a:endParaRPr lang="en-US" sz="1200" dirty="0"/>
          </a:p>
        </p:txBody>
      </p:sp>
      <p:sp>
        <p:nvSpPr>
          <p:cNvPr id="4" name="Text 2"/>
          <p:cNvSpPr/>
          <p:nvPr/>
        </p:nvSpPr>
        <p:spPr>
          <a:xfrm>
            <a:off x="548640" y="1371600"/>
            <a:ext cx="8229600" cy="82296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Network &amp; API Testing</a:t>
            </a:r>
            <a:endParaRPr lang="en-US" sz="4200" dirty="0"/>
          </a:p>
        </p:txBody>
      </p:sp>
      <p:sp>
        <p:nvSpPr>
          <p:cNvPr id="5" name="Text 3"/>
          <p:cNvSpPr/>
          <p:nvPr/>
        </p:nvSpPr>
        <p:spPr>
          <a:xfrm>
            <a:off x="548640" y="2240280"/>
            <a:ext cx="8229600" cy="457200"/>
          </a:xfrm>
          <a:prstGeom prst="rect">
            <a:avLst/>
          </a:prstGeom>
          <a:noFill/>
          <a:ln/>
        </p:spPr>
        <p:txBody>
          <a:bodyPr wrap="square" lIns="0" tIns="0" rIns="0" bIns="0" rtlCol="0" anchor="ctr"/>
          <a:lstStyle/>
          <a:p>
            <a:pPr indent="0" marL="0">
              <a:buNone/>
            </a:pPr>
            <a:r>
              <a:rPr lang="en-US" sz="1600" i="1" dirty="0">
                <a:solidFill>
                  <a:srgbClr val="CADCFC"/>
                </a:solidFill>
                <a:latin typeface="Georgia" pitchFamily="34" charset="0"/>
                <a:ea typeface="Georgia" pitchFamily="34" charset="-122"/>
                <a:cs typeface="Georgia" pitchFamily="34" charset="-120"/>
              </a:rPr>
              <a:t>+ cy.request, cy.intercept, mocking &amp; response validation — with Copilot's help</a:t>
            </a:r>
            <a:endParaRPr lang="en-US" sz="1600" dirty="0"/>
          </a:p>
        </p:txBody>
      </p:sp>
      <p:sp>
        <p:nvSpPr>
          <p:cNvPr id="6" name="Shape 4"/>
          <p:cNvSpPr/>
          <p:nvPr/>
        </p:nvSpPr>
        <p:spPr>
          <a:xfrm>
            <a:off x="548640" y="3246120"/>
            <a:ext cx="3657600" cy="777240"/>
          </a:xfrm>
          <a:prstGeom prst="rect">
            <a:avLst/>
          </a:prstGeom>
          <a:solidFill>
            <a:srgbClr val="1E2761"/>
          </a:solidFill>
          <a:ln w="19050">
            <a:solidFill>
              <a:srgbClr val="69D3A7"/>
            </a:solidFill>
            <a:prstDash val="solid"/>
          </a:ln>
        </p:spPr>
      </p:sp>
      <p:sp>
        <p:nvSpPr>
          <p:cNvPr id="7" name="Text 5"/>
          <p:cNvSpPr/>
          <p:nvPr/>
        </p:nvSpPr>
        <p:spPr>
          <a:xfrm>
            <a:off x="731520" y="3337560"/>
            <a:ext cx="3383280" cy="274320"/>
          </a:xfrm>
          <a:prstGeom prst="rect">
            <a:avLst/>
          </a:prstGeom>
          <a:noFill/>
          <a:ln/>
        </p:spPr>
        <p:txBody>
          <a:bodyPr wrap="square" lIns="0" tIns="0" rIns="0" bIns="0" rtlCol="0" anchor="ctr"/>
          <a:lstStyle/>
          <a:p>
            <a:pPr indent="0" marL="0">
              <a:buNone/>
            </a:pPr>
            <a:r>
              <a:rPr lang="en-US" sz="1000" b="1" spc="400" kern="0" dirty="0">
                <a:solidFill>
                  <a:srgbClr val="69D3A7"/>
                </a:solidFill>
                <a:latin typeface="Calibri" pitchFamily="34" charset="0"/>
                <a:ea typeface="Calibri" pitchFamily="34" charset="-122"/>
                <a:cs typeface="Calibri" pitchFamily="34" charset="-120"/>
              </a:rPr>
              <a:t>PART 1  ·  30 MIN</a:t>
            </a:r>
            <a:endParaRPr lang="en-US" sz="1000" dirty="0"/>
          </a:p>
        </p:txBody>
      </p:sp>
      <p:sp>
        <p:nvSpPr>
          <p:cNvPr id="8" name="Text 6"/>
          <p:cNvSpPr/>
          <p:nvPr/>
        </p:nvSpPr>
        <p:spPr>
          <a:xfrm>
            <a:off x="731520" y="3611880"/>
            <a:ext cx="3383280" cy="365760"/>
          </a:xfrm>
          <a:prstGeom prst="rect">
            <a:avLst/>
          </a:prstGeom>
          <a:noFill/>
          <a:ln/>
        </p:spPr>
        <p:txBody>
          <a:bodyPr wrap="square" lIns="0" tIns="0" rIns="0" bIns="0" rtlCol="0" anchor="ctr"/>
          <a:lstStyle/>
          <a:p>
            <a:pPr indent="0" marL="0">
              <a:buNone/>
            </a:pPr>
            <a:r>
              <a:rPr lang="en-US" sz="1200" dirty="0">
                <a:solidFill>
                  <a:srgbClr val="FFFFFF"/>
                </a:solidFill>
                <a:latin typeface="Georgia" pitchFamily="34" charset="0"/>
                <a:ea typeface="Georgia" pitchFamily="34" charset="-122"/>
                <a:cs typeface="Georgia" pitchFamily="34" charset="-120"/>
              </a:rPr>
              <a:t>request · intercept · stub · assert</a:t>
            </a:r>
            <a:endParaRPr lang="en-US" sz="1200" dirty="0"/>
          </a:p>
        </p:txBody>
      </p:sp>
      <p:sp>
        <p:nvSpPr>
          <p:cNvPr id="9" name="Shape 7"/>
          <p:cNvSpPr/>
          <p:nvPr/>
        </p:nvSpPr>
        <p:spPr>
          <a:xfrm>
            <a:off x="4572000" y="3246120"/>
            <a:ext cx="3657600" cy="777240"/>
          </a:xfrm>
          <a:prstGeom prst="rect">
            <a:avLst/>
          </a:prstGeom>
          <a:solidFill>
            <a:srgbClr val="1E2761"/>
          </a:solidFill>
          <a:ln w="19050">
            <a:solidFill>
              <a:srgbClr val="7C4DFF"/>
            </a:solidFill>
            <a:prstDash val="solid"/>
          </a:ln>
        </p:spPr>
      </p:sp>
      <p:sp>
        <p:nvSpPr>
          <p:cNvPr id="10" name="Text 8"/>
          <p:cNvSpPr/>
          <p:nvPr/>
        </p:nvSpPr>
        <p:spPr>
          <a:xfrm>
            <a:off x="4754880" y="3337560"/>
            <a:ext cx="3383280" cy="274320"/>
          </a:xfrm>
          <a:prstGeom prst="rect">
            <a:avLst/>
          </a:prstGeom>
          <a:noFill/>
          <a:ln/>
        </p:spPr>
        <p:txBody>
          <a:bodyPr wrap="square" lIns="0" tIns="0" rIns="0" bIns="0" rtlCol="0" anchor="ctr"/>
          <a:lstStyle/>
          <a:p>
            <a:pPr indent="0" marL="0">
              <a:buNone/>
            </a:pPr>
            <a:r>
              <a:rPr lang="en-US" sz="1000" b="1" spc="400" kern="0" dirty="0">
                <a:solidFill>
                  <a:srgbClr val="7C4DFF"/>
                </a:solidFill>
                <a:latin typeface="Calibri" pitchFamily="34" charset="0"/>
                <a:ea typeface="Calibri" pitchFamily="34" charset="-122"/>
                <a:cs typeface="Calibri" pitchFamily="34" charset="-120"/>
              </a:rPr>
              <a:t>PART 2  ·  30 MIN</a:t>
            </a:r>
            <a:endParaRPr lang="en-US" sz="1000" dirty="0"/>
          </a:p>
        </p:txBody>
      </p:sp>
      <p:sp>
        <p:nvSpPr>
          <p:cNvPr id="11" name="Text 9"/>
          <p:cNvSpPr/>
          <p:nvPr/>
        </p:nvSpPr>
        <p:spPr>
          <a:xfrm>
            <a:off x="4754880" y="3611880"/>
            <a:ext cx="3383280" cy="365760"/>
          </a:xfrm>
          <a:prstGeom prst="rect">
            <a:avLst/>
          </a:prstGeom>
          <a:noFill/>
          <a:ln/>
        </p:spPr>
        <p:txBody>
          <a:bodyPr wrap="square" lIns="0" tIns="0" rIns="0" bIns="0" rtlCol="0" anchor="ctr"/>
          <a:lstStyle/>
          <a:p>
            <a:pPr indent="0" marL="0">
              <a:buNone/>
            </a:pPr>
            <a:r>
              <a:rPr lang="en-US" sz="1300" dirty="0">
                <a:solidFill>
                  <a:srgbClr val="FFFFFF"/>
                </a:solidFill>
                <a:latin typeface="Georgia" pitchFamily="34" charset="0"/>
                <a:ea typeface="Georgia" pitchFamily="34" charset="-122"/>
                <a:cs typeface="Georgia" pitchFamily="34" charset="-120"/>
              </a:rPr>
              <a:t>Copilot writes API tests</a:t>
            </a:r>
            <a:endParaRPr lang="en-US" sz="1300" dirty="0"/>
          </a:p>
        </p:txBody>
      </p:sp>
      <p:sp>
        <p:nvSpPr>
          <p:cNvPr id="12" name="Text 10"/>
          <p:cNvSpPr/>
          <p:nvPr/>
        </p:nvSpPr>
        <p:spPr>
          <a:xfrm>
            <a:off x="548640" y="4343400"/>
            <a:ext cx="8229600" cy="27432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Test below the UI — faster, more stable, and far easier to debug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How This Hour Runs</a:t>
            </a:r>
            <a:endParaRPr lang="en-US" sz="32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From clicking buttons to testing the API directly — and stubbing the backend when you need to</a:t>
            </a:r>
            <a:endParaRPr lang="en-US" sz="1300" dirty="0"/>
          </a:p>
        </p:txBody>
      </p:sp>
      <p:sp>
        <p:nvSpPr>
          <p:cNvPr id="4" name="Shape 2"/>
          <p:cNvSpPr/>
          <p:nvPr/>
        </p:nvSpPr>
        <p:spPr>
          <a:xfrm>
            <a:off x="457200" y="1417320"/>
            <a:ext cx="4023360" cy="3200400"/>
          </a:xfrm>
          <a:prstGeom prst="rect">
            <a:avLst/>
          </a:prstGeom>
          <a:solidFill>
            <a:srgbClr val="F7F9FC"/>
          </a:solidFill>
          <a:ln w="12700">
            <a:solidFill>
              <a:srgbClr val="F7F9FC"/>
            </a:solidFill>
            <a:prstDash val="solid"/>
          </a:ln>
        </p:spPr>
      </p:sp>
      <p:sp>
        <p:nvSpPr>
          <p:cNvPr id="5" name="Shape 3"/>
          <p:cNvSpPr/>
          <p:nvPr/>
        </p:nvSpPr>
        <p:spPr>
          <a:xfrm>
            <a:off x="457200" y="1417320"/>
            <a:ext cx="73152" cy="3200400"/>
          </a:xfrm>
          <a:prstGeom prst="rect">
            <a:avLst/>
          </a:prstGeom>
          <a:solidFill>
            <a:srgbClr val="69D3A7"/>
          </a:solidFill>
          <a:ln w="12700">
            <a:solidFill>
              <a:srgbClr val="69D3A7"/>
            </a:solidFill>
            <a:prstDash val="solid"/>
          </a:ln>
        </p:spPr>
      </p:sp>
      <p:sp>
        <p:nvSpPr>
          <p:cNvPr id="6" name="Text 4"/>
          <p:cNvSpPr/>
          <p:nvPr/>
        </p:nvSpPr>
        <p:spPr>
          <a:xfrm>
            <a:off x="685800" y="1554480"/>
            <a:ext cx="3657600" cy="274320"/>
          </a:xfrm>
          <a:prstGeom prst="rect">
            <a:avLst/>
          </a:prstGeom>
          <a:noFill/>
          <a:ln/>
        </p:spPr>
        <p:txBody>
          <a:bodyPr wrap="square" lIns="0" tIns="0" rIns="0" bIns="0" rtlCol="0" anchor="ctr"/>
          <a:lstStyle/>
          <a:p>
            <a:pPr indent="0" marL="0">
              <a:buNone/>
            </a:pPr>
            <a:r>
              <a:rPr lang="en-US" sz="1000" b="1" spc="400" kern="0" dirty="0">
                <a:solidFill>
                  <a:srgbClr val="69D3A7"/>
                </a:solidFill>
                <a:latin typeface="Calibri" pitchFamily="34" charset="0"/>
                <a:ea typeface="Calibri" pitchFamily="34" charset="-122"/>
                <a:cs typeface="Calibri" pitchFamily="34" charset="-120"/>
              </a:rPr>
              <a:t>PART 1  ·  30 MIN</a:t>
            </a:r>
            <a:endParaRPr lang="en-US" sz="1000" dirty="0"/>
          </a:p>
        </p:txBody>
      </p:sp>
      <p:sp>
        <p:nvSpPr>
          <p:cNvPr id="7" name="Text 5"/>
          <p:cNvSpPr/>
          <p:nvPr/>
        </p:nvSpPr>
        <p:spPr>
          <a:xfrm>
            <a:off x="685800" y="1874520"/>
            <a:ext cx="3657600" cy="365760"/>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Network &amp; API Testing</a:t>
            </a:r>
            <a:endParaRPr lang="en-US" sz="1700" dirty="0"/>
          </a:p>
        </p:txBody>
      </p:sp>
      <p:sp>
        <p:nvSpPr>
          <p:cNvPr id="8" name="Text 6"/>
          <p:cNvSpPr/>
          <p:nvPr/>
        </p:nvSpPr>
        <p:spPr>
          <a:xfrm>
            <a:off x="777240" y="2377440"/>
            <a:ext cx="365760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What is API testing?</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cy.request — real HTTP calls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cy.intercept — watch / modify network</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Mocking responses (stubs)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Validating status, body, headers</a:t>
            </a:r>
            <a:endParaRPr lang="en-US" sz="1200" dirty="0"/>
          </a:p>
        </p:txBody>
      </p:sp>
      <p:sp>
        <p:nvSpPr>
          <p:cNvPr id="9" name="Shape 7"/>
          <p:cNvSpPr/>
          <p:nvPr/>
        </p:nvSpPr>
        <p:spPr>
          <a:xfrm>
            <a:off x="4663440" y="1417320"/>
            <a:ext cx="4023360" cy="3200400"/>
          </a:xfrm>
          <a:prstGeom prst="rect">
            <a:avLst/>
          </a:prstGeom>
          <a:solidFill>
            <a:srgbClr val="F7F9FC"/>
          </a:solidFill>
          <a:ln w="12700">
            <a:solidFill>
              <a:srgbClr val="F7F9FC"/>
            </a:solidFill>
            <a:prstDash val="solid"/>
          </a:ln>
        </p:spPr>
      </p:sp>
      <p:sp>
        <p:nvSpPr>
          <p:cNvPr id="10" name="Shape 8"/>
          <p:cNvSpPr/>
          <p:nvPr/>
        </p:nvSpPr>
        <p:spPr>
          <a:xfrm>
            <a:off x="4663440" y="1417320"/>
            <a:ext cx="73152" cy="3200400"/>
          </a:xfrm>
          <a:prstGeom prst="rect">
            <a:avLst/>
          </a:prstGeom>
          <a:solidFill>
            <a:srgbClr val="7C4DFF"/>
          </a:solidFill>
          <a:ln w="12700">
            <a:solidFill>
              <a:srgbClr val="7C4DFF"/>
            </a:solidFill>
            <a:prstDash val="solid"/>
          </a:ln>
        </p:spPr>
      </p:sp>
      <p:sp>
        <p:nvSpPr>
          <p:cNvPr id="11" name="Text 9"/>
          <p:cNvSpPr/>
          <p:nvPr/>
        </p:nvSpPr>
        <p:spPr>
          <a:xfrm>
            <a:off x="4892040" y="1554480"/>
            <a:ext cx="3657600" cy="274320"/>
          </a:xfrm>
          <a:prstGeom prst="rect">
            <a:avLst/>
          </a:prstGeom>
          <a:noFill/>
          <a:ln/>
        </p:spPr>
        <p:txBody>
          <a:bodyPr wrap="square" lIns="0" tIns="0" rIns="0" bIns="0" rtlCol="0" anchor="ctr"/>
          <a:lstStyle/>
          <a:p>
            <a:pPr indent="0" marL="0">
              <a:buNone/>
            </a:pPr>
            <a:r>
              <a:rPr lang="en-US" sz="1000" b="1" spc="400" kern="0" dirty="0">
                <a:solidFill>
                  <a:srgbClr val="7C4DFF"/>
                </a:solidFill>
                <a:latin typeface="Calibri" pitchFamily="34" charset="0"/>
                <a:ea typeface="Calibri" pitchFamily="34" charset="-122"/>
                <a:cs typeface="Calibri" pitchFamily="34" charset="-120"/>
              </a:rPr>
              <a:t>PART 2  ·  30 MIN</a:t>
            </a:r>
            <a:endParaRPr lang="en-US" sz="1000" dirty="0"/>
          </a:p>
        </p:txBody>
      </p:sp>
      <p:sp>
        <p:nvSpPr>
          <p:cNvPr id="12" name="Text 10"/>
          <p:cNvSpPr/>
          <p:nvPr/>
        </p:nvSpPr>
        <p:spPr>
          <a:xfrm>
            <a:off x="4892040" y="1874520"/>
            <a:ext cx="3657600" cy="365760"/>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Copilot for API Testing</a:t>
            </a:r>
            <a:endParaRPr lang="en-US" sz="1700" dirty="0"/>
          </a:p>
        </p:txBody>
      </p:sp>
      <p:sp>
        <p:nvSpPr>
          <p:cNvPr id="13" name="Text 11"/>
          <p:cNvSpPr/>
          <p:nvPr/>
        </p:nvSpPr>
        <p:spPr>
          <a:xfrm>
            <a:off x="4983480" y="2377440"/>
            <a:ext cx="365760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Generate request + assertions from docs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Refactor: UI setup → cy.request setup</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Use Copilot well — three principles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Tips, tricks, and best practices</a:t>
            </a:r>
            <a:endParaRPr lang="en-US" sz="1200" dirty="0"/>
          </a:p>
        </p:txBody>
      </p:sp>
      <p:sp>
        <p:nvSpPr>
          <p:cNvPr id="14" name="Text 12"/>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15" name="Text 13"/>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31520" y="2011680"/>
            <a:ext cx="548640" cy="73152"/>
          </a:xfrm>
          <a:prstGeom prst="rect">
            <a:avLst/>
          </a:prstGeom>
          <a:solidFill>
            <a:srgbClr val="69D3A7"/>
          </a:solidFill>
          <a:ln w="12700">
            <a:solidFill>
              <a:srgbClr val="69D3A7"/>
            </a:solidFill>
            <a:prstDash val="solid"/>
          </a:ln>
        </p:spPr>
      </p:sp>
      <p:sp>
        <p:nvSpPr>
          <p:cNvPr id="3" name="Text 1"/>
          <p:cNvSpPr/>
          <p:nvPr/>
        </p:nvSpPr>
        <p:spPr>
          <a:xfrm>
            <a:off x="731520" y="2148840"/>
            <a:ext cx="8229600" cy="365760"/>
          </a:xfrm>
          <a:prstGeom prst="rect">
            <a:avLst/>
          </a:prstGeom>
          <a:noFill/>
          <a:ln/>
        </p:spPr>
        <p:txBody>
          <a:bodyPr wrap="square" rtlCol="0" anchor="ctr"/>
          <a:lstStyle/>
          <a:p>
            <a:pPr indent="0" marL="0">
              <a:buNone/>
            </a:pPr>
            <a:r>
              <a:rPr lang="en-US" sz="1400" b="1" spc="800" kern="0" dirty="0">
                <a:solidFill>
                  <a:srgbClr val="69D3A7"/>
                </a:solidFill>
                <a:latin typeface="Calibri" pitchFamily="34" charset="0"/>
                <a:ea typeface="Calibri" pitchFamily="34" charset="-122"/>
                <a:cs typeface="Calibri" pitchFamily="34" charset="-120"/>
              </a:rPr>
              <a:t>PART 1</a:t>
            </a:r>
            <a:endParaRPr lang="en-US" sz="1400" dirty="0"/>
          </a:p>
        </p:txBody>
      </p:sp>
      <p:sp>
        <p:nvSpPr>
          <p:cNvPr id="4" name="Text 2"/>
          <p:cNvSpPr/>
          <p:nvPr/>
        </p:nvSpPr>
        <p:spPr>
          <a:xfrm>
            <a:off x="731520" y="2560320"/>
            <a:ext cx="8229600" cy="82296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Network &amp; API Testing</a:t>
            </a:r>
            <a:endParaRPr lang="en-US" sz="3800" dirty="0"/>
          </a:p>
        </p:txBody>
      </p:sp>
      <p:sp>
        <p:nvSpPr>
          <p:cNvPr id="5" name="Text 3"/>
          <p:cNvSpPr/>
          <p:nvPr/>
        </p:nvSpPr>
        <p:spPr>
          <a:xfrm>
            <a:off x="731520" y="3383280"/>
            <a:ext cx="8229600" cy="502920"/>
          </a:xfrm>
          <a:prstGeom prst="rect">
            <a:avLst/>
          </a:prstGeom>
          <a:noFill/>
          <a:ln/>
        </p:spPr>
        <p:txBody>
          <a:bodyPr wrap="square" lIns="0" tIns="0" rIns="0" bIns="0" rtlCol="0" anchor="ctr"/>
          <a:lstStyle/>
          <a:p>
            <a:pPr indent="0" marL="0">
              <a:buNone/>
            </a:pPr>
            <a:r>
              <a:rPr lang="en-US" sz="1400" i="1" dirty="0">
                <a:solidFill>
                  <a:srgbClr val="CADCFC"/>
                </a:solidFill>
                <a:latin typeface="Georgia" pitchFamily="34" charset="0"/>
                <a:ea typeface="Georgia" pitchFamily="34" charset="-122"/>
                <a:cs typeface="Georgia" pitchFamily="34" charset="-120"/>
              </a:rPr>
              <a:t>Two tools, two jobs — cy.request talks to the API directly, cy.intercept watches the browser.</a:t>
            </a:r>
            <a:endParaRPr lang="en-US" sz="1400" dirty="0"/>
          </a:p>
        </p:txBody>
      </p:sp>
      <p:sp>
        <p:nvSpPr>
          <p:cNvPr id="6" name="Text 4"/>
          <p:cNvSpPr/>
          <p:nvPr/>
        </p:nvSpPr>
        <p:spPr>
          <a:xfrm>
            <a:off x="731520" y="4023360"/>
            <a:ext cx="8229600" cy="320040"/>
          </a:xfrm>
          <a:prstGeom prst="rect">
            <a:avLst/>
          </a:prstGeom>
          <a:noFill/>
          <a:ln/>
        </p:spPr>
        <p:txBody>
          <a:bodyPr wrap="square" lIns="0" tIns="0" rIns="0" bIns="0" rtlCol="0" anchor="ctr"/>
          <a:lstStyle/>
          <a:p>
            <a:pPr indent="0" marL="0">
              <a:buNone/>
            </a:pPr>
            <a:r>
              <a:rPr lang="en-US" sz="1200" spc="400" kern="0" dirty="0">
                <a:solidFill>
                  <a:srgbClr val="69D3A7"/>
                </a:solidFill>
                <a:latin typeface="Calibri" pitchFamily="34" charset="0"/>
                <a:ea typeface="Calibri" pitchFamily="34" charset="-122"/>
                <a:cs typeface="Calibri" pitchFamily="34" charset="-120"/>
              </a:rPr>
              <a:t>⏱  30 minutes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UI Testing  vs  API Testing</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Same app, two layers — testing each one in isolation gives faster, more reliable feedback</a:t>
            </a:r>
            <a:endParaRPr lang="en-US" sz="1300" dirty="0"/>
          </a:p>
        </p:txBody>
      </p:sp>
      <p:sp>
        <p:nvSpPr>
          <p:cNvPr id="4" name="Shape 2"/>
          <p:cNvSpPr/>
          <p:nvPr/>
        </p:nvSpPr>
        <p:spPr>
          <a:xfrm>
            <a:off x="457200" y="1417320"/>
            <a:ext cx="4023360" cy="3108960"/>
          </a:xfrm>
          <a:prstGeom prst="rect">
            <a:avLst/>
          </a:prstGeom>
          <a:solidFill>
            <a:srgbClr val="F7F9FC"/>
          </a:solidFill>
          <a:ln w="12700">
            <a:solidFill>
              <a:srgbClr val="F7F9FC"/>
            </a:solidFill>
            <a:prstDash val="solid"/>
          </a:ln>
        </p:spPr>
      </p:sp>
      <p:sp>
        <p:nvSpPr>
          <p:cNvPr id="5" name="Shape 3"/>
          <p:cNvSpPr/>
          <p:nvPr/>
        </p:nvSpPr>
        <p:spPr>
          <a:xfrm>
            <a:off x="457200" y="1417320"/>
            <a:ext cx="4023360" cy="502920"/>
          </a:xfrm>
          <a:prstGeom prst="rect">
            <a:avLst/>
          </a:prstGeom>
          <a:solidFill>
            <a:srgbClr val="1E2761"/>
          </a:solidFill>
          <a:ln w="12700">
            <a:solidFill>
              <a:srgbClr val="1E2761"/>
            </a:solidFill>
            <a:prstDash val="solid"/>
          </a:ln>
        </p:spPr>
      </p:sp>
      <p:sp>
        <p:nvSpPr>
          <p:cNvPr id="6" name="Text 4"/>
          <p:cNvSpPr/>
          <p:nvPr/>
        </p:nvSpPr>
        <p:spPr>
          <a:xfrm>
            <a:off x="594360" y="1417320"/>
            <a:ext cx="3749040" cy="502920"/>
          </a:xfrm>
          <a:prstGeom prst="rect">
            <a:avLst/>
          </a:prstGeom>
          <a:noFill/>
          <a:ln/>
        </p:spPr>
        <p:txBody>
          <a:bodyPr wrap="square" lIns="0" tIns="0" rIns="0" bIns="0" rtlCol="0" anchor="ctr"/>
          <a:lstStyle/>
          <a:p>
            <a:pPr indent="0" marL="0">
              <a:buNone/>
            </a:pPr>
            <a:r>
              <a:rPr lang="en-US" sz="1500" b="1" dirty="0">
                <a:solidFill>
                  <a:srgbClr val="69D3A7"/>
                </a:solidFill>
                <a:latin typeface="Georgia" pitchFamily="34" charset="0"/>
                <a:ea typeface="Georgia" pitchFamily="34" charset="-122"/>
                <a:cs typeface="Georgia" pitchFamily="34" charset="-120"/>
              </a:rPr>
              <a:t>UI Testing</a:t>
            </a:r>
            <a:endParaRPr lang="en-US" sz="1500" dirty="0"/>
          </a:p>
        </p:txBody>
      </p:sp>
      <p:sp>
        <p:nvSpPr>
          <p:cNvPr id="7" name="Text 5"/>
          <p:cNvSpPr/>
          <p:nvPr/>
        </p:nvSpPr>
        <p:spPr>
          <a:xfrm>
            <a:off x="640080" y="2011680"/>
            <a:ext cx="3657600" cy="274320"/>
          </a:xfrm>
          <a:prstGeom prst="rect">
            <a:avLst/>
          </a:prstGeom>
          <a:noFill/>
          <a:ln/>
        </p:spPr>
        <p:txBody>
          <a:bodyPr wrap="square" lIns="0" tIns="0" rIns="0" bIns="0" rtlCol="0" anchor="ctr"/>
          <a:lstStyle/>
          <a:p>
            <a:pPr indent="0" marL="0">
              <a:buNone/>
            </a:pPr>
            <a:r>
              <a:rPr lang="en-US" sz="1100" b="1" spc="200" kern="0" dirty="0">
                <a:solidFill>
                  <a:srgbClr val="F5B700"/>
                </a:solidFill>
                <a:latin typeface="Calibri" pitchFamily="34" charset="0"/>
                <a:ea typeface="Calibri" pitchFamily="34" charset="-122"/>
                <a:cs typeface="Calibri" pitchFamily="34" charset="-120"/>
              </a:rPr>
              <a:t>What you've been doing</a:t>
            </a:r>
            <a:endParaRPr lang="en-US" sz="1100" dirty="0"/>
          </a:p>
        </p:txBody>
      </p:sp>
      <p:sp>
        <p:nvSpPr>
          <p:cNvPr id="8" name="Text 6"/>
          <p:cNvSpPr/>
          <p:nvPr/>
        </p:nvSpPr>
        <p:spPr>
          <a:xfrm>
            <a:off x="640080" y="2331720"/>
            <a:ext cx="3657600" cy="731520"/>
          </a:xfrm>
          <a:prstGeom prst="rect">
            <a:avLst/>
          </a:prstGeom>
          <a:noFill/>
          <a:ln/>
        </p:spPr>
        <p:txBody>
          <a:bodyPr wrap="square" lIns="0" tIns="0" rIns="0" bIns="0" rtlCol="0" anchor="t"/>
          <a:lstStyle/>
          <a:p>
            <a:pPr indent="0" marL="0">
              <a:buNone/>
            </a:pPr>
            <a:r>
              <a:rPr lang="en-US" sz="1150" dirty="0">
                <a:solidFill>
                  <a:srgbClr val="1A1A2E"/>
                </a:solidFill>
                <a:latin typeface="Calibri" pitchFamily="34" charset="0"/>
                <a:ea typeface="Calibri" pitchFamily="34" charset="-122"/>
                <a:cs typeface="Calibri" pitchFamily="34" charset="-120"/>
              </a:rPr>
              <a:t>Drives the browser — clicks buttons, types in inputs, asserts what the user sees.</a:t>
            </a:r>
            <a:endParaRPr lang="en-US" sz="1150" dirty="0"/>
          </a:p>
        </p:txBody>
      </p:sp>
      <p:sp>
        <p:nvSpPr>
          <p:cNvPr id="9" name="Text 7"/>
          <p:cNvSpPr/>
          <p:nvPr/>
        </p:nvSpPr>
        <p:spPr>
          <a:xfrm>
            <a:off x="640080" y="3200400"/>
            <a:ext cx="3749040" cy="1280160"/>
          </a:xfrm>
          <a:prstGeom prst="rect">
            <a:avLst/>
          </a:prstGeom>
          <a:noFill/>
          <a:ln/>
        </p:spPr>
        <p:txBody>
          <a:bodyPr wrap="square" lIns="0" tIns="0" rIns="0" bIns="0" rtlCol="0" anchor="t"/>
          <a:lstStyle/>
          <a:p>
            <a:pPr indent="0" marL="0">
              <a:spcAft>
                <a:spcPts val="200"/>
              </a:spcAft>
              <a:buNone/>
            </a:pPr>
            <a:r>
              <a:rPr lang="en-US" sz="1100" b="1" dirty="0">
                <a:solidFill>
                  <a:srgbClr val="2E7D32"/>
                </a:solidFill>
                <a:latin typeface="Calibri" pitchFamily="34" charset="0"/>
                <a:ea typeface="Calibri" pitchFamily="34" charset="-122"/>
                <a:cs typeface="Calibri" pitchFamily="34" charset="-120"/>
              </a:rPr>
              <a:t>✓  </a:t>
            </a:r>
            <a:pPr indent="0" marL="0">
              <a:spcAft>
                <a:spcPts val="200"/>
              </a:spcAft>
              <a:buNone/>
            </a:pPr>
            <a:r>
              <a:rPr lang="en-US" sz="1100" dirty="0">
                <a:solidFill>
                  <a:srgbClr val="1A1A2E"/>
                </a:solidFill>
                <a:latin typeface="Calibri" pitchFamily="34" charset="0"/>
                <a:ea typeface="Calibri" pitchFamily="34" charset="-122"/>
                <a:cs typeface="Calibri" pitchFamily="34" charset="-120"/>
              </a:rPr>
              <a:t>Tests what users actually see</a:t>
            </a:r>
            <a:endParaRPr lang="en-US" sz="1100" dirty="0"/>
          </a:p>
          <a:p>
            <a:pPr indent="0" marL="0">
              <a:spcAft>
                <a:spcPts val="200"/>
              </a:spcAft>
              <a:buNone/>
            </a:pPr>
            <a:r>
              <a:rPr lang="en-US" sz="1100" b="1" dirty="0">
                <a:solidFill>
                  <a:srgbClr val="C62828"/>
                </a:solidFill>
                <a:latin typeface="Calibri" pitchFamily="34" charset="0"/>
                <a:ea typeface="Calibri" pitchFamily="34" charset="-122"/>
                <a:cs typeface="Calibri" pitchFamily="34" charset="-120"/>
              </a:rPr>
              <a:t>✗  </a:t>
            </a:r>
            <a:pPr indent="0" marL="0">
              <a:spcAft>
                <a:spcPts val="200"/>
              </a:spcAft>
              <a:buNone/>
            </a:pPr>
            <a:r>
              <a:rPr lang="en-US" sz="1100" dirty="0">
                <a:solidFill>
                  <a:srgbClr val="1A1A2E"/>
                </a:solidFill>
                <a:latin typeface="Calibri" pitchFamily="34" charset="0"/>
                <a:ea typeface="Calibri" pitchFamily="34" charset="-122"/>
                <a:cs typeface="Calibri" pitchFamily="34" charset="-120"/>
              </a:rPr>
              <a:t>Slow — full page renders</a:t>
            </a:r>
            <a:endParaRPr lang="en-US" sz="1100" dirty="0"/>
          </a:p>
          <a:p>
            <a:pPr indent="0" marL="0">
              <a:spcAft>
                <a:spcPts val="200"/>
              </a:spcAft>
              <a:buNone/>
            </a:pPr>
            <a:r>
              <a:rPr lang="en-US" sz="1100" b="1" dirty="0">
                <a:solidFill>
                  <a:srgbClr val="C62828"/>
                </a:solidFill>
                <a:latin typeface="Calibri" pitchFamily="34" charset="0"/>
                <a:ea typeface="Calibri" pitchFamily="34" charset="-122"/>
                <a:cs typeface="Calibri" pitchFamily="34" charset="-120"/>
              </a:rPr>
              <a:t>✗  </a:t>
            </a:r>
            <a:pPr indent="0" marL="0">
              <a:spcAft>
                <a:spcPts val="200"/>
              </a:spcAft>
              <a:buNone/>
            </a:pPr>
            <a:r>
              <a:rPr lang="en-US" sz="1100" dirty="0">
                <a:solidFill>
                  <a:srgbClr val="1A1A2E"/>
                </a:solidFill>
                <a:latin typeface="Calibri" pitchFamily="34" charset="0"/>
                <a:ea typeface="Calibri" pitchFamily="34" charset="-122"/>
                <a:cs typeface="Calibri" pitchFamily="34" charset="-120"/>
              </a:rPr>
              <a:t>Breaks on cosmetic UI changes</a:t>
            </a:r>
            <a:endParaRPr lang="en-US" sz="1100" dirty="0"/>
          </a:p>
          <a:p>
            <a:pPr indent="0" marL="0">
              <a:spcAft>
                <a:spcPts val="200"/>
              </a:spcAft>
              <a:buNone/>
            </a:pPr>
            <a:r>
              <a:rPr lang="en-US" sz="1100" b="1" dirty="0">
                <a:solidFill>
                  <a:srgbClr val="C62828"/>
                </a:solidFill>
                <a:latin typeface="Calibri" pitchFamily="34" charset="0"/>
                <a:ea typeface="Calibri" pitchFamily="34" charset="-122"/>
                <a:cs typeface="Calibri" pitchFamily="34" charset="-120"/>
              </a:rPr>
              <a:t>✗  </a:t>
            </a:r>
            <a:pPr indent="0" marL="0">
              <a:spcAft>
                <a:spcPts val="200"/>
              </a:spcAft>
              <a:buNone/>
            </a:pPr>
            <a:r>
              <a:rPr lang="en-US" sz="1100" dirty="0">
                <a:solidFill>
                  <a:srgbClr val="1A1A2E"/>
                </a:solidFill>
                <a:latin typeface="Calibri" pitchFamily="34" charset="0"/>
                <a:ea typeface="Calibri" pitchFamily="34" charset="-122"/>
                <a:cs typeface="Calibri" pitchFamily="34" charset="-120"/>
              </a:rPr>
              <a:t>Hard to test all edge cases</a:t>
            </a:r>
            <a:endParaRPr lang="en-US" sz="1100" dirty="0"/>
          </a:p>
        </p:txBody>
      </p:sp>
      <p:sp>
        <p:nvSpPr>
          <p:cNvPr id="10" name="Shape 8"/>
          <p:cNvSpPr/>
          <p:nvPr/>
        </p:nvSpPr>
        <p:spPr>
          <a:xfrm>
            <a:off x="4663440" y="1417320"/>
            <a:ext cx="4023360" cy="3108960"/>
          </a:xfrm>
          <a:prstGeom prst="rect">
            <a:avLst/>
          </a:prstGeom>
          <a:solidFill>
            <a:srgbClr val="F7F9FC"/>
          </a:solidFill>
          <a:ln w="12700">
            <a:solidFill>
              <a:srgbClr val="F7F9FC"/>
            </a:solidFill>
            <a:prstDash val="solid"/>
          </a:ln>
        </p:spPr>
      </p:sp>
      <p:sp>
        <p:nvSpPr>
          <p:cNvPr id="11" name="Shape 9"/>
          <p:cNvSpPr/>
          <p:nvPr/>
        </p:nvSpPr>
        <p:spPr>
          <a:xfrm>
            <a:off x="4663440" y="1417320"/>
            <a:ext cx="4023360" cy="502920"/>
          </a:xfrm>
          <a:prstGeom prst="rect">
            <a:avLst/>
          </a:prstGeom>
          <a:solidFill>
            <a:srgbClr val="1E2761"/>
          </a:solidFill>
          <a:ln w="12700">
            <a:solidFill>
              <a:srgbClr val="1E2761"/>
            </a:solidFill>
            <a:prstDash val="solid"/>
          </a:ln>
        </p:spPr>
      </p:sp>
      <p:sp>
        <p:nvSpPr>
          <p:cNvPr id="12" name="Text 10"/>
          <p:cNvSpPr/>
          <p:nvPr/>
        </p:nvSpPr>
        <p:spPr>
          <a:xfrm>
            <a:off x="4800600" y="1417320"/>
            <a:ext cx="3749040" cy="502920"/>
          </a:xfrm>
          <a:prstGeom prst="rect">
            <a:avLst/>
          </a:prstGeom>
          <a:noFill/>
          <a:ln/>
        </p:spPr>
        <p:txBody>
          <a:bodyPr wrap="square" lIns="0" tIns="0" rIns="0" bIns="0" rtlCol="0" anchor="ctr"/>
          <a:lstStyle/>
          <a:p>
            <a:pPr indent="0" marL="0">
              <a:buNone/>
            </a:pPr>
            <a:r>
              <a:rPr lang="en-US" sz="1500" b="1" dirty="0">
                <a:solidFill>
                  <a:srgbClr val="69D3A7"/>
                </a:solidFill>
                <a:latin typeface="Georgia" pitchFamily="34" charset="0"/>
                <a:ea typeface="Georgia" pitchFamily="34" charset="-122"/>
                <a:cs typeface="Georgia" pitchFamily="34" charset="-120"/>
              </a:rPr>
              <a:t>API Testing</a:t>
            </a:r>
            <a:endParaRPr lang="en-US" sz="1500" dirty="0"/>
          </a:p>
        </p:txBody>
      </p:sp>
      <p:sp>
        <p:nvSpPr>
          <p:cNvPr id="13" name="Text 11"/>
          <p:cNvSpPr/>
          <p:nvPr/>
        </p:nvSpPr>
        <p:spPr>
          <a:xfrm>
            <a:off x="4846320" y="2011680"/>
            <a:ext cx="3657600" cy="274320"/>
          </a:xfrm>
          <a:prstGeom prst="rect">
            <a:avLst/>
          </a:prstGeom>
          <a:noFill/>
          <a:ln/>
        </p:spPr>
        <p:txBody>
          <a:bodyPr wrap="square" lIns="0" tIns="0" rIns="0" bIns="0" rtlCol="0" anchor="ctr"/>
          <a:lstStyle/>
          <a:p>
            <a:pPr indent="0" marL="0">
              <a:buNone/>
            </a:pPr>
            <a:r>
              <a:rPr lang="en-US" sz="1100" b="1" spc="200" kern="0" dirty="0">
                <a:solidFill>
                  <a:srgbClr val="F5B700"/>
                </a:solidFill>
                <a:latin typeface="Calibri" pitchFamily="34" charset="0"/>
                <a:ea typeface="Calibri" pitchFamily="34" charset="-122"/>
                <a:cs typeface="Calibri" pitchFamily="34" charset="-120"/>
              </a:rPr>
              <a:t>What you'll learn today</a:t>
            </a:r>
            <a:endParaRPr lang="en-US" sz="1100" dirty="0"/>
          </a:p>
        </p:txBody>
      </p:sp>
      <p:sp>
        <p:nvSpPr>
          <p:cNvPr id="14" name="Text 12"/>
          <p:cNvSpPr/>
          <p:nvPr/>
        </p:nvSpPr>
        <p:spPr>
          <a:xfrm>
            <a:off x="4846320" y="2331720"/>
            <a:ext cx="3657600" cy="731520"/>
          </a:xfrm>
          <a:prstGeom prst="rect">
            <a:avLst/>
          </a:prstGeom>
          <a:noFill/>
          <a:ln/>
        </p:spPr>
        <p:txBody>
          <a:bodyPr wrap="square" lIns="0" tIns="0" rIns="0" bIns="0" rtlCol="0" anchor="t"/>
          <a:lstStyle/>
          <a:p>
            <a:pPr indent="0" marL="0">
              <a:buNone/>
            </a:pPr>
            <a:r>
              <a:rPr lang="en-US" sz="1150" dirty="0">
                <a:solidFill>
                  <a:srgbClr val="1A1A2E"/>
                </a:solidFill>
                <a:latin typeface="Calibri" pitchFamily="34" charset="0"/>
                <a:ea typeface="Calibri" pitchFamily="34" charset="-122"/>
                <a:cs typeface="Calibri" pitchFamily="34" charset="-120"/>
              </a:rPr>
              <a:t>Talks to your backend directly — sends HTTP requests, asserts on status codes and JSON.</a:t>
            </a:r>
            <a:endParaRPr lang="en-US" sz="1150" dirty="0"/>
          </a:p>
        </p:txBody>
      </p:sp>
      <p:sp>
        <p:nvSpPr>
          <p:cNvPr id="15" name="Text 13"/>
          <p:cNvSpPr/>
          <p:nvPr/>
        </p:nvSpPr>
        <p:spPr>
          <a:xfrm>
            <a:off x="4846320" y="3200400"/>
            <a:ext cx="3749040" cy="1280160"/>
          </a:xfrm>
          <a:prstGeom prst="rect">
            <a:avLst/>
          </a:prstGeom>
          <a:noFill/>
          <a:ln/>
        </p:spPr>
        <p:txBody>
          <a:bodyPr wrap="square" lIns="0" tIns="0" rIns="0" bIns="0" rtlCol="0" anchor="t"/>
          <a:lstStyle/>
          <a:p>
            <a:pPr indent="0" marL="0">
              <a:spcAft>
                <a:spcPts val="200"/>
              </a:spcAft>
              <a:buNone/>
            </a:pPr>
            <a:r>
              <a:rPr lang="en-US" sz="1100" b="1" dirty="0">
                <a:solidFill>
                  <a:srgbClr val="2E7D32"/>
                </a:solidFill>
                <a:latin typeface="Calibri" pitchFamily="34" charset="0"/>
                <a:ea typeface="Calibri" pitchFamily="34" charset="-122"/>
                <a:cs typeface="Calibri" pitchFamily="34" charset="-120"/>
              </a:rPr>
              <a:t>✓  </a:t>
            </a:r>
            <a:pPr indent="0" marL="0">
              <a:spcAft>
                <a:spcPts val="200"/>
              </a:spcAft>
              <a:buNone/>
            </a:pPr>
            <a:r>
              <a:rPr lang="en-US" sz="1100" dirty="0">
                <a:solidFill>
                  <a:srgbClr val="1A1A2E"/>
                </a:solidFill>
                <a:latin typeface="Calibri" pitchFamily="34" charset="0"/>
                <a:ea typeface="Calibri" pitchFamily="34" charset="-122"/>
                <a:cs typeface="Calibri" pitchFamily="34" charset="-120"/>
              </a:rPr>
              <a:t>Fast — no browser, no rendering</a:t>
            </a:r>
            <a:endParaRPr lang="en-US" sz="1100" dirty="0"/>
          </a:p>
          <a:p>
            <a:pPr indent="0" marL="0">
              <a:spcAft>
                <a:spcPts val="200"/>
              </a:spcAft>
              <a:buNone/>
            </a:pPr>
            <a:r>
              <a:rPr lang="en-US" sz="1100" b="1" dirty="0">
                <a:solidFill>
                  <a:srgbClr val="2E7D32"/>
                </a:solidFill>
                <a:latin typeface="Calibri" pitchFamily="34" charset="0"/>
                <a:ea typeface="Calibri" pitchFamily="34" charset="-122"/>
                <a:cs typeface="Calibri" pitchFamily="34" charset="-120"/>
              </a:rPr>
              <a:t>✓  </a:t>
            </a:r>
            <a:pPr indent="0" marL="0">
              <a:spcAft>
                <a:spcPts val="200"/>
              </a:spcAft>
              <a:buNone/>
            </a:pPr>
            <a:r>
              <a:rPr lang="en-US" sz="1100" dirty="0">
                <a:solidFill>
                  <a:srgbClr val="1A1A2E"/>
                </a:solidFill>
                <a:latin typeface="Calibri" pitchFamily="34" charset="0"/>
                <a:ea typeface="Calibri" pitchFamily="34" charset="-122"/>
                <a:cs typeface="Calibri" pitchFamily="34" charset="-120"/>
              </a:rPr>
              <a:t>Stable — survives UI redesigns</a:t>
            </a:r>
            <a:endParaRPr lang="en-US" sz="1100" dirty="0"/>
          </a:p>
          <a:p>
            <a:pPr indent="0" marL="0">
              <a:spcAft>
                <a:spcPts val="200"/>
              </a:spcAft>
              <a:buNone/>
            </a:pPr>
            <a:r>
              <a:rPr lang="en-US" sz="1100" b="1" dirty="0">
                <a:solidFill>
                  <a:srgbClr val="2E7D32"/>
                </a:solidFill>
                <a:latin typeface="Calibri" pitchFamily="34" charset="0"/>
                <a:ea typeface="Calibri" pitchFamily="34" charset="-122"/>
                <a:cs typeface="Calibri" pitchFamily="34" charset="-120"/>
              </a:rPr>
              <a:t>✓  </a:t>
            </a:r>
            <a:pPr indent="0" marL="0">
              <a:spcAft>
                <a:spcPts val="200"/>
              </a:spcAft>
              <a:buNone/>
            </a:pPr>
            <a:r>
              <a:rPr lang="en-US" sz="1100" dirty="0">
                <a:solidFill>
                  <a:srgbClr val="1A1A2E"/>
                </a:solidFill>
                <a:latin typeface="Calibri" pitchFamily="34" charset="0"/>
                <a:ea typeface="Calibri" pitchFamily="34" charset="-122"/>
                <a:cs typeface="Calibri" pitchFamily="34" charset="-120"/>
              </a:rPr>
              <a:t>Easy to test errors &amp; edge cases</a:t>
            </a:r>
            <a:endParaRPr lang="en-US" sz="1100" dirty="0"/>
          </a:p>
          <a:p>
            <a:pPr indent="0" marL="0">
              <a:spcAft>
                <a:spcPts val="200"/>
              </a:spcAft>
              <a:buNone/>
            </a:pPr>
            <a:r>
              <a:rPr lang="en-US" sz="1100" b="1" dirty="0">
                <a:solidFill>
                  <a:srgbClr val="C62828"/>
                </a:solidFill>
                <a:latin typeface="Calibri" pitchFamily="34" charset="0"/>
                <a:ea typeface="Calibri" pitchFamily="34" charset="-122"/>
                <a:cs typeface="Calibri" pitchFamily="34" charset="-120"/>
              </a:rPr>
              <a:t>✗  </a:t>
            </a:r>
            <a:pPr indent="0" marL="0">
              <a:spcAft>
                <a:spcPts val="200"/>
              </a:spcAft>
              <a:buNone/>
            </a:pPr>
            <a:r>
              <a:rPr lang="en-US" sz="1100" dirty="0">
                <a:solidFill>
                  <a:srgbClr val="1A1A2E"/>
                </a:solidFill>
                <a:latin typeface="Calibri" pitchFamily="34" charset="0"/>
                <a:ea typeface="Calibri" pitchFamily="34" charset="-122"/>
                <a:cs typeface="Calibri" pitchFamily="34" charset="-120"/>
              </a:rPr>
              <a:t>Doesn't test what users see</a:t>
            </a:r>
            <a:endParaRPr lang="en-US" sz="1100" dirty="0"/>
          </a:p>
        </p:txBody>
      </p:sp>
      <p:sp>
        <p:nvSpPr>
          <p:cNvPr id="16" name="Text 14"/>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17" name="Text 15"/>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cy.request(): Real HTTP Calls</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Bypass the browser entirely — call your API like Postman or curl would</a:t>
            </a:r>
            <a:endParaRPr lang="en-US" sz="1300" dirty="0"/>
          </a:p>
        </p:txBody>
      </p:sp>
      <p:sp>
        <p:nvSpPr>
          <p:cNvPr id="4" name="Text 2"/>
          <p:cNvSpPr/>
          <p:nvPr/>
        </p:nvSpPr>
        <p:spPr>
          <a:xfrm>
            <a:off x="457200" y="1417320"/>
            <a:ext cx="4023360" cy="274320"/>
          </a:xfrm>
          <a:prstGeom prst="rect">
            <a:avLst/>
          </a:prstGeom>
          <a:noFill/>
          <a:ln/>
        </p:spPr>
        <p:txBody>
          <a:bodyPr wrap="square" lIns="0" tIns="0" rIns="0" bIns="0" rtlCol="0" anchor="ctr"/>
          <a:lstStyle/>
          <a:p>
            <a:pPr indent="0" marL="0">
              <a:buNone/>
            </a:pPr>
            <a:r>
              <a:rPr lang="en-US" sz="1200" b="1" spc="300" kern="0" dirty="0">
                <a:solidFill>
                  <a:srgbClr val="69D3A7"/>
                </a:solidFill>
                <a:latin typeface="Calibri" pitchFamily="34" charset="0"/>
                <a:ea typeface="Calibri" pitchFamily="34" charset="-122"/>
                <a:cs typeface="Calibri" pitchFamily="34" charset="-120"/>
              </a:rPr>
              <a:t>Anatomy of a request</a:t>
            </a:r>
            <a:endParaRPr lang="en-US" sz="1200" dirty="0"/>
          </a:p>
        </p:txBody>
      </p:sp>
      <p:sp>
        <p:nvSpPr>
          <p:cNvPr id="5" name="Shape 3"/>
          <p:cNvSpPr/>
          <p:nvPr/>
        </p:nvSpPr>
        <p:spPr>
          <a:xfrm>
            <a:off x="457200" y="1737360"/>
            <a:ext cx="4023360" cy="2788920"/>
          </a:xfrm>
          <a:prstGeom prst="rect">
            <a:avLst/>
          </a:prstGeom>
          <a:solidFill>
            <a:srgbClr val="0F1A3A"/>
          </a:solidFill>
          <a:ln w="12700">
            <a:solidFill>
              <a:srgbClr val="0F1A3A"/>
            </a:solidFill>
            <a:prstDash val="solid"/>
          </a:ln>
        </p:spPr>
      </p:sp>
      <p:sp>
        <p:nvSpPr>
          <p:cNvPr id="6" name="Text 4"/>
          <p:cNvSpPr/>
          <p:nvPr/>
        </p:nvSpPr>
        <p:spPr>
          <a:xfrm>
            <a:off x="640080" y="1828800"/>
            <a:ext cx="3749040" cy="2697480"/>
          </a:xfrm>
          <a:prstGeom prst="rect">
            <a:avLst/>
          </a:prstGeom>
          <a:noFill/>
          <a:ln/>
        </p:spPr>
        <p:txBody>
          <a:bodyPr wrap="square" lIns="0" tIns="0" rIns="0" bIns="0" rtlCol="0" anchor="t"/>
          <a:lstStyle/>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cy.request({</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method: </a:t>
            </a:r>
            <a:pPr indent="0" marL="0">
              <a:spcAft>
                <a:spcPts val="100"/>
              </a:spcAft>
              <a:buNone/>
            </a:pPr>
            <a:r>
              <a:rPr lang="en-US" sz="1050" dirty="0">
                <a:solidFill>
                  <a:srgbClr val="FFD54F"/>
                </a:solidFill>
                <a:latin typeface="Consolas" pitchFamily="34" charset="0"/>
                <a:ea typeface="Consolas" pitchFamily="34" charset="-122"/>
                <a:cs typeface="Consolas" pitchFamily="34" charset="-120"/>
              </a:rPr>
              <a:t>"POST"</a:t>
            </a:r>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url:    </a:t>
            </a:r>
            <a:pPr indent="0" marL="0">
              <a:spcAft>
                <a:spcPts val="100"/>
              </a:spcAft>
              <a:buNone/>
            </a:pPr>
            <a:r>
              <a:rPr lang="en-US" sz="1050" dirty="0">
                <a:solidFill>
                  <a:srgbClr val="FFD54F"/>
                </a:solidFill>
                <a:latin typeface="Consolas" pitchFamily="34" charset="0"/>
                <a:ea typeface="Consolas" pitchFamily="34" charset="-122"/>
                <a:cs typeface="Consolas" pitchFamily="34" charset="-120"/>
              </a:rPr>
              <a:t>"/api/orders"</a:t>
            </a:r>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headers: {</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Authorization:</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      </a:t>
            </a:r>
            <a:pPr indent="0" marL="0">
              <a:spcAft>
                <a:spcPts val="100"/>
              </a:spcAft>
              <a:buNone/>
            </a:pPr>
            <a:r>
              <a:rPr lang="en-US" sz="1050" dirty="0">
                <a:solidFill>
                  <a:srgbClr val="FFD54F"/>
                </a:solidFill>
                <a:latin typeface="Consolas" pitchFamily="34" charset="0"/>
                <a:ea typeface="Consolas" pitchFamily="34" charset="-122"/>
                <a:cs typeface="Consolas" pitchFamily="34" charset="-120"/>
              </a:rPr>
              <a:t>"Bearer abc123"</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body: {</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product: </a:t>
            </a:r>
            <a:pPr indent="0" marL="0">
              <a:spcAft>
                <a:spcPts val="100"/>
              </a:spcAft>
              <a:buNone/>
            </a:pPr>
            <a:r>
              <a:rPr lang="en-US" sz="1050" dirty="0">
                <a:solidFill>
                  <a:srgbClr val="FFD54F"/>
                </a:solidFill>
                <a:latin typeface="Consolas" pitchFamily="34" charset="0"/>
                <a:ea typeface="Consolas" pitchFamily="34" charset="-122"/>
                <a:cs typeface="Consolas" pitchFamily="34" charset="-120"/>
              </a:rPr>
              <a:t>"book"</a:t>
            </a:r>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qty: </a:t>
            </a:r>
            <a:pPr indent="0" marL="0">
              <a:spcAft>
                <a:spcPts val="100"/>
              </a:spcAft>
              <a:buNone/>
            </a:pPr>
            <a:r>
              <a:rPr lang="en-US" sz="1050" dirty="0">
                <a:solidFill>
                  <a:srgbClr val="F06292"/>
                </a:solidFill>
                <a:latin typeface="Consolas" pitchFamily="34" charset="0"/>
                <a:ea typeface="Consolas" pitchFamily="34" charset="-122"/>
                <a:cs typeface="Consolas" pitchFamily="34" charset="-120"/>
              </a:rPr>
              <a:t>2</a:t>
            </a:r>
            <a:endParaRPr lang="en-US" sz="1050" dirty="0"/>
          </a:p>
          <a:p>
            <a:pPr indent="0" marL="0">
              <a:spcAft>
                <a:spcPts val="100"/>
              </a:spcAft>
              <a:buNone/>
            </a:pPr>
            <a:r>
              <a:rPr lang="en-US" sz="1050" dirty="0">
                <a:solidFill>
                  <a:srgbClr val="81D4FA"/>
                </a:solidFill>
                <a:latin typeface="Consolas" pitchFamily="34" charset="0"/>
                <a:ea typeface="Consolas" pitchFamily="34" charset="-122"/>
                <a:cs typeface="Consolas" pitchFamily="34" charset="-120"/>
              </a:rPr>
              <a:t>  }</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a:t>
            </a:r>
            <a:endParaRPr lang="en-US" sz="1050" dirty="0"/>
          </a:p>
        </p:txBody>
      </p:sp>
      <p:sp>
        <p:nvSpPr>
          <p:cNvPr id="7" name="Text 5"/>
          <p:cNvSpPr/>
          <p:nvPr/>
        </p:nvSpPr>
        <p:spPr>
          <a:xfrm>
            <a:off x="4663440" y="1417320"/>
            <a:ext cx="4023360" cy="274320"/>
          </a:xfrm>
          <a:prstGeom prst="rect">
            <a:avLst/>
          </a:prstGeom>
          <a:noFill/>
          <a:ln/>
        </p:spPr>
        <p:txBody>
          <a:bodyPr wrap="square" lIns="0" tIns="0" rIns="0" bIns="0" rtlCol="0" anchor="ctr"/>
          <a:lstStyle/>
          <a:p>
            <a:pPr indent="0" marL="0">
              <a:buNone/>
            </a:pPr>
            <a:r>
              <a:rPr lang="en-US" sz="1200" b="1" spc="300" kern="0" dirty="0">
                <a:solidFill>
                  <a:srgbClr val="69D3A7"/>
                </a:solidFill>
                <a:latin typeface="Calibri" pitchFamily="34" charset="0"/>
                <a:ea typeface="Calibri" pitchFamily="34" charset="-122"/>
                <a:cs typeface="Calibri" pitchFamily="34" charset="-120"/>
              </a:rPr>
              <a:t>Four pieces of any request</a:t>
            </a:r>
            <a:endParaRPr lang="en-US" sz="1200" dirty="0"/>
          </a:p>
        </p:txBody>
      </p:sp>
      <p:sp>
        <p:nvSpPr>
          <p:cNvPr id="8" name="Shape 6"/>
          <p:cNvSpPr/>
          <p:nvPr/>
        </p:nvSpPr>
        <p:spPr>
          <a:xfrm>
            <a:off x="4663440" y="1783080"/>
            <a:ext cx="4023360" cy="566928"/>
          </a:xfrm>
          <a:prstGeom prst="rect">
            <a:avLst/>
          </a:prstGeom>
          <a:solidFill>
            <a:srgbClr val="F7F9FC"/>
          </a:solidFill>
          <a:ln w="12700">
            <a:solidFill>
              <a:srgbClr val="F7F9FC"/>
            </a:solidFill>
            <a:prstDash val="solid"/>
          </a:ln>
        </p:spPr>
      </p:sp>
      <p:sp>
        <p:nvSpPr>
          <p:cNvPr id="9" name="Shape 7"/>
          <p:cNvSpPr/>
          <p:nvPr/>
        </p:nvSpPr>
        <p:spPr>
          <a:xfrm>
            <a:off x="4663440" y="1783080"/>
            <a:ext cx="73152" cy="566928"/>
          </a:xfrm>
          <a:prstGeom prst="rect">
            <a:avLst/>
          </a:prstGeom>
          <a:solidFill>
            <a:srgbClr val="69D3A7"/>
          </a:solidFill>
          <a:ln w="12700">
            <a:solidFill>
              <a:srgbClr val="69D3A7"/>
            </a:solidFill>
            <a:prstDash val="solid"/>
          </a:ln>
        </p:spPr>
      </p:sp>
      <p:sp>
        <p:nvSpPr>
          <p:cNvPr id="10" name="Text 8"/>
          <p:cNvSpPr/>
          <p:nvPr/>
        </p:nvSpPr>
        <p:spPr>
          <a:xfrm>
            <a:off x="4846320" y="1837944"/>
            <a:ext cx="1371600" cy="274320"/>
          </a:xfrm>
          <a:prstGeom prst="rect">
            <a:avLst/>
          </a:prstGeom>
          <a:noFill/>
          <a:ln/>
        </p:spPr>
        <p:txBody>
          <a:bodyPr wrap="square" lIns="0" tIns="0" rIns="0" bIns="0" rtlCol="0" anchor="ctr"/>
          <a:lstStyle/>
          <a:p>
            <a:pPr indent="0" marL="0">
              <a:buNone/>
            </a:pPr>
            <a:r>
              <a:rPr lang="en-US" sz="1200" b="1" dirty="0">
                <a:solidFill>
                  <a:srgbClr val="1E2761"/>
                </a:solidFill>
                <a:latin typeface="Consolas" pitchFamily="34" charset="0"/>
                <a:ea typeface="Consolas" pitchFamily="34" charset="-122"/>
                <a:cs typeface="Consolas" pitchFamily="34" charset="-120"/>
              </a:rPr>
              <a:t>method</a:t>
            </a:r>
            <a:endParaRPr lang="en-US" sz="1200" dirty="0"/>
          </a:p>
        </p:txBody>
      </p:sp>
      <p:sp>
        <p:nvSpPr>
          <p:cNvPr id="11" name="Text 9"/>
          <p:cNvSpPr/>
          <p:nvPr/>
        </p:nvSpPr>
        <p:spPr>
          <a:xfrm>
            <a:off x="4846320" y="2075688"/>
            <a:ext cx="3657600" cy="27432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GET, POST, PUT, DELETE, PATCH</a:t>
            </a:r>
            <a:endParaRPr lang="en-US" sz="1050" dirty="0"/>
          </a:p>
        </p:txBody>
      </p:sp>
      <p:sp>
        <p:nvSpPr>
          <p:cNvPr id="12" name="Shape 10"/>
          <p:cNvSpPr/>
          <p:nvPr/>
        </p:nvSpPr>
        <p:spPr>
          <a:xfrm>
            <a:off x="4663440" y="2423160"/>
            <a:ext cx="4023360" cy="566928"/>
          </a:xfrm>
          <a:prstGeom prst="rect">
            <a:avLst/>
          </a:prstGeom>
          <a:solidFill>
            <a:srgbClr val="F7F9FC"/>
          </a:solidFill>
          <a:ln w="12700">
            <a:solidFill>
              <a:srgbClr val="F7F9FC"/>
            </a:solidFill>
            <a:prstDash val="solid"/>
          </a:ln>
        </p:spPr>
      </p:sp>
      <p:sp>
        <p:nvSpPr>
          <p:cNvPr id="13" name="Shape 11"/>
          <p:cNvSpPr/>
          <p:nvPr/>
        </p:nvSpPr>
        <p:spPr>
          <a:xfrm>
            <a:off x="4663440" y="2423160"/>
            <a:ext cx="73152" cy="566928"/>
          </a:xfrm>
          <a:prstGeom prst="rect">
            <a:avLst/>
          </a:prstGeom>
          <a:solidFill>
            <a:srgbClr val="69D3A7"/>
          </a:solidFill>
          <a:ln w="12700">
            <a:solidFill>
              <a:srgbClr val="69D3A7"/>
            </a:solidFill>
            <a:prstDash val="solid"/>
          </a:ln>
        </p:spPr>
      </p:sp>
      <p:sp>
        <p:nvSpPr>
          <p:cNvPr id="14" name="Text 12"/>
          <p:cNvSpPr/>
          <p:nvPr/>
        </p:nvSpPr>
        <p:spPr>
          <a:xfrm>
            <a:off x="4846320" y="2478024"/>
            <a:ext cx="1371600" cy="274320"/>
          </a:xfrm>
          <a:prstGeom prst="rect">
            <a:avLst/>
          </a:prstGeom>
          <a:noFill/>
          <a:ln/>
        </p:spPr>
        <p:txBody>
          <a:bodyPr wrap="square" lIns="0" tIns="0" rIns="0" bIns="0" rtlCol="0" anchor="ctr"/>
          <a:lstStyle/>
          <a:p>
            <a:pPr indent="0" marL="0">
              <a:buNone/>
            </a:pPr>
            <a:r>
              <a:rPr lang="en-US" sz="1200" b="1" dirty="0">
                <a:solidFill>
                  <a:srgbClr val="1E2761"/>
                </a:solidFill>
                <a:latin typeface="Consolas" pitchFamily="34" charset="0"/>
                <a:ea typeface="Consolas" pitchFamily="34" charset="-122"/>
                <a:cs typeface="Consolas" pitchFamily="34" charset="-120"/>
              </a:rPr>
              <a:t>url</a:t>
            </a:r>
            <a:endParaRPr lang="en-US" sz="1200" dirty="0"/>
          </a:p>
        </p:txBody>
      </p:sp>
      <p:sp>
        <p:nvSpPr>
          <p:cNvPr id="15" name="Text 13"/>
          <p:cNvSpPr/>
          <p:nvPr/>
        </p:nvSpPr>
        <p:spPr>
          <a:xfrm>
            <a:off x="4846320" y="2715768"/>
            <a:ext cx="3657600" cy="27432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The endpoint path or full URL</a:t>
            </a:r>
            <a:endParaRPr lang="en-US" sz="1050" dirty="0"/>
          </a:p>
        </p:txBody>
      </p:sp>
      <p:sp>
        <p:nvSpPr>
          <p:cNvPr id="16" name="Shape 14"/>
          <p:cNvSpPr/>
          <p:nvPr/>
        </p:nvSpPr>
        <p:spPr>
          <a:xfrm>
            <a:off x="4663440" y="3063240"/>
            <a:ext cx="4023360" cy="566928"/>
          </a:xfrm>
          <a:prstGeom prst="rect">
            <a:avLst/>
          </a:prstGeom>
          <a:solidFill>
            <a:srgbClr val="F7F9FC"/>
          </a:solidFill>
          <a:ln w="12700">
            <a:solidFill>
              <a:srgbClr val="F7F9FC"/>
            </a:solidFill>
            <a:prstDash val="solid"/>
          </a:ln>
        </p:spPr>
      </p:sp>
      <p:sp>
        <p:nvSpPr>
          <p:cNvPr id="17" name="Shape 15"/>
          <p:cNvSpPr/>
          <p:nvPr/>
        </p:nvSpPr>
        <p:spPr>
          <a:xfrm>
            <a:off x="4663440" y="3063240"/>
            <a:ext cx="73152" cy="566928"/>
          </a:xfrm>
          <a:prstGeom prst="rect">
            <a:avLst/>
          </a:prstGeom>
          <a:solidFill>
            <a:srgbClr val="69D3A7"/>
          </a:solidFill>
          <a:ln w="12700">
            <a:solidFill>
              <a:srgbClr val="69D3A7"/>
            </a:solidFill>
            <a:prstDash val="solid"/>
          </a:ln>
        </p:spPr>
      </p:sp>
      <p:sp>
        <p:nvSpPr>
          <p:cNvPr id="18" name="Text 16"/>
          <p:cNvSpPr/>
          <p:nvPr/>
        </p:nvSpPr>
        <p:spPr>
          <a:xfrm>
            <a:off x="4846320" y="3118104"/>
            <a:ext cx="1371600" cy="274320"/>
          </a:xfrm>
          <a:prstGeom prst="rect">
            <a:avLst/>
          </a:prstGeom>
          <a:noFill/>
          <a:ln/>
        </p:spPr>
        <p:txBody>
          <a:bodyPr wrap="square" lIns="0" tIns="0" rIns="0" bIns="0" rtlCol="0" anchor="ctr"/>
          <a:lstStyle/>
          <a:p>
            <a:pPr indent="0" marL="0">
              <a:buNone/>
            </a:pPr>
            <a:r>
              <a:rPr lang="en-US" sz="1200" b="1" dirty="0">
                <a:solidFill>
                  <a:srgbClr val="1E2761"/>
                </a:solidFill>
                <a:latin typeface="Consolas" pitchFamily="34" charset="0"/>
                <a:ea typeface="Consolas" pitchFamily="34" charset="-122"/>
                <a:cs typeface="Consolas" pitchFamily="34" charset="-120"/>
              </a:rPr>
              <a:t>headers</a:t>
            </a:r>
            <a:endParaRPr lang="en-US" sz="1200" dirty="0"/>
          </a:p>
        </p:txBody>
      </p:sp>
      <p:sp>
        <p:nvSpPr>
          <p:cNvPr id="19" name="Text 17"/>
          <p:cNvSpPr/>
          <p:nvPr/>
        </p:nvSpPr>
        <p:spPr>
          <a:xfrm>
            <a:off x="4846320" y="3355848"/>
            <a:ext cx="3657600" cy="27432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Authorization, content-type, cookies</a:t>
            </a:r>
            <a:endParaRPr lang="en-US" sz="1050" dirty="0"/>
          </a:p>
        </p:txBody>
      </p:sp>
      <p:sp>
        <p:nvSpPr>
          <p:cNvPr id="20" name="Shape 18"/>
          <p:cNvSpPr/>
          <p:nvPr/>
        </p:nvSpPr>
        <p:spPr>
          <a:xfrm>
            <a:off x="4663440" y="3703320"/>
            <a:ext cx="4023360" cy="566928"/>
          </a:xfrm>
          <a:prstGeom prst="rect">
            <a:avLst/>
          </a:prstGeom>
          <a:solidFill>
            <a:srgbClr val="F7F9FC"/>
          </a:solidFill>
          <a:ln w="12700">
            <a:solidFill>
              <a:srgbClr val="F7F9FC"/>
            </a:solidFill>
            <a:prstDash val="solid"/>
          </a:ln>
        </p:spPr>
      </p:sp>
      <p:sp>
        <p:nvSpPr>
          <p:cNvPr id="21" name="Shape 19"/>
          <p:cNvSpPr/>
          <p:nvPr/>
        </p:nvSpPr>
        <p:spPr>
          <a:xfrm>
            <a:off x="4663440" y="3703320"/>
            <a:ext cx="73152" cy="566928"/>
          </a:xfrm>
          <a:prstGeom prst="rect">
            <a:avLst/>
          </a:prstGeom>
          <a:solidFill>
            <a:srgbClr val="69D3A7"/>
          </a:solidFill>
          <a:ln w="12700">
            <a:solidFill>
              <a:srgbClr val="69D3A7"/>
            </a:solidFill>
            <a:prstDash val="solid"/>
          </a:ln>
        </p:spPr>
      </p:sp>
      <p:sp>
        <p:nvSpPr>
          <p:cNvPr id="22" name="Text 20"/>
          <p:cNvSpPr/>
          <p:nvPr/>
        </p:nvSpPr>
        <p:spPr>
          <a:xfrm>
            <a:off x="4846320" y="3758184"/>
            <a:ext cx="1371600" cy="274320"/>
          </a:xfrm>
          <a:prstGeom prst="rect">
            <a:avLst/>
          </a:prstGeom>
          <a:noFill/>
          <a:ln/>
        </p:spPr>
        <p:txBody>
          <a:bodyPr wrap="square" lIns="0" tIns="0" rIns="0" bIns="0" rtlCol="0" anchor="ctr"/>
          <a:lstStyle/>
          <a:p>
            <a:pPr indent="0" marL="0">
              <a:buNone/>
            </a:pPr>
            <a:r>
              <a:rPr lang="en-US" sz="1200" b="1" dirty="0">
                <a:solidFill>
                  <a:srgbClr val="1E2761"/>
                </a:solidFill>
                <a:latin typeface="Consolas" pitchFamily="34" charset="0"/>
                <a:ea typeface="Consolas" pitchFamily="34" charset="-122"/>
                <a:cs typeface="Consolas" pitchFamily="34" charset="-120"/>
              </a:rPr>
              <a:t>body</a:t>
            </a:r>
            <a:endParaRPr lang="en-US" sz="1200" dirty="0"/>
          </a:p>
        </p:txBody>
      </p:sp>
      <p:sp>
        <p:nvSpPr>
          <p:cNvPr id="23" name="Text 21"/>
          <p:cNvSpPr/>
          <p:nvPr/>
        </p:nvSpPr>
        <p:spPr>
          <a:xfrm>
            <a:off x="4846320" y="3995928"/>
            <a:ext cx="3657600" cy="27432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The JSON payload (POST/PUT only)</a:t>
            </a:r>
            <a:endParaRPr lang="en-US" sz="1050" dirty="0"/>
          </a:p>
        </p:txBody>
      </p:sp>
      <p:sp>
        <p:nvSpPr>
          <p:cNvPr id="24" name="Text 22"/>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25" name="Text 23"/>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Validating the Response</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Every cy.request returns a response object — assert on status, body, and headers</a:t>
            </a:r>
            <a:endParaRPr lang="en-US" sz="1300" dirty="0"/>
          </a:p>
        </p:txBody>
      </p:sp>
      <p:sp>
        <p:nvSpPr>
          <p:cNvPr id="4" name="Text 2"/>
          <p:cNvSpPr/>
          <p:nvPr/>
        </p:nvSpPr>
        <p:spPr>
          <a:xfrm>
            <a:off x="457200" y="1417320"/>
            <a:ext cx="4023360" cy="274320"/>
          </a:xfrm>
          <a:prstGeom prst="rect">
            <a:avLst/>
          </a:prstGeom>
          <a:noFill/>
          <a:ln/>
        </p:spPr>
        <p:txBody>
          <a:bodyPr wrap="square" lIns="0" tIns="0" rIns="0" bIns="0" rtlCol="0" anchor="ctr"/>
          <a:lstStyle/>
          <a:p>
            <a:pPr indent="0" marL="0">
              <a:buNone/>
            </a:pPr>
            <a:r>
              <a:rPr lang="en-US" sz="1200" b="1" spc="300" kern="0" dirty="0">
                <a:solidFill>
                  <a:srgbClr val="69D3A7"/>
                </a:solidFill>
                <a:latin typeface="Calibri" pitchFamily="34" charset="0"/>
                <a:ea typeface="Calibri" pitchFamily="34" charset="-122"/>
                <a:cs typeface="Calibri" pitchFamily="34" charset="-120"/>
              </a:rPr>
              <a:t>Chain .then for the response</a:t>
            </a:r>
            <a:endParaRPr lang="en-US" sz="1200" dirty="0"/>
          </a:p>
        </p:txBody>
      </p:sp>
      <p:sp>
        <p:nvSpPr>
          <p:cNvPr id="5" name="Shape 3"/>
          <p:cNvSpPr/>
          <p:nvPr/>
        </p:nvSpPr>
        <p:spPr>
          <a:xfrm>
            <a:off x="457200" y="1737360"/>
            <a:ext cx="4023360" cy="2788920"/>
          </a:xfrm>
          <a:prstGeom prst="rect">
            <a:avLst/>
          </a:prstGeom>
          <a:solidFill>
            <a:srgbClr val="0F1A3A"/>
          </a:solidFill>
          <a:ln w="12700">
            <a:solidFill>
              <a:srgbClr val="0F1A3A"/>
            </a:solidFill>
            <a:prstDash val="solid"/>
          </a:ln>
        </p:spPr>
      </p:sp>
      <p:sp>
        <p:nvSpPr>
          <p:cNvPr id="6" name="Text 4"/>
          <p:cNvSpPr/>
          <p:nvPr/>
        </p:nvSpPr>
        <p:spPr>
          <a:xfrm>
            <a:off x="640080" y="1828800"/>
            <a:ext cx="3749040" cy="2697480"/>
          </a:xfrm>
          <a:prstGeom prst="rect">
            <a:avLst/>
          </a:prstGeom>
          <a:noFill/>
          <a:ln/>
        </p:spPr>
        <p:txBody>
          <a:bodyPr wrap="square" lIns="0" tIns="0" rIns="0" bIns="0" rtlCol="0" anchor="t"/>
          <a:lstStyle/>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cy.request(</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"/api/users/1"</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.then((</a:t>
            </a:r>
            <a:pPr indent="0" marL="0">
              <a:spcAft>
                <a:spcPts val="100"/>
              </a:spcAft>
              <a:buNone/>
            </a:pPr>
            <a:r>
              <a:rPr lang="en-US" sz="950" dirty="0">
                <a:solidFill>
                  <a:srgbClr val="81D4FA"/>
                </a:solidFill>
                <a:latin typeface="Consolas" pitchFamily="34" charset="0"/>
                <a:ea typeface="Consolas" pitchFamily="34" charset="-122"/>
                <a:cs typeface="Consolas" pitchFamily="34" charset="-120"/>
              </a:rPr>
              <a:t>res</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=&gt; {</a:t>
            </a:r>
            <a:endParaRPr lang="en-US" sz="950" dirty="0"/>
          </a:p>
          <a:p>
            <a:pPr indent="0" marL="0">
              <a:spcAft>
                <a:spcPts val="100"/>
              </a:spcAft>
              <a:buNone/>
            </a:pPr>
            <a:r>
              <a:rPr lang="en-US" sz="950" dirty="0">
                <a:solidFill>
                  <a:srgbClr val="F06292"/>
                </a:solidFill>
                <a:latin typeface="Consolas" pitchFamily="34" charset="0"/>
                <a:ea typeface="Consolas" pitchFamily="34" charset="-122"/>
                <a:cs typeface="Consolas" pitchFamily="34" charset="-120"/>
              </a:rPr>
              <a:t>    expect(</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res.status</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.to.eq(</a:t>
            </a:r>
            <a:pPr indent="0" marL="0">
              <a:spcAft>
                <a:spcPts val="100"/>
              </a:spcAft>
              <a:buNone/>
            </a:pPr>
            <a:r>
              <a:rPr lang="en-US" sz="950" dirty="0">
                <a:solidFill>
                  <a:srgbClr val="F06292"/>
                </a:solidFill>
                <a:latin typeface="Consolas" pitchFamily="34" charset="0"/>
                <a:ea typeface="Consolas" pitchFamily="34" charset="-122"/>
                <a:cs typeface="Consolas" pitchFamily="34" charset="-120"/>
              </a:rPr>
              <a:t>200</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F06292"/>
                </a:solidFill>
                <a:latin typeface="Consolas" pitchFamily="34" charset="0"/>
                <a:ea typeface="Consolas" pitchFamily="34" charset="-122"/>
                <a:cs typeface="Consolas" pitchFamily="34" charset="-120"/>
              </a:rPr>
              <a:t>    expect(</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res.body.name</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.to.eq(</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"Priya"</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F06292"/>
                </a:solidFill>
                <a:latin typeface="Consolas" pitchFamily="34" charset="0"/>
                <a:ea typeface="Consolas" pitchFamily="34" charset="-122"/>
                <a:cs typeface="Consolas" pitchFamily="34" charset="-120"/>
              </a:rPr>
              <a:t>    expect(</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res.headers</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.to.include({ </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"content-type"</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"application/json"</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a:t>
            </a:r>
            <a:endParaRPr lang="en-US" sz="950" dirty="0"/>
          </a:p>
        </p:txBody>
      </p:sp>
      <p:sp>
        <p:nvSpPr>
          <p:cNvPr id="7" name="Text 5"/>
          <p:cNvSpPr/>
          <p:nvPr/>
        </p:nvSpPr>
        <p:spPr>
          <a:xfrm>
            <a:off x="4663440" y="1417320"/>
            <a:ext cx="4023360" cy="274320"/>
          </a:xfrm>
          <a:prstGeom prst="rect">
            <a:avLst/>
          </a:prstGeom>
          <a:noFill/>
          <a:ln/>
        </p:spPr>
        <p:txBody>
          <a:bodyPr wrap="square" lIns="0" tIns="0" rIns="0" bIns="0" rtlCol="0" anchor="ctr"/>
          <a:lstStyle/>
          <a:p>
            <a:pPr indent="0" marL="0">
              <a:buNone/>
            </a:pPr>
            <a:r>
              <a:rPr lang="en-US" sz="1200" b="1" spc="300" kern="0" dirty="0">
                <a:solidFill>
                  <a:srgbClr val="69D3A7"/>
                </a:solidFill>
                <a:latin typeface="Calibri" pitchFamily="34" charset="0"/>
                <a:ea typeface="Calibri" pitchFamily="34" charset="-122"/>
                <a:cs typeface="Calibri" pitchFamily="34" charset="-120"/>
              </a:rPr>
              <a:t>Three things to check</a:t>
            </a:r>
            <a:endParaRPr lang="en-US" sz="1200" dirty="0"/>
          </a:p>
        </p:txBody>
      </p:sp>
      <p:sp>
        <p:nvSpPr>
          <p:cNvPr id="8" name="Shape 6"/>
          <p:cNvSpPr/>
          <p:nvPr/>
        </p:nvSpPr>
        <p:spPr>
          <a:xfrm>
            <a:off x="4663440" y="1783080"/>
            <a:ext cx="4023360" cy="777240"/>
          </a:xfrm>
          <a:prstGeom prst="rect">
            <a:avLst/>
          </a:prstGeom>
          <a:solidFill>
            <a:srgbClr val="F7F9FC"/>
          </a:solidFill>
          <a:ln w="12700">
            <a:solidFill>
              <a:srgbClr val="F7F9FC"/>
            </a:solidFill>
            <a:prstDash val="solid"/>
          </a:ln>
        </p:spPr>
      </p:sp>
      <p:sp>
        <p:nvSpPr>
          <p:cNvPr id="9" name="Shape 7"/>
          <p:cNvSpPr/>
          <p:nvPr/>
        </p:nvSpPr>
        <p:spPr>
          <a:xfrm>
            <a:off x="4663440" y="1783080"/>
            <a:ext cx="73152" cy="777240"/>
          </a:xfrm>
          <a:prstGeom prst="rect">
            <a:avLst/>
          </a:prstGeom>
          <a:solidFill>
            <a:srgbClr val="F5B700"/>
          </a:solidFill>
          <a:ln w="12700">
            <a:solidFill>
              <a:srgbClr val="F5B700"/>
            </a:solidFill>
            <a:prstDash val="solid"/>
          </a:ln>
        </p:spPr>
      </p:sp>
      <p:sp>
        <p:nvSpPr>
          <p:cNvPr id="10" name="Text 8"/>
          <p:cNvSpPr/>
          <p:nvPr/>
        </p:nvSpPr>
        <p:spPr>
          <a:xfrm>
            <a:off x="4846320" y="1874520"/>
            <a:ext cx="3657600" cy="274320"/>
          </a:xfrm>
          <a:prstGeom prst="rect">
            <a:avLst/>
          </a:prstGeom>
          <a:noFill/>
          <a:ln/>
        </p:spPr>
        <p:txBody>
          <a:bodyPr wrap="square" lIns="0" tIns="0" rIns="0" bIns="0" rtlCol="0" anchor="ctr"/>
          <a:lstStyle/>
          <a:p>
            <a:pPr indent="0" marL="0">
              <a:buNone/>
            </a:pPr>
            <a:r>
              <a:rPr lang="en-US" sz="1200" b="1" dirty="0">
                <a:solidFill>
                  <a:srgbClr val="1E2761"/>
                </a:solidFill>
                <a:latin typeface="Consolas" pitchFamily="34" charset="0"/>
                <a:ea typeface="Consolas" pitchFamily="34" charset="-122"/>
                <a:cs typeface="Consolas" pitchFamily="34" charset="-120"/>
              </a:rPr>
              <a:t>res.status</a:t>
            </a:r>
            <a:endParaRPr lang="en-US" sz="1200" dirty="0"/>
          </a:p>
        </p:txBody>
      </p:sp>
      <p:sp>
        <p:nvSpPr>
          <p:cNvPr id="11" name="Text 9"/>
          <p:cNvSpPr/>
          <p:nvPr/>
        </p:nvSpPr>
        <p:spPr>
          <a:xfrm>
            <a:off x="4846320" y="2148840"/>
            <a:ext cx="3657600" cy="36576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200, 201, 401, 404, 500 — did the request succeed?</a:t>
            </a:r>
            <a:endParaRPr lang="en-US" sz="1050" dirty="0"/>
          </a:p>
        </p:txBody>
      </p:sp>
      <p:sp>
        <p:nvSpPr>
          <p:cNvPr id="12" name="Shape 10"/>
          <p:cNvSpPr/>
          <p:nvPr/>
        </p:nvSpPr>
        <p:spPr>
          <a:xfrm>
            <a:off x="4663440" y="2651760"/>
            <a:ext cx="4023360" cy="777240"/>
          </a:xfrm>
          <a:prstGeom prst="rect">
            <a:avLst/>
          </a:prstGeom>
          <a:solidFill>
            <a:srgbClr val="F7F9FC"/>
          </a:solidFill>
          <a:ln w="12700">
            <a:solidFill>
              <a:srgbClr val="F7F9FC"/>
            </a:solidFill>
            <a:prstDash val="solid"/>
          </a:ln>
        </p:spPr>
      </p:sp>
      <p:sp>
        <p:nvSpPr>
          <p:cNvPr id="13" name="Shape 11"/>
          <p:cNvSpPr/>
          <p:nvPr/>
        </p:nvSpPr>
        <p:spPr>
          <a:xfrm>
            <a:off x="4663440" y="2651760"/>
            <a:ext cx="73152" cy="777240"/>
          </a:xfrm>
          <a:prstGeom prst="rect">
            <a:avLst/>
          </a:prstGeom>
          <a:solidFill>
            <a:srgbClr val="F5B700"/>
          </a:solidFill>
          <a:ln w="12700">
            <a:solidFill>
              <a:srgbClr val="F5B700"/>
            </a:solidFill>
            <a:prstDash val="solid"/>
          </a:ln>
        </p:spPr>
      </p:sp>
      <p:sp>
        <p:nvSpPr>
          <p:cNvPr id="14" name="Text 12"/>
          <p:cNvSpPr/>
          <p:nvPr/>
        </p:nvSpPr>
        <p:spPr>
          <a:xfrm>
            <a:off x="4846320" y="2743200"/>
            <a:ext cx="3657600" cy="274320"/>
          </a:xfrm>
          <a:prstGeom prst="rect">
            <a:avLst/>
          </a:prstGeom>
          <a:noFill/>
          <a:ln/>
        </p:spPr>
        <p:txBody>
          <a:bodyPr wrap="square" lIns="0" tIns="0" rIns="0" bIns="0" rtlCol="0" anchor="ctr"/>
          <a:lstStyle/>
          <a:p>
            <a:pPr indent="0" marL="0">
              <a:buNone/>
            </a:pPr>
            <a:r>
              <a:rPr lang="en-US" sz="1200" b="1" dirty="0">
                <a:solidFill>
                  <a:srgbClr val="1E2761"/>
                </a:solidFill>
                <a:latin typeface="Consolas" pitchFamily="34" charset="0"/>
                <a:ea typeface="Consolas" pitchFamily="34" charset="-122"/>
                <a:cs typeface="Consolas" pitchFamily="34" charset="-120"/>
              </a:rPr>
              <a:t>res.body</a:t>
            </a:r>
            <a:endParaRPr lang="en-US" sz="1200" dirty="0"/>
          </a:p>
        </p:txBody>
      </p:sp>
      <p:sp>
        <p:nvSpPr>
          <p:cNvPr id="15" name="Text 13"/>
          <p:cNvSpPr/>
          <p:nvPr/>
        </p:nvSpPr>
        <p:spPr>
          <a:xfrm>
            <a:off x="4846320" y="3017520"/>
            <a:ext cx="3657600" cy="36576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The actual JSON — field values, array length, schema shape</a:t>
            </a:r>
            <a:endParaRPr lang="en-US" sz="1050" dirty="0"/>
          </a:p>
        </p:txBody>
      </p:sp>
      <p:sp>
        <p:nvSpPr>
          <p:cNvPr id="16" name="Shape 14"/>
          <p:cNvSpPr/>
          <p:nvPr/>
        </p:nvSpPr>
        <p:spPr>
          <a:xfrm>
            <a:off x="4663440" y="3520440"/>
            <a:ext cx="4023360" cy="777240"/>
          </a:xfrm>
          <a:prstGeom prst="rect">
            <a:avLst/>
          </a:prstGeom>
          <a:solidFill>
            <a:srgbClr val="F7F9FC"/>
          </a:solidFill>
          <a:ln w="12700">
            <a:solidFill>
              <a:srgbClr val="F7F9FC"/>
            </a:solidFill>
            <a:prstDash val="solid"/>
          </a:ln>
        </p:spPr>
      </p:sp>
      <p:sp>
        <p:nvSpPr>
          <p:cNvPr id="17" name="Shape 15"/>
          <p:cNvSpPr/>
          <p:nvPr/>
        </p:nvSpPr>
        <p:spPr>
          <a:xfrm>
            <a:off x="4663440" y="3520440"/>
            <a:ext cx="73152" cy="777240"/>
          </a:xfrm>
          <a:prstGeom prst="rect">
            <a:avLst/>
          </a:prstGeom>
          <a:solidFill>
            <a:srgbClr val="F5B700"/>
          </a:solidFill>
          <a:ln w="12700">
            <a:solidFill>
              <a:srgbClr val="F5B700"/>
            </a:solidFill>
            <a:prstDash val="solid"/>
          </a:ln>
        </p:spPr>
      </p:sp>
      <p:sp>
        <p:nvSpPr>
          <p:cNvPr id="18" name="Text 16"/>
          <p:cNvSpPr/>
          <p:nvPr/>
        </p:nvSpPr>
        <p:spPr>
          <a:xfrm>
            <a:off x="4846320" y="3611880"/>
            <a:ext cx="3657600" cy="274320"/>
          </a:xfrm>
          <a:prstGeom prst="rect">
            <a:avLst/>
          </a:prstGeom>
          <a:noFill/>
          <a:ln/>
        </p:spPr>
        <p:txBody>
          <a:bodyPr wrap="square" lIns="0" tIns="0" rIns="0" bIns="0" rtlCol="0" anchor="ctr"/>
          <a:lstStyle/>
          <a:p>
            <a:pPr indent="0" marL="0">
              <a:buNone/>
            </a:pPr>
            <a:r>
              <a:rPr lang="en-US" sz="1200" b="1" dirty="0">
                <a:solidFill>
                  <a:srgbClr val="1E2761"/>
                </a:solidFill>
                <a:latin typeface="Consolas" pitchFamily="34" charset="0"/>
                <a:ea typeface="Consolas" pitchFamily="34" charset="-122"/>
                <a:cs typeface="Consolas" pitchFamily="34" charset="-120"/>
              </a:rPr>
              <a:t>res.headers</a:t>
            </a:r>
            <a:endParaRPr lang="en-US" sz="1200" dirty="0"/>
          </a:p>
        </p:txBody>
      </p:sp>
      <p:sp>
        <p:nvSpPr>
          <p:cNvPr id="19" name="Text 17"/>
          <p:cNvSpPr/>
          <p:nvPr/>
        </p:nvSpPr>
        <p:spPr>
          <a:xfrm>
            <a:off x="4846320" y="3886200"/>
            <a:ext cx="3657600" cy="36576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Content-type, auth tokens, custom headers like rate limits</a:t>
            </a:r>
            <a:endParaRPr lang="en-US" sz="1050" dirty="0"/>
          </a:p>
        </p:txBody>
      </p:sp>
      <p:sp>
        <p:nvSpPr>
          <p:cNvPr id="20" name="Text 18"/>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21" name="Text 19"/>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cy.intercept(): Beyond Just Watching</a:t>
            </a:r>
            <a:endParaRPr lang="en-US" sz="24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200" i="1" dirty="0">
                <a:solidFill>
                  <a:srgbClr val="5B6582"/>
                </a:solidFill>
                <a:latin typeface="Calibri" pitchFamily="34" charset="0"/>
                <a:ea typeface="Calibri" pitchFamily="34" charset="-122"/>
                <a:cs typeface="Calibri" pitchFamily="34" charset="-120"/>
              </a:rPr>
              <a:t>It can also modify, delay, or force errors — perfect for testing how the UI handles backend chaos</a:t>
            </a:r>
            <a:endParaRPr lang="en-US" sz="1200" dirty="0"/>
          </a:p>
        </p:txBody>
      </p:sp>
      <p:sp>
        <p:nvSpPr>
          <p:cNvPr id="4" name="Shape 2"/>
          <p:cNvSpPr/>
          <p:nvPr/>
        </p:nvSpPr>
        <p:spPr>
          <a:xfrm>
            <a:off x="457200" y="1371600"/>
            <a:ext cx="8229600" cy="594360"/>
          </a:xfrm>
          <a:prstGeom prst="rect">
            <a:avLst/>
          </a:prstGeom>
          <a:solidFill>
            <a:srgbClr val="F7F9FC"/>
          </a:solidFill>
          <a:ln w="12700">
            <a:solidFill>
              <a:srgbClr val="F7F9FC"/>
            </a:solidFill>
            <a:prstDash val="solid"/>
          </a:ln>
        </p:spPr>
      </p:sp>
      <p:sp>
        <p:nvSpPr>
          <p:cNvPr id="5" name="Shape 3"/>
          <p:cNvSpPr/>
          <p:nvPr/>
        </p:nvSpPr>
        <p:spPr>
          <a:xfrm>
            <a:off x="457200" y="1371600"/>
            <a:ext cx="1188720" cy="594360"/>
          </a:xfrm>
          <a:prstGeom prst="rect">
            <a:avLst/>
          </a:prstGeom>
          <a:solidFill>
            <a:srgbClr val="1E2761"/>
          </a:solidFill>
          <a:ln w="12700">
            <a:solidFill>
              <a:srgbClr val="1E2761"/>
            </a:solidFill>
            <a:prstDash val="solid"/>
          </a:ln>
        </p:spPr>
      </p:sp>
      <p:sp>
        <p:nvSpPr>
          <p:cNvPr id="6" name="Text 4"/>
          <p:cNvSpPr/>
          <p:nvPr/>
        </p:nvSpPr>
        <p:spPr>
          <a:xfrm>
            <a:off x="457200" y="1371600"/>
            <a:ext cx="1188720" cy="594360"/>
          </a:xfrm>
          <a:prstGeom prst="rect">
            <a:avLst/>
          </a:prstGeom>
          <a:noFill/>
          <a:ln/>
        </p:spPr>
        <p:txBody>
          <a:bodyPr wrap="square" lIns="0" tIns="0" rIns="0" bIns="0" rtlCol="0" anchor="ctr"/>
          <a:lstStyle/>
          <a:p>
            <a:pPr algn="ctr" indent="0" marL="0">
              <a:buNone/>
            </a:pPr>
            <a:r>
              <a:rPr lang="en-US" sz="1000" b="1" spc="200" kern="0" dirty="0">
                <a:solidFill>
                  <a:srgbClr val="69D3A7"/>
                </a:solidFill>
                <a:latin typeface="Calibri" pitchFamily="34" charset="0"/>
                <a:ea typeface="Calibri" pitchFamily="34" charset="-122"/>
                <a:cs typeface="Calibri" pitchFamily="34" charset="-120"/>
              </a:rPr>
              <a:t>WATCH</a:t>
            </a:r>
            <a:endParaRPr lang="en-US" sz="1000" dirty="0"/>
          </a:p>
        </p:txBody>
      </p:sp>
      <p:sp>
        <p:nvSpPr>
          <p:cNvPr id="7" name="Text 5"/>
          <p:cNvSpPr/>
          <p:nvPr/>
        </p:nvSpPr>
        <p:spPr>
          <a:xfrm>
            <a:off x="1783080" y="1417320"/>
            <a:ext cx="2286000" cy="548640"/>
          </a:xfrm>
          <a:prstGeom prst="rect">
            <a:avLst/>
          </a:prstGeom>
          <a:noFill/>
          <a:ln/>
        </p:spPr>
        <p:txBody>
          <a:bodyPr wrap="square" lIns="0" tIns="0" rIns="0" bIns="0"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Observe &amp; assert on real requests</a:t>
            </a:r>
            <a:endParaRPr lang="en-US" sz="1050" dirty="0"/>
          </a:p>
        </p:txBody>
      </p:sp>
      <p:sp>
        <p:nvSpPr>
          <p:cNvPr id="8" name="Shape 6"/>
          <p:cNvSpPr/>
          <p:nvPr/>
        </p:nvSpPr>
        <p:spPr>
          <a:xfrm>
            <a:off x="4160520" y="1426464"/>
            <a:ext cx="4434840" cy="484632"/>
          </a:xfrm>
          <a:prstGeom prst="rect">
            <a:avLst/>
          </a:prstGeom>
          <a:solidFill>
            <a:srgbClr val="0F1A3A"/>
          </a:solidFill>
          <a:ln w="12700">
            <a:solidFill>
              <a:srgbClr val="0F1A3A"/>
            </a:solidFill>
            <a:prstDash val="solid"/>
          </a:ln>
        </p:spPr>
      </p:sp>
      <p:sp>
        <p:nvSpPr>
          <p:cNvPr id="9" name="Text 7"/>
          <p:cNvSpPr/>
          <p:nvPr/>
        </p:nvSpPr>
        <p:spPr>
          <a:xfrm>
            <a:off x="4251960" y="1444752"/>
            <a:ext cx="4297680" cy="457200"/>
          </a:xfrm>
          <a:prstGeom prst="rect">
            <a:avLst/>
          </a:prstGeom>
          <a:noFill/>
          <a:ln/>
        </p:spPr>
        <p:txBody>
          <a:bodyPr wrap="square" lIns="0" tIns="0" rIns="0" bIns="0" rtlCol="0" anchor="t"/>
          <a:lstStyle/>
          <a:p>
            <a:pPr indent="0" marL="0">
              <a:buNone/>
            </a:pPr>
            <a:r>
              <a:rPr lang="en-US" sz="850" dirty="0">
                <a:solidFill>
                  <a:srgbClr val="FFD54F"/>
                </a:solidFill>
                <a:latin typeface="Consolas" pitchFamily="34" charset="0"/>
                <a:ea typeface="Consolas" pitchFamily="34" charset="-122"/>
                <a:cs typeface="Consolas" pitchFamily="34" charset="-120"/>
              </a:rPr>
              <a:t>cy.intercept("GET", "/api/users").as("users");</a:t>
            </a:r>
            <a:endParaRPr lang="en-US" sz="850" dirty="0"/>
          </a:p>
          <a:p>
            <a:pPr indent="0" marL="0">
              <a:buNone/>
            </a:pPr>
            <a:r>
              <a:rPr lang="en-US" sz="850" dirty="0">
                <a:solidFill>
                  <a:srgbClr val="FFD54F"/>
                </a:solidFill>
                <a:latin typeface="Consolas" pitchFamily="34" charset="0"/>
                <a:ea typeface="Consolas" pitchFamily="34" charset="-122"/>
                <a:cs typeface="Consolas" pitchFamily="34" charset="-120"/>
              </a:rPr>
              <a:t>cy.wait("@users").its("response.statusCode").should("eq", 200);</a:t>
            </a:r>
            <a:endParaRPr lang="en-US" sz="850" dirty="0"/>
          </a:p>
        </p:txBody>
      </p:sp>
      <p:sp>
        <p:nvSpPr>
          <p:cNvPr id="10" name="Shape 8"/>
          <p:cNvSpPr/>
          <p:nvPr/>
        </p:nvSpPr>
        <p:spPr>
          <a:xfrm>
            <a:off x="457200" y="2029968"/>
            <a:ext cx="8229600" cy="594360"/>
          </a:xfrm>
          <a:prstGeom prst="rect">
            <a:avLst/>
          </a:prstGeom>
          <a:solidFill>
            <a:srgbClr val="F7F9FC"/>
          </a:solidFill>
          <a:ln w="12700">
            <a:solidFill>
              <a:srgbClr val="F7F9FC"/>
            </a:solidFill>
            <a:prstDash val="solid"/>
          </a:ln>
        </p:spPr>
      </p:sp>
      <p:sp>
        <p:nvSpPr>
          <p:cNvPr id="11" name="Shape 9"/>
          <p:cNvSpPr/>
          <p:nvPr/>
        </p:nvSpPr>
        <p:spPr>
          <a:xfrm>
            <a:off x="457200" y="2029968"/>
            <a:ext cx="1188720" cy="594360"/>
          </a:xfrm>
          <a:prstGeom prst="rect">
            <a:avLst/>
          </a:prstGeom>
          <a:solidFill>
            <a:srgbClr val="1E2761"/>
          </a:solidFill>
          <a:ln w="12700">
            <a:solidFill>
              <a:srgbClr val="1E2761"/>
            </a:solidFill>
            <a:prstDash val="solid"/>
          </a:ln>
        </p:spPr>
      </p:sp>
      <p:sp>
        <p:nvSpPr>
          <p:cNvPr id="12" name="Text 10"/>
          <p:cNvSpPr/>
          <p:nvPr/>
        </p:nvSpPr>
        <p:spPr>
          <a:xfrm>
            <a:off x="457200" y="2029968"/>
            <a:ext cx="1188720" cy="594360"/>
          </a:xfrm>
          <a:prstGeom prst="rect">
            <a:avLst/>
          </a:prstGeom>
          <a:noFill/>
          <a:ln/>
        </p:spPr>
        <p:txBody>
          <a:bodyPr wrap="square" lIns="0" tIns="0" rIns="0" bIns="0" rtlCol="0" anchor="ctr"/>
          <a:lstStyle/>
          <a:p>
            <a:pPr algn="ctr" indent="0" marL="0">
              <a:buNone/>
            </a:pPr>
            <a:r>
              <a:rPr lang="en-US" sz="1000" b="1" spc="200" kern="0" dirty="0">
                <a:solidFill>
                  <a:srgbClr val="69D3A7"/>
                </a:solidFill>
                <a:latin typeface="Calibri" pitchFamily="34" charset="0"/>
                <a:ea typeface="Calibri" pitchFamily="34" charset="-122"/>
                <a:cs typeface="Calibri" pitchFamily="34" charset="-120"/>
              </a:rPr>
              <a:t>STUB</a:t>
            </a:r>
            <a:endParaRPr lang="en-US" sz="1000" dirty="0"/>
          </a:p>
        </p:txBody>
      </p:sp>
      <p:sp>
        <p:nvSpPr>
          <p:cNvPr id="13" name="Text 11"/>
          <p:cNvSpPr/>
          <p:nvPr/>
        </p:nvSpPr>
        <p:spPr>
          <a:xfrm>
            <a:off x="1783080" y="2075688"/>
            <a:ext cx="2286000" cy="548640"/>
          </a:xfrm>
          <a:prstGeom prst="rect">
            <a:avLst/>
          </a:prstGeom>
          <a:noFill/>
          <a:ln/>
        </p:spPr>
        <p:txBody>
          <a:bodyPr wrap="square" lIns="0" tIns="0" rIns="0" bIns="0"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Replace response with fixture</a:t>
            </a:r>
            <a:endParaRPr lang="en-US" sz="1050" dirty="0"/>
          </a:p>
        </p:txBody>
      </p:sp>
      <p:sp>
        <p:nvSpPr>
          <p:cNvPr id="14" name="Shape 12"/>
          <p:cNvSpPr/>
          <p:nvPr/>
        </p:nvSpPr>
        <p:spPr>
          <a:xfrm>
            <a:off x="4160520" y="2084832"/>
            <a:ext cx="4434840" cy="484632"/>
          </a:xfrm>
          <a:prstGeom prst="rect">
            <a:avLst/>
          </a:prstGeom>
          <a:solidFill>
            <a:srgbClr val="0F1A3A"/>
          </a:solidFill>
          <a:ln w="12700">
            <a:solidFill>
              <a:srgbClr val="0F1A3A"/>
            </a:solidFill>
            <a:prstDash val="solid"/>
          </a:ln>
        </p:spPr>
      </p:sp>
      <p:sp>
        <p:nvSpPr>
          <p:cNvPr id="15" name="Text 13"/>
          <p:cNvSpPr/>
          <p:nvPr/>
        </p:nvSpPr>
        <p:spPr>
          <a:xfrm>
            <a:off x="4251960" y="2103120"/>
            <a:ext cx="4297680" cy="457200"/>
          </a:xfrm>
          <a:prstGeom prst="rect">
            <a:avLst/>
          </a:prstGeom>
          <a:noFill/>
          <a:ln/>
        </p:spPr>
        <p:txBody>
          <a:bodyPr wrap="square" lIns="0" tIns="0" rIns="0" bIns="0" rtlCol="0" anchor="t"/>
          <a:lstStyle/>
          <a:p>
            <a:pPr indent="0" marL="0">
              <a:buNone/>
            </a:pPr>
            <a:r>
              <a:rPr lang="en-US" sz="850" dirty="0">
                <a:solidFill>
                  <a:srgbClr val="FFD54F"/>
                </a:solidFill>
                <a:latin typeface="Consolas" pitchFamily="34" charset="0"/>
                <a:ea typeface="Consolas" pitchFamily="34" charset="-122"/>
                <a:cs typeface="Consolas" pitchFamily="34" charset="-120"/>
              </a:rPr>
              <a:t>cy.intercept("GET", "/api/users", {</a:t>
            </a:r>
            <a:endParaRPr lang="en-US" sz="850" dirty="0"/>
          </a:p>
          <a:p>
            <a:pPr indent="0" marL="0">
              <a:buNone/>
            </a:pPr>
            <a:r>
              <a:rPr lang="en-US" sz="850" dirty="0">
                <a:solidFill>
                  <a:srgbClr val="FFD54F"/>
                </a:solidFill>
                <a:latin typeface="Consolas" pitchFamily="34" charset="0"/>
                <a:ea typeface="Consolas" pitchFamily="34" charset="-122"/>
                <a:cs typeface="Consolas" pitchFamily="34" charset="-120"/>
              </a:rPr>
              <a:t>  fixture: "users/list.json" });</a:t>
            </a:r>
            <a:endParaRPr lang="en-US" sz="850" dirty="0"/>
          </a:p>
        </p:txBody>
      </p:sp>
      <p:sp>
        <p:nvSpPr>
          <p:cNvPr id="16" name="Shape 14"/>
          <p:cNvSpPr/>
          <p:nvPr/>
        </p:nvSpPr>
        <p:spPr>
          <a:xfrm>
            <a:off x="457200" y="2688336"/>
            <a:ext cx="8229600" cy="594360"/>
          </a:xfrm>
          <a:prstGeom prst="rect">
            <a:avLst/>
          </a:prstGeom>
          <a:solidFill>
            <a:srgbClr val="F7F9FC"/>
          </a:solidFill>
          <a:ln w="12700">
            <a:solidFill>
              <a:srgbClr val="F7F9FC"/>
            </a:solidFill>
            <a:prstDash val="solid"/>
          </a:ln>
        </p:spPr>
      </p:sp>
      <p:sp>
        <p:nvSpPr>
          <p:cNvPr id="17" name="Shape 15"/>
          <p:cNvSpPr/>
          <p:nvPr/>
        </p:nvSpPr>
        <p:spPr>
          <a:xfrm>
            <a:off x="457200" y="2688336"/>
            <a:ext cx="1188720" cy="594360"/>
          </a:xfrm>
          <a:prstGeom prst="rect">
            <a:avLst/>
          </a:prstGeom>
          <a:solidFill>
            <a:srgbClr val="1E2761"/>
          </a:solidFill>
          <a:ln w="12700">
            <a:solidFill>
              <a:srgbClr val="1E2761"/>
            </a:solidFill>
            <a:prstDash val="solid"/>
          </a:ln>
        </p:spPr>
      </p:sp>
      <p:sp>
        <p:nvSpPr>
          <p:cNvPr id="18" name="Text 16"/>
          <p:cNvSpPr/>
          <p:nvPr/>
        </p:nvSpPr>
        <p:spPr>
          <a:xfrm>
            <a:off x="457200" y="2688336"/>
            <a:ext cx="1188720" cy="594360"/>
          </a:xfrm>
          <a:prstGeom prst="rect">
            <a:avLst/>
          </a:prstGeom>
          <a:noFill/>
          <a:ln/>
        </p:spPr>
        <p:txBody>
          <a:bodyPr wrap="square" lIns="0" tIns="0" rIns="0" bIns="0" rtlCol="0" anchor="ctr"/>
          <a:lstStyle/>
          <a:p>
            <a:pPr algn="ctr" indent="0" marL="0">
              <a:buNone/>
            </a:pPr>
            <a:r>
              <a:rPr lang="en-US" sz="1000" b="1" spc="200" kern="0" dirty="0">
                <a:solidFill>
                  <a:srgbClr val="69D3A7"/>
                </a:solidFill>
                <a:latin typeface="Calibri" pitchFamily="34" charset="0"/>
                <a:ea typeface="Calibri" pitchFamily="34" charset="-122"/>
                <a:cs typeface="Calibri" pitchFamily="34" charset="-120"/>
              </a:rPr>
              <a:t>MODIFY</a:t>
            </a:r>
            <a:endParaRPr lang="en-US" sz="1000" dirty="0"/>
          </a:p>
        </p:txBody>
      </p:sp>
      <p:sp>
        <p:nvSpPr>
          <p:cNvPr id="19" name="Text 17"/>
          <p:cNvSpPr/>
          <p:nvPr/>
        </p:nvSpPr>
        <p:spPr>
          <a:xfrm>
            <a:off x="1783080" y="2734056"/>
            <a:ext cx="2286000" cy="548640"/>
          </a:xfrm>
          <a:prstGeom prst="rect">
            <a:avLst/>
          </a:prstGeom>
          <a:noFill/>
          <a:ln/>
        </p:spPr>
        <p:txBody>
          <a:bodyPr wrap="square" lIns="0" tIns="0" rIns="0" bIns="0"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Change the real response on the fly</a:t>
            </a:r>
            <a:endParaRPr lang="en-US" sz="1050" dirty="0"/>
          </a:p>
        </p:txBody>
      </p:sp>
      <p:sp>
        <p:nvSpPr>
          <p:cNvPr id="20" name="Shape 18"/>
          <p:cNvSpPr/>
          <p:nvPr/>
        </p:nvSpPr>
        <p:spPr>
          <a:xfrm>
            <a:off x="4160520" y="2743200"/>
            <a:ext cx="4434840" cy="484632"/>
          </a:xfrm>
          <a:prstGeom prst="rect">
            <a:avLst/>
          </a:prstGeom>
          <a:solidFill>
            <a:srgbClr val="0F1A3A"/>
          </a:solidFill>
          <a:ln w="12700">
            <a:solidFill>
              <a:srgbClr val="0F1A3A"/>
            </a:solidFill>
            <a:prstDash val="solid"/>
          </a:ln>
        </p:spPr>
      </p:sp>
      <p:sp>
        <p:nvSpPr>
          <p:cNvPr id="21" name="Text 19"/>
          <p:cNvSpPr/>
          <p:nvPr/>
        </p:nvSpPr>
        <p:spPr>
          <a:xfrm>
            <a:off x="4251960" y="2761488"/>
            <a:ext cx="4297680" cy="457200"/>
          </a:xfrm>
          <a:prstGeom prst="rect">
            <a:avLst/>
          </a:prstGeom>
          <a:noFill/>
          <a:ln/>
        </p:spPr>
        <p:txBody>
          <a:bodyPr wrap="square" lIns="0" tIns="0" rIns="0" bIns="0" rtlCol="0" anchor="t"/>
          <a:lstStyle/>
          <a:p>
            <a:pPr indent="0" marL="0">
              <a:buNone/>
            </a:pPr>
            <a:r>
              <a:rPr lang="en-US" sz="850" dirty="0">
                <a:solidFill>
                  <a:srgbClr val="FFD54F"/>
                </a:solidFill>
                <a:latin typeface="Consolas" pitchFamily="34" charset="0"/>
                <a:ea typeface="Consolas" pitchFamily="34" charset="-122"/>
                <a:cs typeface="Consolas" pitchFamily="34" charset="-120"/>
              </a:rPr>
              <a:t>cy.intercept("/api/users", (req) =&gt; {</a:t>
            </a:r>
            <a:endParaRPr lang="en-US" sz="850" dirty="0"/>
          </a:p>
          <a:p>
            <a:pPr indent="0" marL="0">
              <a:buNone/>
            </a:pPr>
            <a:r>
              <a:rPr lang="en-US" sz="850" dirty="0">
                <a:solidFill>
                  <a:srgbClr val="FFD54F"/>
                </a:solidFill>
                <a:latin typeface="Consolas" pitchFamily="34" charset="0"/>
                <a:ea typeface="Consolas" pitchFamily="34" charset="-122"/>
                <a:cs typeface="Consolas" pitchFamily="34" charset="-120"/>
              </a:rPr>
              <a:t>  req.continue((res) =&gt; { res.body.role = "admin"; }); });</a:t>
            </a:r>
            <a:endParaRPr lang="en-US" sz="850" dirty="0"/>
          </a:p>
        </p:txBody>
      </p:sp>
      <p:sp>
        <p:nvSpPr>
          <p:cNvPr id="22" name="Shape 20"/>
          <p:cNvSpPr/>
          <p:nvPr/>
        </p:nvSpPr>
        <p:spPr>
          <a:xfrm>
            <a:off x="457200" y="3346704"/>
            <a:ext cx="8229600" cy="594360"/>
          </a:xfrm>
          <a:prstGeom prst="rect">
            <a:avLst/>
          </a:prstGeom>
          <a:solidFill>
            <a:srgbClr val="F7F9FC"/>
          </a:solidFill>
          <a:ln w="12700">
            <a:solidFill>
              <a:srgbClr val="F7F9FC"/>
            </a:solidFill>
            <a:prstDash val="solid"/>
          </a:ln>
        </p:spPr>
      </p:sp>
      <p:sp>
        <p:nvSpPr>
          <p:cNvPr id="23" name="Shape 21"/>
          <p:cNvSpPr/>
          <p:nvPr/>
        </p:nvSpPr>
        <p:spPr>
          <a:xfrm>
            <a:off x="457200" y="3346704"/>
            <a:ext cx="1188720" cy="594360"/>
          </a:xfrm>
          <a:prstGeom prst="rect">
            <a:avLst/>
          </a:prstGeom>
          <a:solidFill>
            <a:srgbClr val="1E2761"/>
          </a:solidFill>
          <a:ln w="12700">
            <a:solidFill>
              <a:srgbClr val="1E2761"/>
            </a:solidFill>
            <a:prstDash val="solid"/>
          </a:ln>
        </p:spPr>
      </p:sp>
      <p:sp>
        <p:nvSpPr>
          <p:cNvPr id="24" name="Text 22"/>
          <p:cNvSpPr/>
          <p:nvPr/>
        </p:nvSpPr>
        <p:spPr>
          <a:xfrm>
            <a:off x="457200" y="3346704"/>
            <a:ext cx="1188720" cy="594360"/>
          </a:xfrm>
          <a:prstGeom prst="rect">
            <a:avLst/>
          </a:prstGeom>
          <a:noFill/>
          <a:ln/>
        </p:spPr>
        <p:txBody>
          <a:bodyPr wrap="square" lIns="0" tIns="0" rIns="0" bIns="0" rtlCol="0" anchor="ctr"/>
          <a:lstStyle/>
          <a:p>
            <a:pPr algn="ctr" indent="0" marL="0">
              <a:buNone/>
            </a:pPr>
            <a:r>
              <a:rPr lang="en-US" sz="1000" b="1" spc="200" kern="0" dirty="0">
                <a:solidFill>
                  <a:srgbClr val="69D3A7"/>
                </a:solidFill>
                <a:latin typeface="Calibri" pitchFamily="34" charset="0"/>
                <a:ea typeface="Calibri" pitchFamily="34" charset="-122"/>
                <a:cs typeface="Calibri" pitchFamily="34" charset="-120"/>
              </a:rPr>
              <a:t>DELAY</a:t>
            </a:r>
            <a:endParaRPr lang="en-US" sz="1000" dirty="0"/>
          </a:p>
        </p:txBody>
      </p:sp>
      <p:sp>
        <p:nvSpPr>
          <p:cNvPr id="25" name="Text 23"/>
          <p:cNvSpPr/>
          <p:nvPr/>
        </p:nvSpPr>
        <p:spPr>
          <a:xfrm>
            <a:off x="1783080" y="3392424"/>
            <a:ext cx="2286000" cy="548640"/>
          </a:xfrm>
          <a:prstGeom prst="rect">
            <a:avLst/>
          </a:prstGeom>
          <a:noFill/>
          <a:ln/>
        </p:spPr>
        <p:txBody>
          <a:bodyPr wrap="square" lIns="0" tIns="0" rIns="0" bIns="0"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Simulate a slow backend</a:t>
            </a:r>
            <a:endParaRPr lang="en-US" sz="1050" dirty="0"/>
          </a:p>
        </p:txBody>
      </p:sp>
      <p:sp>
        <p:nvSpPr>
          <p:cNvPr id="26" name="Shape 24"/>
          <p:cNvSpPr/>
          <p:nvPr/>
        </p:nvSpPr>
        <p:spPr>
          <a:xfrm>
            <a:off x="4160520" y="3401568"/>
            <a:ext cx="4434840" cy="484632"/>
          </a:xfrm>
          <a:prstGeom prst="rect">
            <a:avLst/>
          </a:prstGeom>
          <a:solidFill>
            <a:srgbClr val="0F1A3A"/>
          </a:solidFill>
          <a:ln w="12700">
            <a:solidFill>
              <a:srgbClr val="0F1A3A"/>
            </a:solidFill>
            <a:prstDash val="solid"/>
          </a:ln>
        </p:spPr>
      </p:sp>
      <p:sp>
        <p:nvSpPr>
          <p:cNvPr id="27" name="Text 25"/>
          <p:cNvSpPr/>
          <p:nvPr/>
        </p:nvSpPr>
        <p:spPr>
          <a:xfrm>
            <a:off x="4251960" y="3419856"/>
            <a:ext cx="4297680" cy="457200"/>
          </a:xfrm>
          <a:prstGeom prst="rect">
            <a:avLst/>
          </a:prstGeom>
          <a:noFill/>
          <a:ln/>
        </p:spPr>
        <p:txBody>
          <a:bodyPr wrap="square" lIns="0" tIns="0" rIns="0" bIns="0" rtlCol="0" anchor="t"/>
          <a:lstStyle/>
          <a:p>
            <a:pPr indent="0" marL="0">
              <a:buNone/>
            </a:pPr>
            <a:r>
              <a:rPr lang="en-US" sz="850" dirty="0">
                <a:solidFill>
                  <a:srgbClr val="FFD54F"/>
                </a:solidFill>
                <a:latin typeface="Consolas" pitchFamily="34" charset="0"/>
                <a:ea typeface="Consolas" pitchFamily="34" charset="-122"/>
                <a:cs typeface="Consolas" pitchFamily="34" charset="-120"/>
              </a:rPr>
              <a:t>cy.intercept("/api/users",</a:t>
            </a:r>
            <a:endParaRPr lang="en-US" sz="850" dirty="0"/>
          </a:p>
          <a:p>
            <a:pPr indent="0" marL="0">
              <a:buNone/>
            </a:pPr>
            <a:r>
              <a:rPr lang="en-US" sz="850" dirty="0">
                <a:solidFill>
                  <a:srgbClr val="FFD54F"/>
                </a:solidFill>
                <a:latin typeface="Consolas" pitchFamily="34" charset="0"/>
                <a:ea typeface="Consolas" pitchFamily="34" charset="-122"/>
                <a:cs typeface="Consolas" pitchFamily="34" charset="-120"/>
              </a:rPr>
              <a:t>  { fixture: "users/list.json", delay: 3000 });</a:t>
            </a:r>
            <a:endParaRPr lang="en-US" sz="850" dirty="0"/>
          </a:p>
        </p:txBody>
      </p:sp>
      <p:sp>
        <p:nvSpPr>
          <p:cNvPr id="28" name="Shape 26"/>
          <p:cNvSpPr/>
          <p:nvPr/>
        </p:nvSpPr>
        <p:spPr>
          <a:xfrm>
            <a:off x="457200" y="4005072"/>
            <a:ext cx="8229600" cy="594360"/>
          </a:xfrm>
          <a:prstGeom prst="rect">
            <a:avLst/>
          </a:prstGeom>
          <a:solidFill>
            <a:srgbClr val="F7F9FC"/>
          </a:solidFill>
          <a:ln w="12700">
            <a:solidFill>
              <a:srgbClr val="F7F9FC"/>
            </a:solidFill>
            <a:prstDash val="solid"/>
          </a:ln>
        </p:spPr>
      </p:sp>
      <p:sp>
        <p:nvSpPr>
          <p:cNvPr id="29" name="Shape 27"/>
          <p:cNvSpPr/>
          <p:nvPr/>
        </p:nvSpPr>
        <p:spPr>
          <a:xfrm>
            <a:off x="457200" y="4005072"/>
            <a:ext cx="1188720" cy="594360"/>
          </a:xfrm>
          <a:prstGeom prst="rect">
            <a:avLst/>
          </a:prstGeom>
          <a:solidFill>
            <a:srgbClr val="1E2761"/>
          </a:solidFill>
          <a:ln w="12700">
            <a:solidFill>
              <a:srgbClr val="1E2761"/>
            </a:solidFill>
            <a:prstDash val="solid"/>
          </a:ln>
        </p:spPr>
      </p:sp>
      <p:sp>
        <p:nvSpPr>
          <p:cNvPr id="30" name="Text 28"/>
          <p:cNvSpPr/>
          <p:nvPr/>
        </p:nvSpPr>
        <p:spPr>
          <a:xfrm>
            <a:off x="457200" y="4005072"/>
            <a:ext cx="1188720" cy="594360"/>
          </a:xfrm>
          <a:prstGeom prst="rect">
            <a:avLst/>
          </a:prstGeom>
          <a:noFill/>
          <a:ln/>
        </p:spPr>
        <p:txBody>
          <a:bodyPr wrap="square" lIns="0" tIns="0" rIns="0" bIns="0" rtlCol="0" anchor="ctr"/>
          <a:lstStyle/>
          <a:p>
            <a:pPr algn="ctr" indent="0" marL="0">
              <a:buNone/>
            </a:pPr>
            <a:r>
              <a:rPr lang="en-US" sz="1000" b="1" spc="200" kern="0" dirty="0">
                <a:solidFill>
                  <a:srgbClr val="69D3A7"/>
                </a:solidFill>
                <a:latin typeface="Calibri" pitchFamily="34" charset="0"/>
                <a:ea typeface="Calibri" pitchFamily="34" charset="-122"/>
                <a:cs typeface="Calibri" pitchFamily="34" charset="-120"/>
              </a:rPr>
              <a:t>FORCE ERROR</a:t>
            </a:r>
            <a:endParaRPr lang="en-US" sz="1000" dirty="0"/>
          </a:p>
        </p:txBody>
      </p:sp>
      <p:sp>
        <p:nvSpPr>
          <p:cNvPr id="31" name="Text 29"/>
          <p:cNvSpPr/>
          <p:nvPr/>
        </p:nvSpPr>
        <p:spPr>
          <a:xfrm>
            <a:off x="1783080" y="4050792"/>
            <a:ext cx="2286000" cy="548640"/>
          </a:xfrm>
          <a:prstGeom prst="rect">
            <a:avLst/>
          </a:prstGeom>
          <a:noFill/>
          <a:ln/>
        </p:spPr>
        <p:txBody>
          <a:bodyPr wrap="square" lIns="0" tIns="0" rIns="0" bIns="0"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Test how the UI shows failures</a:t>
            </a:r>
            <a:endParaRPr lang="en-US" sz="1050" dirty="0"/>
          </a:p>
        </p:txBody>
      </p:sp>
      <p:sp>
        <p:nvSpPr>
          <p:cNvPr id="32" name="Shape 30"/>
          <p:cNvSpPr/>
          <p:nvPr/>
        </p:nvSpPr>
        <p:spPr>
          <a:xfrm>
            <a:off x="4160520" y="4059936"/>
            <a:ext cx="4434840" cy="484632"/>
          </a:xfrm>
          <a:prstGeom prst="rect">
            <a:avLst/>
          </a:prstGeom>
          <a:solidFill>
            <a:srgbClr val="0F1A3A"/>
          </a:solidFill>
          <a:ln w="12700">
            <a:solidFill>
              <a:srgbClr val="0F1A3A"/>
            </a:solidFill>
            <a:prstDash val="solid"/>
          </a:ln>
        </p:spPr>
      </p:sp>
      <p:sp>
        <p:nvSpPr>
          <p:cNvPr id="33" name="Text 31"/>
          <p:cNvSpPr/>
          <p:nvPr/>
        </p:nvSpPr>
        <p:spPr>
          <a:xfrm>
            <a:off x="4251960" y="4078224"/>
            <a:ext cx="4297680" cy="457200"/>
          </a:xfrm>
          <a:prstGeom prst="rect">
            <a:avLst/>
          </a:prstGeom>
          <a:noFill/>
          <a:ln/>
        </p:spPr>
        <p:txBody>
          <a:bodyPr wrap="square" lIns="0" tIns="0" rIns="0" bIns="0" rtlCol="0" anchor="t"/>
          <a:lstStyle/>
          <a:p>
            <a:pPr indent="0" marL="0">
              <a:buNone/>
            </a:pPr>
            <a:r>
              <a:rPr lang="en-US" sz="850" dirty="0">
                <a:solidFill>
                  <a:srgbClr val="FFD54F"/>
                </a:solidFill>
                <a:latin typeface="Consolas" pitchFamily="34" charset="0"/>
                <a:ea typeface="Consolas" pitchFamily="34" charset="-122"/>
                <a:cs typeface="Consolas" pitchFamily="34" charset="-120"/>
              </a:rPr>
              <a:t>cy.intercept("/api/users",</a:t>
            </a:r>
            <a:endParaRPr lang="en-US" sz="850" dirty="0"/>
          </a:p>
          <a:p>
            <a:pPr indent="0" marL="0">
              <a:buNone/>
            </a:pPr>
            <a:r>
              <a:rPr lang="en-US" sz="850" dirty="0">
                <a:solidFill>
                  <a:srgbClr val="FFD54F"/>
                </a:solidFill>
                <a:latin typeface="Consolas" pitchFamily="34" charset="0"/>
                <a:ea typeface="Consolas" pitchFamily="34" charset="-122"/>
                <a:cs typeface="Consolas" pitchFamily="34" charset="-120"/>
              </a:rPr>
              <a:t>  { statusCode: 500, body: { error: "Server exploded" } });</a:t>
            </a:r>
            <a:endParaRPr lang="en-US" sz="850" dirty="0"/>
          </a:p>
        </p:txBody>
      </p:sp>
      <p:sp>
        <p:nvSpPr>
          <p:cNvPr id="34" name="Text 32"/>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35" name="Text 33"/>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cy.request  vs  cy.intercept</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200" i="1" dirty="0">
                <a:solidFill>
                  <a:srgbClr val="5B6582"/>
                </a:solidFill>
                <a:latin typeface="Calibri" pitchFamily="34" charset="0"/>
                <a:ea typeface="Calibri" pitchFamily="34" charset="-122"/>
                <a:cs typeface="Calibri" pitchFamily="34" charset="-120"/>
              </a:rPr>
              <a:t>They sound similar but do completely different things — get this right and tests get simpler</a:t>
            </a:r>
            <a:endParaRPr lang="en-US" sz="1200" dirty="0"/>
          </a:p>
        </p:txBody>
      </p:sp>
      <p:sp>
        <p:nvSpPr>
          <p:cNvPr id="4" name="Shape 2"/>
          <p:cNvSpPr/>
          <p:nvPr/>
        </p:nvSpPr>
        <p:spPr>
          <a:xfrm>
            <a:off x="457200" y="1417320"/>
            <a:ext cx="4023360" cy="3108960"/>
          </a:xfrm>
          <a:prstGeom prst="rect">
            <a:avLst/>
          </a:prstGeom>
          <a:solidFill>
            <a:srgbClr val="F7F9FC"/>
          </a:solidFill>
          <a:ln w="12700">
            <a:solidFill>
              <a:srgbClr val="F7F9FC"/>
            </a:solidFill>
            <a:prstDash val="solid"/>
          </a:ln>
        </p:spPr>
      </p:sp>
      <p:sp>
        <p:nvSpPr>
          <p:cNvPr id="5" name="Shape 3"/>
          <p:cNvSpPr/>
          <p:nvPr/>
        </p:nvSpPr>
        <p:spPr>
          <a:xfrm>
            <a:off x="457200" y="1417320"/>
            <a:ext cx="4023360" cy="457200"/>
          </a:xfrm>
          <a:prstGeom prst="rect">
            <a:avLst/>
          </a:prstGeom>
          <a:solidFill>
            <a:srgbClr val="1E2761"/>
          </a:solidFill>
          <a:ln w="12700">
            <a:solidFill>
              <a:srgbClr val="1E2761"/>
            </a:solidFill>
            <a:prstDash val="solid"/>
          </a:ln>
        </p:spPr>
      </p:sp>
      <p:sp>
        <p:nvSpPr>
          <p:cNvPr id="6" name="Text 4"/>
          <p:cNvSpPr/>
          <p:nvPr/>
        </p:nvSpPr>
        <p:spPr>
          <a:xfrm>
            <a:off x="594360" y="1417320"/>
            <a:ext cx="3749040" cy="457200"/>
          </a:xfrm>
          <a:prstGeom prst="rect">
            <a:avLst/>
          </a:prstGeom>
          <a:noFill/>
          <a:ln/>
        </p:spPr>
        <p:txBody>
          <a:bodyPr wrap="square" lIns="0" tIns="0" rIns="0" bIns="0" rtlCol="0" anchor="ctr"/>
          <a:lstStyle/>
          <a:p>
            <a:pPr indent="0" marL="0">
              <a:buNone/>
            </a:pPr>
            <a:r>
              <a:rPr lang="en-US" sz="1400" b="1" dirty="0">
                <a:solidFill>
                  <a:srgbClr val="69D3A7"/>
                </a:solidFill>
                <a:latin typeface="Consolas" pitchFamily="34" charset="0"/>
                <a:ea typeface="Consolas" pitchFamily="34" charset="-122"/>
                <a:cs typeface="Consolas" pitchFamily="34" charset="-120"/>
              </a:rPr>
              <a:t>cy.request()</a:t>
            </a:r>
            <a:endParaRPr lang="en-US" sz="1400" dirty="0"/>
          </a:p>
        </p:txBody>
      </p:sp>
      <p:sp>
        <p:nvSpPr>
          <p:cNvPr id="7" name="Text 5"/>
          <p:cNvSpPr/>
          <p:nvPr/>
        </p:nvSpPr>
        <p:spPr>
          <a:xfrm>
            <a:off x="640080" y="1965960"/>
            <a:ext cx="3657600" cy="274320"/>
          </a:xfrm>
          <a:prstGeom prst="rect">
            <a:avLst/>
          </a:prstGeom>
          <a:noFill/>
          <a:ln/>
        </p:spPr>
        <p:txBody>
          <a:bodyPr wrap="square" lIns="0" tIns="0" rIns="0" bIns="0" rtlCol="0" anchor="ctr"/>
          <a:lstStyle/>
          <a:p>
            <a:pPr indent="0" marL="0">
              <a:buNone/>
            </a:pPr>
            <a:r>
              <a:rPr lang="en-US" sz="1100" b="1" spc="200" kern="0" dirty="0">
                <a:solidFill>
                  <a:srgbClr val="F5B700"/>
                </a:solidFill>
                <a:latin typeface="Calibri" pitchFamily="34" charset="0"/>
                <a:ea typeface="Calibri" pitchFamily="34" charset="-122"/>
                <a:cs typeface="Calibri" pitchFamily="34" charset="-120"/>
              </a:rPr>
              <a:t>Makes a real HTTP call</a:t>
            </a:r>
            <a:endParaRPr lang="en-US" sz="1100" dirty="0"/>
          </a:p>
        </p:txBody>
      </p:sp>
      <p:sp>
        <p:nvSpPr>
          <p:cNvPr id="8" name="Text 6"/>
          <p:cNvSpPr/>
          <p:nvPr/>
        </p:nvSpPr>
        <p:spPr>
          <a:xfrm>
            <a:off x="640080" y="2286000"/>
            <a:ext cx="3657600" cy="731520"/>
          </a:xfrm>
          <a:prstGeom prst="rect">
            <a:avLst/>
          </a:prstGeom>
          <a:noFill/>
          <a:ln/>
        </p:spPr>
        <p:txBody>
          <a:bodyPr wrap="square" lIns="0" tIns="0" rIns="0" bIns="0" rtlCol="0" anchor="t"/>
          <a:lstStyle/>
          <a:p>
            <a:pPr indent="0" marL="0">
              <a:buNone/>
            </a:pPr>
            <a:r>
              <a:rPr lang="en-US" sz="1100" dirty="0">
                <a:solidFill>
                  <a:srgbClr val="1A1A2E"/>
                </a:solidFill>
                <a:latin typeface="Calibri" pitchFamily="34" charset="0"/>
                <a:ea typeface="Calibri" pitchFamily="34" charset="-122"/>
                <a:cs typeface="Calibri" pitchFamily="34" charset="-120"/>
              </a:rPr>
              <a:t>Bypasses the browser. Talks directly to the API. The response comes back to your test.</a:t>
            </a:r>
            <a:endParaRPr lang="en-US" sz="1100" dirty="0"/>
          </a:p>
        </p:txBody>
      </p:sp>
      <p:sp>
        <p:nvSpPr>
          <p:cNvPr id="9" name="Text 7"/>
          <p:cNvSpPr/>
          <p:nvPr/>
        </p:nvSpPr>
        <p:spPr>
          <a:xfrm>
            <a:off x="640080" y="3108960"/>
            <a:ext cx="3657600" cy="274320"/>
          </a:xfrm>
          <a:prstGeom prst="rect">
            <a:avLst/>
          </a:prstGeom>
          <a:noFill/>
          <a:ln/>
        </p:spPr>
        <p:txBody>
          <a:bodyPr wrap="square" lIns="0" tIns="0" rIns="0" bIns="0" rtlCol="0" anchor="ctr"/>
          <a:lstStyle/>
          <a:p>
            <a:pPr indent="0" marL="0">
              <a:buNone/>
            </a:pPr>
            <a:r>
              <a:rPr lang="en-US" sz="1100" b="1" spc="200" kern="0" dirty="0">
                <a:solidFill>
                  <a:srgbClr val="F5B700"/>
                </a:solidFill>
                <a:latin typeface="Calibri" pitchFamily="34" charset="0"/>
                <a:ea typeface="Calibri" pitchFamily="34" charset="-122"/>
                <a:cs typeface="Calibri" pitchFamily="34" charset="-120"/>
              </a:rPr>
              <a:t>Use it for</a:t>
            </a:r>
            <a:endParaRPr lang="en-US" sz="1100" dirty="0"/>
          </a:p>
        </p:txBody>
      </p:sp>
      <p:sp>
        <p:nvSpPr>
          <p:cNvPr id="10" name="Text 8"/>
          <p:cNvSpPr/>
          <p:nvPr/>
        </p:nvSpPr>
        <p:spPr>
          <a:xfrm>
            <a:off x="777240" y="3429000"/>
            <a:ext cx="3657600" cy="109728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Pure API testing</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Seeding data before a UI test</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Logging in via API for speed</a:t>
            </a:r>
            <a:endParaRPr lang="en-US" sz="1050" dirty="0"/>
          </a:p>
        </p:txBody>
      </p:sp>
      <p:sp>
        <p:nvSpPr>
          <p:cNvPr id="11" name="Shape 9"/>
          <p:cNvSpPr/>
          <p:nvPr/>
        </p:nvSpPr>
        <p:spPr>
          <a:xfrm>
            <a:off x="4663440" y="1417320"/>
            <a:ext cx="4023360" cy="3108960"/>
          </a:xfrm>
          <a:prstGeom prst="rect">
            <a:avLst/>
          </a:prstGeom>
          <a:solidFill>
            <a:srgbClr val="F7F9FC"/>
          </a:solidFill>
          <a:ln w="12700">
            <a:solidFill>
              <a:srgbClr val="F7F9FC"/>
            </a:solidFill>
            <a:prstDash val="solid"/>
          </a:ln>
        </p:spPr>
      </p:sp>
      <p:sp>
        <p:nvSpPr>
          <p:cNvPr id="12" name="Shape 10"/>
          <p:cNvSpPr/>
          <p:nvPr/>
        </p:nvSpPr>
        <p:spPr>
          <a:xfrm>
            <a:off x="4663440" y="1417320"/>
            <a:ext cx="4023360" cy="457200"/>
          </a:xfrm>
          <a:prstGeom prst="rect">
            <a:avLst/>
          </a:prstGeom>
          <a:solidFill>
            <a:srgbClr val="1E2761"/>
          </a:solidFill>
          <a:ln w="12700">
            <a:solidFill>
              <a:srgbClr val="1E2761"/>
            </a:solidFill>
            <a:prstDash val="solid"/>
          </a:ln>
        </p:spPr>
      </p:sp>
      <p:sp>
        <p:nvSpPr>
          <p:cNvPr id="13" name="Text 11"/>
          <p:cNvSpPr/>
          <p:nvPr/>
        </p:nvSpPr>
        <p:spPr>
          <a:xfrm>
            <a:off x="4800600" y="1417320"/>
            <a:ext cx="3749040" cy="457200"/>
          </a:xfrm>
          <a:prstGeom prst="rect">
            <a:avLst/>
          </a:prstGeom>
          <a:noFill/>
          <a:ln/>
        </p:spPr>
        <p:txBody>
          <a:bodyPr wrap="square" lIns="0" tIns="0" rIns="0" bIns="0" rtlCol="0" anchor="ctr"/>
          <a:lstStyle/>
          <a:p>
            <a:pPr indent="0" marL="0">
              <a:buNone/>
            </a:pPr>
            <a:r>
              <a:rPr lang="en-US" sz="1400" b="1" dirty="0">
                <a:solidFill>
                  <a:srgbClr val="69D3A7"/>
                </a:solidFill>
                <a:latin typeface="Consolas" pitchFamily="34" charset="0"/>
                <a:ea typeface="Consolas" pitchFamily="34" charset="-122"/>
                <a:cs typeface="Consolas" pitchFamily="34" charset="-120"/>
              </a:rPr>
              <a:t>cy.intercept()</a:t>
            </a:r>
            <a:endParaRPr lang="en-US" sz="1400" dirty="0"/>
          </a:p>
        </p:txBody>
      </p:sp>
      <p:sp>
        <p:nvSpPr>
          <p:cNvPr id="14" name="Text 12"/>
          <p:cNvSpPr/>
          <p:nvPr/>
        </p:nvSpPr>
        <p:spPr>
          <a:xfrm>
            <a:off x="4846320" y="1965960"/>
            <a:ext cx="3657600" cy="274320"/>
          </a:xfrm>
          <a:prstGeom prst="rect">
            <a:avLst/>
          </a:prstGeom>
          <a:noFill/>
          <a:ln/>
        </p:spPr>
        <p:txBody>
          <a:bodyPr wrap="square" lIns="0" tIns="0" rIns="0" bIns="0" rtlCol="0" anchor="ctr"/>
          <a:lstStyle/>
          <a:p>
            <a:pPr indent="0" marL="0">
              <a:buNone/>
            </a:pPr>
            <a:r>
              <a:rPr lang="en-US" sz="1100" b="1" spc="200" kern="0" dirty="0">
                <a:solidFill>
                  <a:srgbClr val="F5B700"/>
                </a:solidFill>
                <a:latin typeface="Calibri" pitchFamily="34" charset="0"/>
                <a:ea typeface="Calibri" pitchFamily="34" charset="-122"/>
                <a:cs typeface="Calibri" pitchFamily="34" charset="-120"/>
              </a:rPr>
              <a:t>Watches the browser's network</a:t>
            </a:r>
            <a:endParaRPr lang="en-US" sz="1100" dirty="0"/>
          </a:p>
        </p:txBody>
      </p:sp>
      <p:sp>
        <p:nvSpPr>
          <p:cNvPr id="15" name="Text 13"/>
          <p:cNvSpPr/>
          <p:nvPr/>
        </p:nvSpPr>
        <p:spPr>
          <a:xfrm>
            <a:off x="4846320" y="2286000"/>
            <a:ext cx="3657600" cy="731520"/>
          </a:xfrm>
          <a:prstGeom prst="rect">
            <a:avLst/>
          </a:prstGeom>
          <a:noFill/>
          <a:ln/>
        </p:spPr>
        <p:txBody>
          <a:bodyPr wrap="square" lIns="0" tIns="0" rIns="0" bIns="0" rtlCol="0" anchor="t"/>
          <a:lstStyle/>
          <a:p>
            <a:pPr indent="0" marL="0">
              <a:buNone/>
            </a:pPr>
            <a:r>
              <a:rPr lang="en-US" sz="1100" dirty="0">
                <a:solidFill>
                  <a:srgbClr val="1A1A2E"/>
                </a:solidFill>
                <a:latin typeface="Calibri" pitchFamily="34" charset="0"/>
                <a:ea typeface="Calibri" pitchFamily="34" charset="-122"/>
                <a:cs typeface="Calibri" pitchFamily="34" charset="-120"/>
              </a:rPr>
              <a:t>Sits between the app and the API. Watches what the app sends, can modify or replace the response.</a:t>
            </a:r>
            <a:endParaRPr lang="en-US" sz="1100" dirty="0"/>
          </a:p>
        </p:txBody>
      </p:sp>
      <p:sp>
        <p:nvSpPr>
          <p:cNvPr id="16" name="Text 14"/>
          <p:cNvSpPr/>
          <p:nvPr/>
        </p:nvSpPr>
        <p:spPr>
          <a:xfrm>
            <a:off x="4846320" y="3108960"/>
            <a:ext cx="3657600" cy="274320"/>
          </a:xfrm>
          <a:prstGeom prst="rect">
            <a:avLst/>
          </a:prstGeom>
          <a:noFill/>
          <a:ln/>
        </p:spPr>
        <p:txBody>
          <a:bodyPr wrap="square" lIns="0" tIns="0" rIns="0" bIns="0" rtlCol="0" anchor="ctr"/>
          <a:lstStyle/>
          <a:p>
            <a:pPr indent="0" marL="0">
              <a:buNone/>
            </a:pPr>
            <a:r>
              <a:rPr lang="en-US" sz="1100" b="1" spc="200" kern="0" dirty="0">
                <a:solidFill>
                  <a:srgbClr val="F5B700"/>
                </a:solidFill>
                <a:latin typeface="Calibri" pitchFamily="34" charset="0"/>
                <a:ea typeface="Calibri" pitchFamily="34" charset="-122"/>
                <a:cs typeface="Calibri" pitchFamily="34" charset="-120"/>
              </a:rPr>
              <a:t>Use it for</a:t>
            </a:r>
            <a:endParaRPr lang="en-US" sz="1100" dirty="0"/>
          </a:p>
        </p:txBody>
      </p:sp>
      <p:sp>
        <p:nvSpPr>
          <p:cNvPr id="17" name="Text 15"/>
          <p:cNvSpPr/>
          <p:nvPr/>
        </p:nvSpPr>
        <p:spPr>
          <a:xfrm>
            <a:off x="4983480" y="3429000"/>
            <a:ext cx="3657600" cy="109728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Waiting on real network calls</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Stubbing the backend with fixtures</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Forcing error states in the UI</a:t>
            </a:r>
            <a:endParaRPr lang="en-US" sz="1050" dirty="0"/>
          </a:p>
        </p:txBody>
      </p:sp>
      <p:sp>
        <p:nvSpPr>
          <p:cNvPr id="18" name="Text 16"/>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19" name="Text 17"/>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Mocking API Responses (Stubbing)</a:t>
            </a:r>
            <a:endParaRPr lang="en-US" sz="28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200" i="1" dirty="0">
                <a:solidFill>
                  <a:srgbClr val="5B6582"/>
                </a:solidFill>
                <a:latin typeface="Calibri" pitchFamily="34" charset="0"/>
                <a:ea typeface="Calibri" pitchFamily="34" charset="-122"/>
                <a:cs typeface="Calibri" pitchFamily="34" charset="-120"/>
              </a:rPr>
              <a:t>Replace real responses with predictable ones — test states the real backend rarely produces</a:t>
            </a:r>
            <a:endParaRPr lang="en-US" sz="1200" dirty="0"/>
          </a:p>
        </p:txBody>
      </p:sp>
      <p:sp>
        <p:nvSpPr>
          <p:cNvPr id="4" name="Shape 2"/>
          <p:cNvSpPr/>
          <p:nvPr/>
        </p:nvSpPr>
        <p:spPr>
          <a:xfrm>
            <a:off x="457200" y="1417320"/>
            <a:ext cx="4023360" cy="3108960"/>
          </a:xfrm>
          <a:prstGeom prst="rect">
            <a:avLst/>
          </a:prstGeom>
          <a:solidFill>
            <a:srgbClr val="F7F9FC"/>
          </a:solidFill>
          <a:ln w="12700">
            <a:solidFill>
              <a:srgbClr val="F7F9FC"/>
            </a:solidFill>
            <a:prstDash val="solid"/>
          </a:ln>
        </p:spPr>
      </p:sp>
      <p:sp>
        <p:nvSpPr>
          <p:cNvPr id="5" name="Text 3"/>
          <p:cNvSpPr/>
          <p:nvPr/>
        </p:nvSpPr>
        <p:spPr>
          <a:xfrm>
            <a:off x="640080" y="1554480"/>
            <a:ext cx="3657600" cy="274320"/>
          </a:xfrm>
          <a:prstGeom prst="rect">
            <a:avLst/>
          </a:prstGeom>
          <a:noFill/>
          <a:ln/>
        </p:spPr>
        <p:txBody>
          <a:bodyPr wrap="square" lIns="0" tIns="0" rIns="0" bIns="0" rtlCol="0" anchor="ctr"/>
          <a:lstStyle/>
          <a:p>
            <a:pPr indent="0" marL="0">
              <a:buNone/>
            </a:pPr>
            <a:r>
              <a:rPr lang="en-US" sz="1200" b="1" spc="300" kern="0" dirty="0">
                <a:solidFill>
                  <a:srgbClr val="69D3A7"/>
                </a:solidFill>
                <a:latin typeface="Calibri" pitchFamily="34" charset="0"/>
                <a:ea typeface="Calibri" pitchFamily="34" charset="-122"/>
                <a:cs typeface="Calibri" pitchFamily="34" charset="-120"/>
              </a:rPr>
              <a:t>When stubbing wins</a:t>
            </a:r>
            <a:endParaRPr lang="en-US" sz="1200" dirty="0"/>
          </a:p>
        </p:txBody>
      </p:sp>
      <p:sp>
        <p:nvSpPr>
          <p:cNvPr id="6" name="Shape 4"/>
          <p:cNvSpPr/>
          <p:nvPr/>
        </p:nvSpPr>
        <p:spPr>
          <a:xfrm>
            <a:off x="640080" y="1920240"/>
            <a:ext cx="3657600" cy="457200"/>
          </a:xfrm>
          <a:prstGeom prst="rect">
            <a:avLst/>
          </a:prstGeom>
          <a:solidFill>
            <a:srgbClr val="FFFFFF"/>
          </a:solidFill>
          <a:ln w="12700">
            <a:solidFill>
              <a:srgbClr val="FFFFFF"/>
            </a:solidFill>
            <a:prstDash val="solid"/>
          </a:ln>
        </p:spPr>
      </p:sp>
      <p:sp>
        <p:nvSpPr>
          <p:cNvPr id="7" name="Text 5"/>
          <p:cNvSpPr/>
          <p:nvPr/>
        </p:nvSpPr>
        <p:spPr>
          <a:xfrm>
            <a:off x="731520" y="1947672"/>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Empty states</a:t>
            </a:r>
            <a:endParaRPr lang="en-US" sz="1100" dirty="0"/>
          </a:p>
        </p:txBody>
      </p:sp>
      <p:sp>
        <p:nvSpPr>
          <p:cNvPr id="8" name="Text 6"/>
          <p:cNvSpPr/>
          <p:nvPr/>
        </p:nvSpPr>
        <p:spPr>
          <a:xfrm>
            <a:off x="2057400" y="1947672"/>
            <a:ext cx="2194560" cy="402336"/>
          </a:xfrm>
          <a:prstGeom prst="rect">
            <a:avLst/>
          </a:prstGeom>
          <a:noFill/>
          <a:ln/>
        </p:spPr>
        <p:txBody>
          <a:bodyPr wrap="square" lIns="0" tIns="0" rIns="0" bIns="0" rtlCol="0" anchor="ctr"/>
          <a:lstStyle/>
          <a:p>
            <a:pPr indent="0" marL="0">
              <a:buNone/>
            </a:pPr>
            <a:r>
              <a:rPr lang="en-US" sz="950" i="1" dirty="0">
                <a:solidFill>
                  <a:srgbClr val="1A1A2E"/>
                </a:solidFill>
                <a:latin typeface="Calibri" pitchFamily="34" charset="0"/>
                <a:ea typeface="Calibri" pitchFamily="34" charset="-122"/>
                <a:cs typeface="Calibri" pitchFamily="34" charset="-120"/>
              </a:rPr>
              <a:t>"No orders yet" — hard to set up in a real DB</a:t>
            </a:r>
            <a:endParaRPr lang="en-US" sz="950" dirty="0"/>
          </a:p>
        </p:txBody>
      </p:sp>
      <p:sp>
        <p:nvSpPr>
          <p:cNvPr id="9" name="Shape 7"/>
          <p:cNvSpPr/>
          <p:nvPr/>
        </p:nvSpPr>
        <p:spPr>
          <a:xfrm>
            <a:off x="640080" y="2423160"/>
            <a:ext cx="3657600" cy="457200"/>
          </a:xfrm>
          <a:prstGeom prst="rect">
            <a:avLst/>
          </a:prstGeom>
          <a:solidFill>
            <a:srgbClr val="FFFFFF"/>
          </a:solidFill>
          <a:ln w="12700">
            <a:solidFill>
              <a:srgbClr val="FFFFFF"/>
            </a:solidFill>
            <a:prstDash val="solid"/>
          </a:ln>
        </p:spPr>
      </p:sp>
      <p:sp>
        <p:nvSpPr>
          <p:cNvPr id="10" name="Text 8"/>
          <p:cNvSpPr/>
          <p:nvPr/>
        </p:nvSpPr>
        <p:spPr>
          <a:xfrm>
            <a:off x="731520" y="2450592"/>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Error states</a:t>
            </a:r>
            <a:endParaRPr lang="en-US" sz="1100" dirty="0"/>
          </a:p>
        </p:txBody>
      </p:sp>
      <p:sp>
        <p:nvSpPr>
          <p:cNvPr id="11" name="Text 9"/>
          <p:cNvSpPr/>
          <p:nvPr/>
        </p:nvSpPr>
        <p:spPr>
          <a:xfrm>
            <a:off x="2057400" y="2450592"/>
            <a:ext cx="2194560" cy="402336"/>
          </a:xfrm>
          <a:prstGeom prst="rect">
            <a:avLst/>
          </a:prstGeom>
          <a:noFill/>
          <a:ln/>
        </p:spPr>
        <p:txBody>
          <a:bodyPr wrap="square" lIns="0" tIns="0" rIns="0" bIns="0" rtlCol="0" anchor="ctr"/>
          <a:lstStyle/>
          <a:p>
            <a:pPr indent="0" marL="0">
              <a:buNone/>
            </a:pPr>
            <a:r>
              <a:rPr lang="en-US" sz="950" i="1" dirty="0">
                <a:solidFill>
                  <a:srgbClr val="1A1A2E"/>
                </a:solidFill>
                <a:latin typeface="Calibri" pitchFamily="34" charset="0"/>
                <a:ea typeface="Calibri" pitchFamily="34" charset="-122"/>
                <a:cs typeface="Calibri" pitchFamily="34" charset="-120"/>
              </a:rPr>
              <a:t>500 errors, network failures, timeouts</a:t>
            </a:r>
            <a:endParaRPr lang="en-US" sz="950" dirty="0"/>
          </a:p>
        </p:txBody>
      </p:sp>
      <p:sp>
        <p:nvSpPr>
          <p:cNvPr id="12" name="Shape 10"/>
          <p:cNvSpPr/>
          <p:nvPr/>
        </p:nvSpPr>
        <p:spPr>
          <a:xfrm>
            <a:off x="640080" y="2926080"/>
            <a:ext cx="3657600" cy="457200"/>
          </a:xfrm>
          <a:prstGeom prst="rect">
            <a:avLst/>
          </a:prstGeom>
          <a:solidFill>
            <a:srgbClr val="FFFFFF"/>
          </a:solidFill>
          <a:ln w="12700">
            <a:solidFill>
              <a:srgbClr val="FFFFFF"/>
            </a:solidFill>
            <a:prstDash val="solid"/>
          </a:ln>
        </p:spPr>
      </p:sp>
      <p:sp>
        <p:nvSpPr>
          <p:cNvPr id="13" name="Text 11"/>
          <p:cNvSpPr/>
          <p:nvPr/>
        </p:nvSpPr>
        <p:spPr>
          <a:xfrm>
            <a:off x="731520" y="2953512"/>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Edge data</a:t>
            </a:r>
            <a:endParaRPr lang="en-US" sz="1100" dirty="0"/>
          </a:p>
        </p:txBody>
      </p:sp>
      <p:sp>
        <p:nvSpPr>
          <p:cNvPr id="14" name="Text 12"/>
          <p:cNvSpPr/>
          <p:nvPr/>
        </p:nvSpPr>
        <p:spPr>
          <a:xfrm>
            <a:off x="2057400" y="2953512"/>
            <a:ext cx="2194560" cy="402336"/>
          </a:xfrm>
          <a:prstGeom prst="rect">
            <a:avLst/>
          </a:prstGeom>
          <a:noFill/>
          <a:ln/>
        </p:spPr>
        <p:txBody>
          <a:bodyPr wrap="square" lIns="0" tIns="0" rIns="0" bIns="0" rtlCol="0" anchor="ctr"/>
          <a:lstStyle/>
          <a:p>
            <a:pPr indent="0" marL="0">
              <a:buNone/>
            </a:pPr>
            <a:r>
              <a:rPr lang="en-US" sz="950" i="1" dirty="0">
                <a:solidFill>
                  <a:srgbClr val="1A1A2E"/>
                </a:solidFill>
                <a:latin typeface="Calibri" pitchFamily="34" charset="0"/>
                <a:ea typeface="Calibri" pitchFamily="34" charset="-122"/>
                <a:cs typeface="Calibri" pitchFamily="34" charset="-120"/>
              </a:rPr>
              <a:t>1000-row pagination, special characters</a:t>
            </a:r>
            <a:endParaRPr lang="en-US" sz="950" dirty="0"/>
          </a:p>
        </p:txBody>
      </p:sp>
      <p:sp>
        <p:nvSpPr>
          <p:cNvPr id="15" name="Shape 13"/>
          <p:cNvSpPr/>
          <p:nvPr/>
        </p:nvSpPr>
        <p:spPr>
          <a:xfrm>
            <a:off x="640080" y="3429000"/>
            <a:ext cx="3657600" cy="457200"/>
          </a:xfrm>
          <a:prstGeom prst="rect">
            <a:avLst/>
          </a:prstGeom>
          <a:solidFill>
            <a:srgbClr val="FFFFFF"/>
          </a:solidFill>
          <a:ln w="12700">
            <a:solidFill>
              <a:srgbClr val="FFFFFF"/>
            </a:solidFill>
            <a:prstDash val="solid"/>
          </a:ln>
        </p:spPr>
      </p:sp>
      <p:sp>
        <p:nvSpPr>
          <p:cNvPr id="16" name="Text 14"/>
          <p:cNvSpPr/>
          <p:nvPr/>
        </p:nvSpPr>
        <p:spPr>
          <a:xfrm>
            <a:off x="731520" y="3456432"/>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Slow APIs</a:t>
            </a:r>
            <a:endParaRPr lang="en-US" sz="1100" dirty="0"/>
          </a:p>
        </p:txBody>
      </p:sp>
      <p:sp>
        <p:nvSpPr>
          <p:cNvPr id="17" name="Text 15"/>
          <p:cNvSpPr/>
          <p:nvPr/>
        </p:nvSpPr>
        <p:spPr>
          <a:xfrm>
            <a:off x="2057400" y="3456432"/>
            <a:ext cx="2194560" cy="402336"/>
          </a:xfrm>
          <a:prstGeom prst="rect">
            <a:avLst/>
          </a:prstGeom>
          <a:noFill/>
          <a:ln/>
        </p:spPr>
        <p:txBody>
          <a:bodyPr wrap="square" lIns="0" tIns="0" rIns="0" bIns="0" rtlCol="0" anchor="ctr"/>
          <a:lstStyle/>
          <a:p>
            <a:pPr indent="0" marL="0">
              <a:buNone/>
            </a:pPr>
            <a:r>
              <a:rPr lang="en-US" sz="950" i="1" dirty="0">
                <a:solidFill>
                  <a:srgbClr val="1A1A2E"/>
                </a:solidFill>
                <a:latin typeface="Calibri" pitchFamily="34" charset="0"/>
                <a:ea typeface="Calibri" pitchFamily="34" charset="-122"/>
                <a:cs typeface="Calibri" pitchFamily="34" charset="-120"/>
              </a:rPr>
              <a:t>Third-party services that delay your tests</a:t>
            </a:r>
            <a:endParaRPr lang="en-US" sz="950" dirty="0"/>
          </a:p>
        </p:txBody>
      </p:sp>
      <p:sp>
        <p:nvSpPr>
          <p:cNvPr id="18" name="Shape 16"/>
          <p:cNvSpPr/>
          <p:nvPr/>
        </p:nvSpPr>
        <p:spPr>
          <a:xfrm>
            <a:off x="640080" y="3931920"/>
            <a:ext cx="3657600" cy="457200"/>
          </a:xfrm>
          <a:prstGeom prst="rect">
            <a:avLst/>
          </a:prstGeom>
          <a:solidFill>
            <a:srgbClr val="FFFFFF"/>
          </a:solidFill>
          <a:ln w="12700">
            <a:solidFill>
              <a:srgbClr val="FFFFFF"/>
            </a:solidFill>
            <a:prstDash val="solid"/>
          </a:ln>
        </p:spPr>
      </p:sp>
      <p:sp>
        <p:nvSpPr>
          <p:cNvPr id="19" name="Text 17"/>
          <p:cNvSpPr/>
          <p:nvPr/>
        </p:nvSpPr>
        <p:spPr>
          <a:xfrm>
            <a:off x="731520" y="3959352"/>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Pre-release</a:t>
            </a:r>
            <a:endParaRPr lang="en-US" sz="1100" dirty="0"/>
          </a:p>
        </p:txBody>
      </p:sp>
      <p:sp>
        <p:nvSpPr>
          <p:cNvPr id="20" name="Text 18"/>
          <p:cNvSpPr/>
          <p:nvPr/>
        </p:nvSpPr>
        <p:spPr>
          <a:xfrm>
            <a:off x="2057400" y="3959352"/>
            <a:ext cx="2194560" cy="402336"/>
          </a:xfrm>
          <a:prstGeom prst="rect">
            <a:avLst/>
          </a:prstGeom>
          <a:noFill/>
          <a:ln/>
        </p:spPr>
        <p:txBody>
          <a:bodyPr wrap="square" lIns="0" tIns="0" rIns="0" bIns="0" rtlCol="0" anchor="ctr"/>
          <a:lstStyle/>
          <a:p>
            <a:pPr indent="0" marL="0">
              <a:buNone/>
            </a:pPr>
            <a:r>
              <a:rPr lang="en-US" sz="950" i="1" dirty="0">
                <a:solidFill>
                  <a:srgbClr val="1A1A2E"/>
                </a:solidFill>
                <a:latin typeface="Calibri" pitchFamily="34" charset="0"/>
                <a:ea typeface="Calibri" pitchFamily="34" charset="-122"/>
                <a:cs typeface="Calibri" pitchFamily="34" charset="-120"/>
              </a:rPr>
              <a:t>API still in development, contract is known</a:t>
            </a:r>
            <a:endParaRPr lang="en-US" sz="950" dirty="0"/>
          </a:p>
        </p:txBody>
      </p:sp>
      <p:sp>
        <p:nvSpPr>
          <p:cNvPr id="21" name="Text 19"/>
          <p:cNvSpPr/>
          <p:nvPr/>
        </p:nvSpPr>
        <p:spPr>
          <a:xfrm>
            <a:off x="4663440" y="1417320"/>
            <a:ext cx="4023360" cy="274320"/>
          </a:xfrm>
          <a:prstGeom prst="rect">
            <a:avLst/>
          </a:prstGeom>
          <a:noFill/>
          <a:ln/>
        </p:spPr>
        <p:txBody>
          <a:bodyPr wrap="square" lIns="0" tIns="0" rIns="0" bIns="0" rtlCol="0" anchor="ctr"/>
          <a:lstStyle/>
          <a:p>
            <a:pPr indent="0" marL="0">
              <a:buNone/>
            </a:pPr>
            <a:r>
              <a:rPr lang="en-US" sz="1200" b="1" spc="300" kern="0" dirty="0">
                <a:solidFill>
                  <a:srgbClr val="69D3A7"/>
                </a:solidFill>
                <a:latin typeface="Calibri" pitchFamily="34" charset="0"/>
                <a:ea typeface="Calibri" pitchFamily="34" charset="-122"/>
                <a:cs typeface="Calibri" pitchFamily="34" charset="-120"/>
              </a:rPr>
              <a:t>Three stub patterns</a:t>
            </a:r>
            <a:endParaRPr lang="en-US" sz="1200" dirty="0"/>
          </a:p>
        </p:txBody>
      </p:sp>
      <p:sp>
        <p:nvSpPr>
          <p:cNvPr id="22" name="Shape 20"/>
          <p:cNvSpPr/>
          <p:nvPr/>
        </p:nvSpPr>
        <p:spPr>
          <a:xfrm>
            <a:off x="4663440" y="1737360"/>
            <a:ext cx="4023360" cy="2788920"/>
          </a:xfrm>
          <a:prstGeom prst="rect">
            <a:avLst/>
          </a:prstGeom>
          <a:solidFill>
            <a:srgbClr val="0F1A3A"/>
          </a:solidFill>
          <a:ln w="12700">
            <a:solidFill>
              <a:srgbClr val="0F1A3A"/>
            </a:solidFill>
            <a:prstDash val="solid"/>
          </a:ln>
        </p:spPr>
      </p:sp>
      <p:sp>
        <p:nvSpPr>
          <p:cNvPr id="23" name="Text 21"/>
          <p:cNvSpPr/>
          <p:nvPr/>
        </p:nvSpPr>
        <p:spPr>
          <a:xfrm>
            <a:off x="4846320" y="1828800"/>
            <a:ext cx="3749040" cy="2697480"/>
          </a:xfrm>
          <a:prstGeom prst="rect">
            <a:avLst/>
          </a:prstGeom>
          <a:noFill/>
          <a:ln/>
        </p:spPr>
        <p:txBody>
          <a:bodyPr wrap="square" lIns="0" tIns="0" rIns="0" bIns="0" rtlCol="0" anchor="t"/>
          <a:lstStyle/>
          <a:p>
            <a:pPr indent="0" marL="0">
              <a:spcAft>
                <a:spcPts val="100"/>
              </a:spcAft>
              <a:buNone/>
            </a:pPr>
            <a:r>
              <a:rPr lang="en-US" sz="1000" dirty="0">
                <a:solidFill>
                  <a:srgbClr val="78909C"/>
                </a:solidFill>
                <a:latin typeface="Consolas" pitchFamily="34" charset="0"/>
                <a:ea typeface="Consolas" pitchFamily="34" charset="-122"/>
                <a:cs typeface="Consolas" pitchFamily="34" charset="-120"/>
              </a:rPr>
              <a:t>// 1. inline JSON</a:t>
            </a:r>
            <a:endParaRPr lang="en-US" sz="1000" dirty="0"/>
          </a:p>
          <a:p>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cy.intercept(</a:t>
            </a:r>
            <a:pPr indent="0" marL="0">
              <a:spcAft>
                <a:spcPts val="100"/>
              </a:spcAft>
              <a:buNone/>
            </a:pPr>
            <a:r>
              <a:rPr lang="en-US" sz="1000" dirty="0">
                <a:solidFill>
                  <a:srgbClr val="FFD54F"/>
                </a:solidFill>
                <a:latin typeface="Consolas" pitchFamily="34" charset="0"/>
                <a:ea typeface="Consolas" pitchFamily="34" charset="-122"/>
                <a:cs typeface="Consolas" pitchFamily="34" charset="-120"/>
              </a:rPr>
              <a:t>"/api/n"</a:t>
            </a:r>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81D4FA"/>
                </a:solidFill>
                <a:latin typeface="Consolas" pitchFamily="34" charset="0"/>
                <a:ea typeface="Consolas" pitchFamily="34" charset="-122"/>
                <a:cs typeface="Consolas" pitchFamily="34" charset="-120"/>
              </a:rPr>
              <a:t>  count: </a:t>
            </a:r>
            <a:pPr indent="0" marL="0">
              <a:spcAft>
                <a:spcPts val="100"/>
              </a:spcAft>
              <a:buNone/>
            </a:pPr>
            <a:r>
              <a:rPr lang="en-US" sz="1000" dirty="0">
                <a:solidFill>
                  <a:srgbClr val="F06292"/>
                </a:solidFill>
                <a:latin typeface="Consolas" pitchFamily="34" charset="0"/>
                <a:ea typeface="Consolas" pitchFamily="34" charset="-122"/>
                <a:cs typeface="Consolas" pitchFamily="34" charset="-120"/>
              </a:rPr>
              <a:t>3</a:t>
            </a:r>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000000"/>
                </a:solidFill>
              </a:rPr>
              <a:t> </a:t>
            </a:r>
            <a:endParaRPr lang="en-US" sz="1000" dirty="0"/>
          </a:p>
          <a:p>
            <a:pPr indent="0" marL="0">
              <a:spcAft>
                <a:spcPts val="100"/>
              </a:spcAft>
              <a:buNone/>
            </a:pPr>
            <a:r>
              <a:rPr lang="en-US" sz="1000" dirty="0">
                <a:solidFill>
                  <a:srgbClr val="78909C"/>
                </a:solidFill>
                <a:latin typeface="Consolas" pitchFamily="34" charset="0"/>
                <a:ea typeface="Consolas" pitchFamily="34" charset="-122"/>
                <a:cs typeface="Consolas" pitchFamily="34" charset="-120"/>
              </a:rPr>
              <a:t>// 2. fixture file</a:t>
            </a:r>
            <a:endParaRPr lang="en-US" sz="1000" dirty="0"/>
          </a:p>
          <a:p>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cy.intercept(</a:t>
            </a:r>
            <a:pPr indent="0" marL="0">
              <a:spcAft>
                <a:spcPts val="100"/>
              </a:spcAft>
              <a:buNone/>
            </a:pPr>
            <a:r>
              <a:rPr lang="en-US" sz="1000" dirty="0">
                <a:solidFill>
                  <a:srgbClr val="FFD54F"/>
                </a:solidFill>
                <a:latin typeface="Consolas" pitchFamily="34" charset="0"/>
                <a:ea typeface="Consolas" pitchFamily="34" charset="-122"/>
                <a:cs typeface="Consolas" pitchFamily="34" charset="-120"/>
              </a:rPr>
              <a:t>"/api/x"</a:t>
            </a:r>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81D4FA"/>
                </a:solidFill>
                <a:latin typeface="Consolas" pitchFamily="34" charset="0"/>
                <a:ea typeface="Consolas" pitchFamily="34" charset="-122"/>
                <a:cs typeface="Consolas" pitchFamily="34" charset="-120"/>
              </a:rPr>
              <a:t>  fixture: </a:t>
            </a:r>
            <a:pPr indent="0" marL="0">
              <a:spcAft>
                <a:spcPts val="100"/>
              </a:spcAft>
              <a:buNone/>
            </a:pPr>
            <a:r>
              <a:rPr lang="en-US" sz="1000" dirty="0">
                <a:solidFill>
                  <a:srgbClr val="FFD54F"/>
                </a:solidFill>
                <a:latin typeface="Consolas" pitchFamily="34" charset="0"/>
                <a:ea typeface="Consolas" pitchFamily="34" charset="-122"/>
                <a:cs typeface="Consolas" pitchFamily="34" charset="-120"/>
              </a:rPr>
              <a:t>"x.json"</a:t>
            </a:r>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000000"/>
                </a:solidFill>
              </a:rPr>
              <a:t> </a:t>
            </a:r>
            <a:endParaRPr lang="en-US" sz="1000" dirty="0"/>
          </a:p>
          <a:p>
            <a:pPr indent="0" marL="0">
              <a:spcAft>
                <a:spcPts val="100"/>
              </a:spcAft>
              <a:buNone/>
            </a:pPr>
            <a:r>
              <a:rPr lang="en-US" sz="1000" dirty="0">
                <a:solidFill>
                  <a:srgbClr val="78909C"/>
                </a:solidFill>
                <a:latin typeface="Consolas" pitchFamily="34" charset="0"/>
                <a:ea typeface="Consolas" pitchFamily="34" charset="-122"/>
                <a:cs typeface="Consolas" pitchFamily="34" charset="-120"/>
              </a:rPr>
              <a:t>// 3. status + body</a:t>
            </a:r>
            <a:endParaRPr lang="en-US" sz="1000" dirty="0"/>
          </a:p>
          <a:p>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cy.intercept(</a:t>
            </a:r>
            <a:pPr indent="0" marL="0">
              <a:spcAft>
                <a:spcPts val="100"/>
              </a:spcAft>
              <a:buNone/>
            </a:pPr>
            <a:r>
              <a:rPr lang="en-US" sz="1000" dirty="0">
                <a:solidFill>
                  <a:srgbClr val="FFD54F"/>
                </a:solidFill>
                <a:latin typeface="Consolas" pitchFamily="34" charset="0"/>
                <a:ea typeface="Consolas" pitchFamily="34" charset="-122"/>
                <a:cs typeface="Consolas" pitchFamily="34" charset="-120"/>
              </a:rPr>
              <a:t>"/api/y"</a:t>
            </a:r>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81D4FA"/>
                </a:solidFill>
                <a:latin typeface="Consolas" pitchFamily="34" charset="0"/>
                <a:ea typeface="Consolas" pitchFamily="34" charset="-122"/>
                <a:cs typeface="Consolas" pitchFamily="34" charset="-120"/>
              </a:rPr>
              <a:t>  statusCode: </a:t>
            </a:r>
            <a:pPr indent="0" marL="0">
              <a:spcAft>
                <a:spcPts val="100"/>
              </a:spcAft>
              <a:buNone/>
            </a:pPr>
            <a:r>
              <a:rPr lang="en-US" sz="1000" dirty="0">
                <a:solidFill>
                  <a:srgbClr val="F06292"/>
                </a:solidFill>
                <a:latin typeface="Consolas" pitchFamily="34" charset="0"/>
                <a:ea typeface="Consolas" pitchFamily="34" charset="-122"/>
                <a:cs typeface="Consolas" pitchFamily="34" charset="-120"/>
              </a:rPr>
              <a:t>404</a:t>
            </a:r>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indent="0" marL="0">
              <a:spcAft>
                <a:spcPts val="100"/>
              </a:spcAft>
              <a:buNone/>
            </a:pPr>
            <a:r>
              <a:rPr lang="en-US" sz="1000" dirty="0">
                <a:solidFill>
                  <a:srgbClr val="81D4FA"/>
                </a:solidFill>
                <a:latin typeface="Consolas" pitchFamily="34" charset="0"/>
                <a:ea typeface="Consolas" pitchFamily="34" charset="-122"/>
                <a:cs typeface="Consolas" pitchFamily="34" charset="-120"/>
              </a:rPr>
              <a:t>  body: { error: </a:t>
            </a:r>
            <a:pPr indent="0" marL="0">
              <a:spcAft>
                <a:spcPts val="100"/>
              </a:spcAft>
              <a:buNone/>
            </a:pPr>
            <a:r>
              <a:rPr lang="en-US" sz="1000" dirty="0">
                <a:solidFill>
                  <a:srgbClr val="FFD54F"/>
                </a:solidFill>
                <a:latin typeface="Consolas" pitchFamily="34" charset="0"/>
                <a:ea typeface="Consolas" pitchFamily="34" charset="-122"/>
                <a:cs typeface="Consolas" pitchFamily="34" charset="-120"/>
              </a:rPr>
              <a:t>"Not found"</a:t>
            </a:r>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E2E8F0"/>
                </a:solidFill>
                <a:latin typeface="Consolas" pitchFamily="34" charset="0"/>
                <a:ea typeface="Consolas" pitchFamily="34" charset="-122"/>
                <a:cs typeface="Consolas" pitchFamily="34" charset="-120"/>
              </a:rPr>
              <a:t>});</a:t>
            </a:r>
            <a:endParaRPr lang="en-US" sz="1000" dirty="0"/>
          </a:p>
        </p:txBody>
      </p:sp>
      <p:sp>
        <p:nvSpPr>
          <p:cNvPr id="24" name="Text 22"/>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25" name="Text 23"/>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Validating API Responses</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Common assertion patterns — status, body fields, array length, schema shape</a:t>
            </a:r>
            <a:endParaRPr lang="en-US" sz="1300" dirty="0"/>
          </a:p>
        </p:txBody>
      </p:sp>
      <p:sp>
        <p:nvSpPr>
          <p:cNvPr id="4" name="Shape 2"/>
          <p:cNvSpPr/>
          <p:nvPr/>
        </p:nvSpPr>
        <p:spPr>
          <a:xfrm>
            <a:off x="457200" y="1371600"/>
            <a:ext cx="8229600" cy="365760"/>
          </a:xfrm>
          <a:prstGeom prst="rect">
            <a:avLst/>
          </a:prstGeom>
          <a:solidFill>
            <a:srgbClr val="1E2761"/>
          </a:solidFill>
          <a:ln w="12700">
            <a:solidFill>
              <a:srgbClr val="1E2761"/>
            </a:solidFill>
            <a:prstDash val="solid"/>
          </a:ln>
        </p:spPr>
      </p:sp>
      <p:sp>
        <p:nvSpPr>
          <p:cNvPr id="5" name="Text 3"/>
          <p:cNvSpPr/>
          <p:nvPr/>
        </p:nvSpPr>
        <p:spPr>
          <a:xfrm>
            <a:off x="594360" y="1371600"/>
            <a:ext cx="1828800" cy="365760"/>
          </a:xfrm>
          <a:prstGeom prst="rect">
            <a:avLst/>
          </a:prstGeom>
          <a:noFill/>
          <a:ln/>
        </p:spPr>
        <p:txBody>
          <a:bodyPr wrap="square" lIns="0" tIns="0" rIns="0" bIns="0" rtlCol="0" anchor="ctr"/>
          <a:lstStyle/>
          <a:p>
            <a:pPr indent="0" marL="0">
              <a:buNone/>
            </a:pPr>
            <a:r>
              <a:rPr lang="en-US" sz="1000" b="1" spc="300" kern="0" dirty="0">
                <a:solidFill>
                  <a:srgbClr val="69D3A7"/>
                </a:solidFill>
                <a:latin typeface="Calibri" pitchFamily="34" charset="0"/>
                <a:ea typeface="Calibri" pitchFamily="34" charset="-122"/>
                <a:cs typeface="Calibri" pitchFamily="34" charset="-120"/>
              </a:rPr>
              <a:t>CHECK</a:t>
            </a:r>
            <a:endParaRPr lang="en-US" sz="1000" dirty="0"/>
          </a:p>
        </p:txBody>
      </p:sp>
      <p:sp>
        <p:nvSpPr>
          <p:cNvPr id="6" name="Text 4"/>
          <p:cNvSpPr/>
          <p:nvPr/>
        </p:nvSpPr>
        <p:spPr>
          <a:xfrm>
            <a:off x="2468880" y="1371600"/>
            <a:ext cx="2743200" cy="365760"/>
          </a:xfrm>
          <a:prstGeom prst="rect">
            <a:avLst/>
          </a:prstGeom>
          <a:noFill/>
          <a:ln/>
        </p:spPr>
        <p:txBody>
          <a:bodyPr wrap="square" lIns="0" tIns="0" rIns="0" bIns="0" rtlCol="0" anchor="ctr"/>
          <a:lstStyle/>
          <a:p>
            <a:pPr indent="0" marL="0">
              <a:buNone/>
            </a:pPr>
            <a:r>
              <a:rPr lang="en-US" sz="1000" b="1" spc="300" kern="0" dirty="0">
                <a:solidFill>
                  <a:srgbClr val="69D3A7"/>
                </a:solidFill>
                <a:latin typeface="Calibri" pitchFamily="34" charset="0"/>
                <a:ea typeface="Calibri" pitchFamily="34" charset="-122"/>
                <a:cs typeface="Calibri" pitchFamily="34" charset="-120"/>
              </a:rPr>
              <a:t>WHAT IT VERIFIES</a:t>
            </a:r>
            <a:endParaRPr lang="en-US" sz="1000" dirty="0"/>
          </a:p>
        </p:txBody>
      </p:sp>
      <p:sp>
        <p:nvSpPr>
          <p:cNvPr id="7" name="Text 5"/>
          <p:cNvSpPr/>
          <p:nvPr/>
        </p:nvSpPr>
        <p:spPr>
          <a:xfrm>
            <a:off x="5212080" y="1371600"/>
            <a:ext cx="3474720" cy="365760"/>
          </a:xfrm>
          <a:prstGeom prst="rect">
            <a:avLst/>
          </a:prstGeom>
          <a:noFill/>
          <a:ln/>
        </p:spPr>
        <p:txBody>
          <a:bodyPr wrap="square" lIns="0" tIns="0" rIns="0" bIns="0" rtlCol="0" anchor="ctr"/>
          <a:lstStyle/>
          <a:p>
            <a:pPr indent="0" marL="0">
              <a:buNone/>
            </a:pPr>
            <a:r>
              <a:rPr lang="en-US" sz="1000" b="1" spc="300" kern="0" dirty="0">
                <a:solidFill>
                  <a:srgbClr val="69D3A7"/>
                </a:solidFill>
                <a:latin typeface="Calibri" pitchFamily="34" charset="0"/>
                <a:ea typeface="Calibri" pitchFamily="34" charset="-122"/>
                <a:cs typeface="Calibri" pitchFamily="34" charset="-120"/>
              </a:rPr>
              <a:t>CODE</a:t>
            </a:r>
            <a:endParaRPr lang="en-US" sz="1000" dirty="0"/>
          </a:p>
        </p:txBody>
      </p:sp>
      <p:sp>
        <p:nvSpPr>
          <p:cNvPr id="8" name="Shape 6"/>
          <p:cNvSpPr/>
          <p:nvPr/>
        </p:nvSpPr>
        <p:spPr>
          <a:xfrm>
            <a:off x="457200" y="1737360"/>
            <a:ext cx="8229600" cy="411480"/>
          </a:xfrm>
          <a:prstGeom prst="rect">
            <a:avLst/>
          </a:prstGeom>
          <a:solidFill>
            <a:srgbClr val="F7F9FC"/>
          </a:solidFill>
          <a:ln w="12700">
            <a:solidFill>
              <a:srgbClr val="F7F9FC"/>
            </a:solidFill>
            <a:prstDash val="solid"/>
          </a:ln>
        </p:spPr>
      </p:sp>
      <p:sp>
        <p:nvSpPr>
          <p:cNvPr id="9" name="Text 7"/>
          <p:cNvSpPr/>
          <p:nvPr/>
        </p:nvSpPr>
        <p:spPr>
          <a:xfrm>
            <a:off x="594360" y="1737360"/>
            <a:ext cx="1828800" cy="41148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Status code</a:t>
            </a:r>
            <a:endParaRPr lang="en-US" sz="1100" dirty="0"/>
          </a:p>
        </p:txBody>
      </p:sp>
      <p:sp>
        <p:nvSpPr>
          <p:cNvPr id="10" name="Text 8"/>
          <p:cNvSpPr/>
          <p:nvPr/>
        </p:nvSpPr>
        <p:spPr>
          <a:xfrm>
            <a:off x="2468880" y="1737360"/>
            <a:ext cx="2743200" cy="41148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Request succeeded</a:t>
            </a:r>
            <a:endParaRPr lang="en-US" sz="1050" dirty="0"/>
          </a:p>
        </p:txBody>
      </p:sp>
      <p:sp>
        <p:nvSpPr>
          <p:cNvPr id="11" name="Text 9"/>
          <p:cNvSpPr/>
          <p:nvPr/>
        </p:nvSpPr>
        <p:spPr>
          <a:xfrm>
            <a:off x="5212080" y="1737360"/>
            <a:ext cx="3474720" cy="411480"/>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expect(res.status).to.eq(200)</a:t>
            </a:r>
            <a:endParaRPr lang="en-US" sz="900" dirty="0"/>
          </a:p>
        </p:txBody>
      </p:sp>
      <p:sp>
        <p:nvSpPr>
          <p:cNvPr id="12" name="Shape 10"/>
          <p:cNvSpPr/>
          <p:nvPr/>
        </p:nvSpPr>
        <p:spPr>
          <a:xfrm>
            <a:off x="457200" y="2148840"/>
            <a:ext cx="8229600" cy="411480"/>
          </a:xfrm>
          <a:prstGeom prst="rect">
            <a:avLst/>
          </a:prstGeom>
          <a:solidFill>
            <a:srgbClr val="FFFFFF"/>
          </a:solidFill>
          <a:ln w="12700">
            <a:solidFill>
              <a:srgbClr val="FFFFFF"/>
            </a:solidFill>
            <a:prstDash val="solid"/>
          </a:ln>
        </p:spPr>
      </p:sp>
      <p:sp>
        <p:nvSpPr>
          <p:cNvPr id="13" name="Text 11"/>
          <p:cNvSpPr/>
          <p:nvPr/>
        </p:nvSpPr>
        <p:spPr>
          <a:xfrm>
            <a:off x="594360" y="2148840"/>
            <a:ext cx="1828800" cy="41148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Field equals</a:t>
            </a:r>
            <a:endParaRPr lang="en-US" sz="1100" dirty="0"/>
          </a:p>
        </p:txBody>
      </p:sp>
      <p:sp>
        <p:nvSpPr>
          <p:cNvPr id="14" name="Text 12"/>
          <p:cNvSpPr/>
          <p:nvPr/>
        </p:nvSpPr>
        <p:spPr>
          <a:xfrm>
            <a:off x="2468880" y="2148840"/>
            <a:ext cx="2743200" cy="41148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 property matches expected</a:t>
            </a:r>
            <a:endParaRPr lang="en-US" sz="1050" dirty="0"/>
          </a:p>
        </p:txBody>
      </p:sp>
      <p:sp>
        <p:nvSpPr>
          <p:cNvPr id="15" name="Text 13"/>
          <p:cNvSpPr/>
          <p:nvPr/>
        </p:nvSpPr>
        <p:spPr>
          <a:xfrm>
            <a:off x="5212080" y="2148840"/>
            <a:ext cx="3474720" cy="411480"/>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expect(res.body.name).to.eq("Priya")</a:t>
            </a:r>
            <a:endParaRPr lang="en-US" sz="900" dirty="0"/>
          </a:p>
        </p:txBody>
      </p:sp>
      <p:sp>
        <p:nvSpPr>
          <p:cNvPr id="16" name="Shape 14"/>
          <p:cNvSpPr/>
          <p:nvPr/>
        </p:nvSpPr>
        <p:spPr>
          <a:xfrm>
            <a:off x="457200" y="2560320"/>
            <a:ext cx="8229600" cy="411480"/>
          </a:xfrm>
          <a:prstGeom prst="rect">
            <a:avLst/>
          </a:prstGeom>
          <a:solidFill>
            <a:srgbClr val="F7F9FC"/>
          </a:solidFill>
          <a:ln w="12700">
            <a:solidFill>
              <a:srgbClr val="F7F9FC"/>
            </a:solidFill>
            <a:prstDash val="solid"/>
          </a:ln>
        </p:spPr>
      </p:sp>
      <p:sp>
        <p:nvSpPr>
          <p:cNvPr id="17" name="Text 15"/>
          <p:cNvSpPr/>
          <p:nvPr/>
        </p:nvSpPr>
        <p:spPr>
          <a:xfrm>
            <a:off x="594360" y="2560320"/>
            <a:ext cx="1828800" cy="41148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Has property</a:t>
            </a:r>
            <a:endParaRPr lang="en-US" sz="1100" dirty="0"/>
          </a:p>
        </p:txBody>
      </p:sp>
      <p:sp>
        <p:nvSpPr>
          <p:cNvPr id="18" name="Text 16"/>
          <p:cNvSpPr/>
          <p:nvPr/>
        </p:nvSpPr>
        <p:spPr>
          <a:xfrm>
            <a:off x="2468880" y="2560320"/>
            <a:ext cx="2743200" cy="41148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Field exists in the body</a:t>
            </a:r>
            <a:endParaRPr lang="en-US" sz="1050" dirty="0"/>
          </a:p>
        </p:txBody>
      </p:sp>
      <p:sp>
        <p:nvSpPr>
          <p:cNvPr id="19" name="Text 17"/>
          <p:cNvSpPr/>
          <p:nvPr/>
        </p:nvSpPr>
        <p:spPr>
          <a:xfrm>
            <a:off x="5212080" y="2560320"/>
            <a:ext cx="3474720" cy="411480"/>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expect(res.body).to.have.property("id")</a:t>
            </a:r>
            <a:endParaRPr lang="en-US" sz="900" dirty="0"/>
          </a:p>
        </p:txBody>
      </p:sp>
      <p:sp>
        <p:nvSpPr>
          <p:cNvPr id="20" name="Shape 18"/>
          <p:cNvSpPr/>
          <p:nvPr/>
        </p:nvSpPr>
        <p:spPr>
          <a:xfrm>
            <a:off x="457200" y="2971800"/>
            <a:ext cx="8229600" cy="411480"/>
          </a:xfrm>
          <a:prstGeom prst="rect">
            <a:avLst/>
          </a:prstGeom>
          <a:solidFill>
            <a:srgbClr val="FFFFFF"/>
          </a:solidFill>
          <a:ln w="12700">
            <a:solidFill>
              <a:srgbClr val="FFFFFF"/>
            </a:solidFill>
            <a:prstDash val="solid"/>
          </a:ln>
        </p:spPr>
      </p:sp>
      <p:sp>
        <p:nvSpPr>
          <p:cNvPr id="21" name="Text 19"/>
          <p:cNvSpPr/>
          <p:nvPr/>
        </p:nvSpPr>
        <p:spPr>
          <a:xfrm>
            <a:off x="594360" y="2971800"/>
            <a:ext cx="1828800" cy="41148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Array length</a:t>
            </a:r>
            <a:endParaRPr lang="en-US" sz="1100" dirty="0"/>
          </a:p>
        </p:txBody>
      </p:sp>
      <p:sp>
        <p:nvSpPr>
          <p:cNvPr id="22" name="Text 20"/>
          <p:cNvSpPr/>
          <p:nvPr/>
        </p:nvSpPr>
        <p:spPr>
          <a:xfrm>
            <a:off x="2468880" y="2971800"/>
            <a:ext cx="2743200" cy="41148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List has expected count</a:t>
            </a:r>
            <a:endParaRPr lang="en-US" sz="1050" dirty="0"/>
          </a:p>
        </p:txBody>
      </p:sp>
      <p:sp>
        <p:nvSpPr>
          <p:cNvPr id="23" name="Text 21"/>
          <p:cNvSpPr/>
          <p:nvPr/>
        </p:nvSpPr>
        <p:spPr>
          <a:xfrm>
            <a:off x="5212080" y="2971800"/>
            <a:ext cx="3474720" cy="411480"/>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expect(res.body).to.have.length(3)</a:t>
            </a:r>
            <a:endParaRPr lang="en-US" sz="900" dirty="0"/>
          </a:p>
        </p:txBody>
      </p:sp>
      <p:sp>
        <p:nvSpPr>
          <p:cNvPr id="24" name="Shape 22"/>
          <p:cNvSpPr/>
          <p:nvPr/>
        </p:nvSpPr>
        <p:spPr>
          <a:xfrm>
            <a:off x="457200" y="3383280"/>
            <a:ext cx="8229600" cy="411480"/>
          </a:xfrm>
          <a:prstGeom prst="rect">
            <a:avLst/>
          </a:prstGeom>
          <a:solidFill>
            <a:srgbClr val="F7F9FC"/>
          </a:solidFill>
          <a:ln w="12700">
            <a:solidFill>
              <a:srgbClr val="F7F9FC"/>
            </a:solidFill>
            <a:prstDash val="solid"/>
          </a:ln>
        </p:spPr>
      </p:sp>
      <p:sp>
        <p:nvSpPr>
          <p:cNvPr id="25" name="Text 23"/>
          <p:cNvSpPr/>
          <p:nvPr/>
        </p:nvSpPr>
        <p:spPr>
          <a:xfrm>
            <a:off x="594360" y="3383280"/>
            <a:ext cx="1828800" cy="41148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Array contains</a:t>
            </a:r>
            <a:endParaRPr lang="en-US" sz="1100" dirty="0"/>
          </a:p>
        </p:txBody>
      </p:sp>
      <p:sp>
        <p:nvSpPr>
          <p:cNvPr id="26" name="Text 24"/>
          <p:cNvSpPr/>
          <p:nvPr/>
        </p:nvSpPr>
        <p:spPr>
          <a:xfrm>
            <a:off x="2468880" y="3383280"/>
            <a:ext cx="2743200" cy="41148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Array includes a value</a:t>
            </a:r>
            <a:endParaRPr lang="en-US" sz="1050" dirty="0"/>
          </a:p>
        </p:txBody>
      </p:sp>
      <p:sp>
        <p:nvSpPr>
          <p:cNvPr id="27" name="Text 25"/>
          <p:cNvSpPr/>
          <p:nvPr/>
        </p:nvSpPr>
        <p:spPr>
          <a:xfrm>
            <a:off x="5212080" y="3383280"/>
            <a:ext cx="3474720" cy="411480"/>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expect(res.body.roles).to.include("admin")</a:t>
            </a:r>
            <a:endParaRPr lang="en-US" sz="900" dirty="0"/>
          </a:p>
        </p:txBody>
      </p:sp>
      <p:sp>
        <p:nvSpPr>
          <p:cNvPr id="28" name="Shape 26"/>
          <p:cNvSpPr/>
          <p:nvPr/>
        </p:nvSpPr>
        <p:spPr>
          <a:xfrm>
            <a:off x="457200" y="3794760"/>
            <a:ext cx="8229600" cy="411480"/>
          </a:xfrm>
          <a:prstGeom prst="rect">
            <a:avLst/>
          </a:prstGeom>
          <a:solidFill>
            <a:srgbClr val="FFFFFF"/>
          </a:solidFill>
          <a:ln w="12700">
            <a:solidFill>
              <a:srgbClr val="FFFFFF"/>
            </a:solidFill>
            <a:prstDash val="solid"/>
          </a:ln>
        </p:spPr>
      </p:sp>
      <p:sp>
        <p:nvSpPr>
          <p:cNvPr id="29" name="Text 27"/>
          <p:cNvSpPr/>
          <p:nvPr/>
        </p:nvSpPr>
        <p:spPr>
          <a:xfrm>
            <a:off x="594360" y="3794760"/>
            <a:ext cx="1828800" cy="41148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Schema (deep)</a:t>
            </a:r>
            <a:endParaRPr lang="en-US" sz="1100" dirty="0"/>
          </a:p>
        </p:txBody>
      </p:sp>
      <p:sp>
        <p:nvSpPr>
          <p:cNvPr id="30" name="Text 28"/>
          <p:cNvSpPr/>
          <p:nvPr/>
        </p:nvSpPr>
        <p:spPr>
          <a:xfrm>
            <a:off x="2468880" y="3794760"/>
            <a:ext cx="2743200" cy="41148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Object matches a structure</a:t>
            </a:r>
            <a:endParaRPr lang="en-US" sz="1050" dirty="0"/>
          </a:p>
        </p:txBody>
      </p:sp>
      <p:sp>
        <p:nvSpPr>
          <p:cNvPr id="31" name="Text 29"/>
          <p:cNvSpPr/>
          <p:nvPr/>
        </p:nvSpPr>
        <p:spPr>
          <a:xfrm>
            <a:off x="5212080" y="3794760"/>
            <a:ext cx="3474720" cy="411480"/>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expect(res.body).to.deep.include({...})</a:t>
            </a:r>
            <a:endParaRPr lang="en-US" sz="900" dirty="0"/>
          </a:p>
        </p:txBody>
      </p:sp>
      <p:sp>
        <p:nvSpPr>
          <p:cNvPr id="32" name="Shape 30"/>
          <p:cNvSpPr/>
          <p:nvPr/>
        </p:nvSpPr>
        <p:spPr>
          <a:xfrm>
            <a:off x="457200" y="4206240"/>
            <a:ext cx="8229600" cy="411480"/>
          </a:xfrm>
          <a:prstGeom prst="rect">
            <a:avLst/>
          </a:prstGeom>
          <a:solidFill>
            <a:srgbClr val="F7F9FC"/>
          </a:solidFill>
          <a:ln w="12700">
            <a:solidFill>
              <a:srgbClr val="F7F9FC"/>
            </a:solidFill>
            <a:prstDash val="solid"/>
          </a:ln>
        </p:spPr>
      </p:sp>
      <p:sp>
        <p:nvSpPr>
          <p:cNvPr id="33" name="Text 31"/>
          <p:cNvSpPr/>
          <p:nvPr/>
        </p:nvSpPr>
        <p:spPr>
          <a:xfrm>
            <a:off x="594360" y="4206240"/>
            <a:ext cx="1828800" cy="41148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Header</a:t>
            </a:r>
            <a:endParaRPr lang="en-US" sz="1100" dirty="0"/>
          </a:p>
        </p:txBody>
      </p:sp>
      <p:sp>
        <p:nvSpPr>
          <p:cNvPr id="34" name="Text 32"/>
          <p:cNvSpPr/>
          <p:nvPr/>
        </p:nvSpPr>
        <p:spPr>
          <a:xfrm>
            <a:off x="2468880" y="4206240"/>
            <a:ext cx="2743200" cy="41148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Response header is set</a:t>
            </a:r>
            <a:endParaRPr lang="en-US" sz="1050" dirty="0"/>
          </a:p>
        </p:txBody>
      </p:sp>
      <p:sp>
        <p:nvSpPr>
          <p:cNvPr id="35" name="Text 33"/>
          <p:cNvSpPr/>
          <p:nvPr/>
        </p:nvSpPr>
        <p:spPr>
          <a:xfrm>
            <a:off x="5212080" y="4206240"/>
            <a:ext cx="3474720" cy="411480"/>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expect(res.headers["x-rate-limit"]).to.exist</a:t>
            </a:r>
            <a:endParaRPr lang="en-US" sz="900" dirty="0"/>
          </a:p>
        </p:txBody>
      </p:sp>
      <p:sp>
        <p:nvSpPr>
          <p:cNvPr id="36" name="Text 34"/>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37" name="Text 35"/>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Day 10 Concepts in Action</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200" i="1" dirty="0">
                <a:solidFill>
                  <a:srgbClr val="5B6582"/>
                </a:solidFill>
                <a:latin typeface="Calibri" pitchFamily="34" charset="0"/>
                <a:ea typeface="Calibri" pitchFamily="34" charset="-122"/>
                <a:cs typeface="Calibri" pitchFamily="34" charset="-120"/>
              </a:rPr>
              <a:t>Cheat sheet — every Day 10 pattern and when to reach for it</a:t>
            </a:r>
            <a:endParaRPr lang="en-US" sz="1200" dirty="0"/>
          </a:p>
        </p:txBody>
      </p:sp>
      <p:sp>
        <p:nvSpPr>
          <p:cNvPr id="4" name="Shape 2"/>
          <p:cNvSpPr/>
          <p:nvPr/>
        </p:nvSpPr>
        <p:spPr>
          <a:xfrm>
            <a:off x="457200" y="1097280"/>
            <a:ext cx="8229600" cy="320040"/>
          </a:xfrm>
          <a:prstGeom prst="rect">
            <a:avLst/>
          </a:prstGeom>
          <a:solidFill>
            <a:srgbClr val="1E2761"/>
          </a:solidFill>
          <a:ln w="12700">
            <a:solidFill>
              <a:srgbClr val="1E2761"/>
            </a:solidFill>
            <a:prstDash val="solid"/>
          </a:ln>
        </p:spPr>
      </p:sp>
      <p:sp>
        <p:nvSpPr>
          <p:cNvPr id="5" name="Text 3"/>
          <p:cNvSpPr/>
          <p:nvPr/>
        </p:nvSpPr>
        <p:spPr>
          <a:xfrm>
            <a:off x="548640" y="1097280"/>
            <a:ext cx="1645920" cy="320040"/>
          </a:xfrm>
          <a:prstGeom prst="rect">
            <a:avLst/>
          </a:prstGeom>
          <a:noFill/>
          <a:ln/>
        </p:spPr>
        <p:txBody>
          <a:bodyPr wrap="square" lIns="0" tIns="0" rIns="0" bIns="0" rtlCol="0" anchor="ctr"/>
          <a:lstStyle/>
          <a:p>
            <a:pPr indent="0" marL="0">
              <a:buNone/>
            </a:pPr>
            <a:r>
              <a:rPr lang="en-US" sz="1000" b="1" spc="300" kern="0" dirty="0">
                <a:solidFill>
                  <a:srgbClr val="69D3A7"/>
                </a:solidFill>
                <a:latin typeface="Calibri" pitchFamily="34" charset="0"/>
                <a:ea typeface="Calibri" pitchFamily="34" charset="-122"/>
                <a:cs typeface="Calibri" pitchFamily="34" charset="-120"/>
              </a:rPr>
              <a:t>PATTERN</a:t>
            </a:r>
            <a:endParaRPr lang="en-US" sz="1000" dirty="0"/>
          </a:p>
        </p:txBody>
      </p:sp>
      <p:sp>
        <p:nvSpPr>
          <p:cNvPr id="6" name="Text 4"/>
          <p:cNvSpPr/>
          <p:nvPr/>
        </p:nvSpPr>
        <p:spPr>
          <a:xfrm>
            <a:off x="2194560" y="1097280"/>
            <a:ext cx="2926080" cy="320040"/>
          </a:xfrm>
          <a:prstGeom prst="rect">
            <a:avLst/>
          </a:prstGeom>
          <a:noFill/>
          <a:ln/>
        </p:spPr>
        <p:txBody>
          <a:bodyPr wrap="square" lIns="0" tIns="0" rIns="0" bIns="0" rtlCol="0" anchor="ctr"/>
          <a:lstStyle/>
          <a:p>
            <a:pPr indent="0" marL="0">
              <a:buNone/>
            </a:pPr>
            <a:r>
              <a:rPr lang="en-US" sz="1000" b="1" spc="300" kern="0" dirty="0">
                <a:solidFill>
                  <a:srgbClr val="69D3A7"/>
                </a:solidFill>
                <a:latin typeface="Calibri" pitchFamily="34" charset="0"/>
                <a:ea typeface="Calibri" pitchFamily="34" charset="-122"/>
                <a:cs typeface="Calibri" pitchFamily="34" charset="-120"/>
              </a:rPr>
              <a:t>WHEN YOU USE IT</a:t>
            </a:r>
            <a:endParaRPr lang="en-US" sz="1000" dirty="0"/>
          </a:p>
        </p:txBody>
      </p:sp>
      <p:sp>
        <p:nvSpPr>
          <p:cNvPr id="7" name="Text 5"/>
          <p:cNvSpPr/>
          <p:nvPr/>
        </p:nvSpPr>
        <p:spPr>
          <a:xfrm>
            <a:off x="5212080" y="1097280"/>
            <a:ext cx="3474720" cy="320040"/>
          </a:xfrm>
          <a:prstGeom prst="rect">
            <a:avLst/>
          </a:prstGeom>
          <a:noFill/>
          <a:ln/>
        </p:spPr>
        <p:txBody>
          <a:bodyPr wrap="square" lIns="0" tIns="0" rIns="0" bIns="0" rtlCol="0" anchor="ctr"/>
          <a:lstStyle/>
          <a:p>
            <a:pPr indent="0" marL="0">
              <a:buNone/>
            </a:pPr>
            <a:r>
              <a:rPr lang="en-US" sz="1000" b="1" spc="300" kern="0" dirty="0">
                <a:solidFill>
                  <a:srgbClr val="69D3A7"/>
                </a:solidFill>
                <a:latin typeface="Calibri" pitchFamily="34" charset="0"/>
                <a:ea typeface="Calibri" pitchFamily="34" charset="-122"/>
                <a:cs typeface="Calibri" pitchFamily="34" charset="-120"/>
              </a:rPr>
              <a:t>CODE FRAGMENT</a:t>
            </a:r>
            <a:endParaRPr lang="en-US" sz="1000" dirty="0"/>
          </a:p>
        </p:txBody>
      </p:sp>
      <p:sp>
        <p:nvSpPr>
          <p:cNvPr id="8" name="Shape 6"/>
          <p:cNvSpPr/>
          <p:nvPr/>
        </p:nvSpPr>
        <p:spPr>
          <a:xfrm>
            <a:off x="457200" y="1417320"/>
            <a:ext cx="8229600" cy="384048"/>
          </a:xfrm>
          <a:prstGeom prst="rect">
            <a:avLst/>
          </a:prstGeom>
          <a:solidFill>
            <a:srgbClr val="F7F9FC"/>
          </a:solidFill>
          <a:ln w="12700">
            <a:solidFill>
              <a:srgbClr val="F7F9FC"/>
            </a:solidFill>
            <a:prstDash val="solid"/>
          </a:ln>
        </p:spPr>
      </p:sp>
      <p:sp>
        <p:nvSpPr>
          <p:cNvPr id="9" name="Text 7"/>
          <p:cNvSpPr/>
          <p:nvPr/>
        </p:nvSpPr>
        <p:spPr>
          <a:xfrm>
            <a:off x="548640" y="1417320"/>
            <a:ext cx="1645920" cy="38404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GET request</a:t>
            </a:r>
            <a:endParaRPr lang="en-US" sz="1100" dirty="0"/>
          </a:p>
        </p:txBody>
      </p:sp>
      <p:sp>
        <p:nvSpPr>
          <p:cNvPr id="10" name="Text 8"/>
          <p:cNvSpPr/>
          <p:nvPr/>
        </p:nvSpPr>
        <p:spPr>
          <a:xfrm>
            <a:off x="2194560" y="1417320"/>
            <a:ext cx="2926080" cy="38404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Read data from an endpoint</a:t>
            </a:r>
            <a:endParaRPr lang="en-US" sz="1050" dirty="0"/>
          </a:p>
        </p:txBody>
      </p:sp>
      <p:sp>
        <p:nvSpPr>
          <p:cNvPr id="11" name="Text 9"/>
          <p:cNvSpPr/>
          <p:nvPr/>
        </p:nvSpPr>
        <p:spPr>
          <a:xfrm>
            <a:off x="5212080" y="1417320"/>
            <a:ext cx="3474720" cy="384048"/>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cy.request("GET", "/api/users/1")</a:t>
            </a:r>
            <a:endParaRPr lang="en-US" sz="900" dirty="0"/>
          </a:p>
        </p:txBody>
      </p:sp>
      <p:sp>
        <p:nvSpPr>
          <p:cNvPr id="12" name="Shape 10"/>
          <p:cNvSpPr/>
          <p:nvPr/>
        </p:nvSpPr>
        <p:spPr>
          <a:xfrm>
            <a:off x="457200" y="1801368"/>
            <a:ext cx="8229600" cy="384048"/>
          </a:xfrm>
          <a:prstGeom prst="rect">
            <a:avLst/>
          </a:prstGeom>
          <a:solidFill>
            <a:srgbClr val="FFFFFF"/>
          </a:solidFill>
          <a:ln w="12700">
            <a:solidFill>
              <a:srgbClr val="FFFFFF"/>
            </a:solidFill>
            <a:prstDash val="solid"/>
          </a:ln>
        </p:spPr>
      </p:sp>
      <p:sp>
        <p:nvSpPr>
          <p:cNvPr id="13" name="Text 11"/>
          <p:cNvSpPr/>
          <p:nvPr/>
        </p:nvSpPr>
        <p:spPr>
          <a:xfrm>
            <a:off x="548640" y="1801368"/>
            <a:ext cx="1645920" cy="38404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POST request</a:t>
            </a:r>
            <a:endParaRPr lang="en-US" sz="1100" dirty="0"/>
          </a:p>
        </p:txBody>
      </p:sp>
      <p:sp>
        <p:nvSpPr>
          <p:cNvPr id="14" name="Text 12"/>
          <p:cNvSpPr/>
          <p:nvPr/>
        </p:nvSpPr>
        <p:spPr>
          <a:xfrm>
            <a:off x="2194560" y="1801368"/>
            <a:ext cx="2926080" cy="38404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Create something via API</a:t>
            </a:r>
            <a:endParaRPr lang="en-US" sz="1050" dirty="0"/>
          </a:p>
        </p:txBody>
      </p:sp>
      <p:sp>
        <p:nvSpPr>
          <p:cNvPr id="15" name="Text 13"/>
          <p:cNvSpPr/>
          <p:nvPr/>
        </p:nvSpPr>
        <p:spPr>
          <a:xfrm>
            <a:off x="5212080" y="1801368"/>
            <a:ext cx="3474720" cy="384048"/>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cy.request("POST", "/api/orders", body)</a:t>
            </a:r>
            <a:endParaRPr lang="en-US" sz="900" dirty="0"/>
          </a:p>
        </p:txBody>
      </p:sp>
      <p:sp>
        <p:nvSpPr>
          <p:cNvPr id="16" name="Shape 14"/>
          <p:cNvSpPr/>
          <p:nvPr/>
        </p:nvSpPr>
        <p:spPr>
          <a:xfrm>
            <a:off x="457200" y="2185416"/>
            <a:ext cx="8229600" cy="384048"/>
          </a:xfrm>
          <a:prstGeom prst="rect">
            <a:avLst/>
          </a:prstGeom>
          <a:solidFill>
            <a:srgbClr val="F7F9FC"/>
          </a:solidFill>
          <a:ln w="12700">
            <a:solidFill>
              <a:srgbClr val="F7F9FC"/>
            </a:solidFill>
            <a:prstDash val="solid"/>
          </a:ln>
        </p:spPr>
      </p:sp>
      <p:sp>
        <p:nvSpPr>
          <p:cNvPr id="17" name="Text 15"/>
          <p:cNvSpPr/>
          <p:nvPr/>
        </p:nvSpPr>
        <p:spPr>
          <a:xfrm>
            <a:off x="548640" y="2185416"/>
            <a:ext cx="1645920" cy="38404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Login via API</a:t>
            </a:r>
            <a:endParaRPr lang="en-US" sz="1100" dirty="0"/>
          </a:p>
        </p:txBody>
      </p:sp>
      <p:sp>
        <p:nvSpPr>
          <p:cNvPr id="18" name="Text 16"/>
          <p:cNvSpPr/>
          <p:nvPr/>
        </p:nvSpPr>
        <p:spPr>
          <a:xfrm>
            <a:off x="2194560" y="2185416"/>
            <a:ext cx="2926080" cy="38404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Fast setup before UI test</a:t>
            </a:r>
            <a:endParaRPr lang="en-US" sz="1050" dirty="0"/>
          </a:p>
        </p:txBody>
      </p:sp>
      <p:sp>
        <p:nvSpPr>
          <p:cNvPr id="19" name="Text 17"/>
          <p:cNvSpPr/>
          <p:nvPr/>
        </p:nvSpPr>
        <p:spPr>
          <a:xfrm>
            <a:off x="5212080" y="2185416"/>
            <a:ext cx="3474720" cy="384048"/>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cy.request("POST", "/login", creds)</a:t>
            </a:r>
            <a:endParaRPr lang="en-US" sz="900" dirty="0"/>
          </a:p>
        </p:txBody>
      </p:sp>
      <p:sp>
        <p:nvSpPr>
          <p:cNvPr id="20" name="Shape 18"/>
          <p:cNvSpPr/>
          <p:nvPr/>
        </p:nvSpPr>
        <p:spPr>
          <a:xfrm>
            <a:off x="457200" y="2569464"/>
            <a:ext cx="8229600" cy="384048"/>
          </a:xfrm>
          <a:prstGeom prst="rect">
            <a:avLst/>
          </a:prstGeom>
          <a:solidFill>
            <a:srgbClr val="FFFFFF"/>
          </a:solidFill>
          <a:ln w="12700">
            <a:solidFill>
              <a:srgbClr val="FFFFFF"/>
            </a:solidFill>
            <a:prstDash val="solid"/>
          </a:ln>
        </p:spPr>
      </p:sp>
      <p:sp>
        <p:nvSpPr>
          <p:cNvPr id="21" name="Text 19"/>
          <p:cNvSpPr/>
          <p:nvPr/>
        </p:nvSpPr>
        <p:spPr>
          <a:xfrm>
            <a:off x="548640" y="2569464"/>
            <a:ext cx="1645920" cy="38404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Watch + assert</a:t>
            </a:r>
            <a:endParaRPr lang="en-US" sz="1100" dirty="0"/>
          </a:p>
        </p:txBody>
      </p:sp>
      <p:sp>
        <p:nvSpPr>
          <p:cNvPr id="22" name="Text 20"/>
          <p:cNvSpPr/>
          <p:nvPr/>
        </p:nvSpPr>
        <p:spPr>
          <a:xfrm>
            <a:off x="2194560" y="2569464"/>
            <a:ext cx="2926080" cy="38404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Wait for real call + check response</a:t>
            </a:r>
            <a:endParaRPr lang="en-US" sz="1050" dirty="0"/>
          </a:p>
        </p:txBody>
      </p:sp>
      <p:sp>
        <p:nvSpPr>
          <p:cNvPr id="23" name="Text 21"/>
          <p:cNvSpPr/>
          <p:nvPr/>
        </p:nvSpPr>
        <p:spPr>
          <a:xfrm>
            <a:off x="5212080" y="2569464"/>
            <a:ext cx="3474720" cy="384048"/>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cy.intercept("/api/x").as("x")</a:t>
            </a:r>
            <a:endParaRPr lang="en-US" sz="900" dirty="0"/>
          </a:p>
        </p:txBody>
      </p:sp>
      <p:sp>
        <p:nvSpPr>
          <p:cNvPr id="24" name="Shape 22"/>
          <p:cNvSpPr/>
          <p:nvPr/>
        </p:nvSpPr>
        <p:spPr>
          <a:xfrm>
            <a:off x="457200" y="2953512"/>
            <a:ext cx="8229600" cy="384048"/>
          </a:xfrm>
          <a:prstGeom prst="rect">
            <a:avLst/>
          </a:prstGeom>
          <a:solidFill>
            <a:srgbClr val="F7F9FC"/>
          </a:solidFill>
          <a:ln w="12700">
            <a:solidFill>
              <a:srgbClr val="F7F9FC"/>
            </a:solidFill>
            <a:prstDash val="solid"/>
          </a:ln>
        </p:spPr>
      </p:sp>
      <p:sp>
        <p:nvSpPr>
          <p:cNvPr id="25" name="Text 23"/>
          <p:cNvSpPr/>
          <p:nvPr/>
        </p:nvSpPr>
        <p:spPr>
          <a:xfrm>
            <a:off x="548640" y="2953512"/>
            <a:ext cx="1645920" cy="38404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Stub with fixture</a:t>
            </a:r>
            <a:endParaRPr lang="en-US" sz="1100" dirty="0"/>
          </a:p>
        </p:txBody>
      </p:sp>
      <p:sp>
        <p:nvSpPr>
          <p:cNvPr id="26" name="Text 24"/>
          <p:cNvSpPr/>
          <p:nvPr/>
        </p:nvSpPr>
        <p:spPr>
          <a:xfrm>
            <a:off x="2194560" y="2953512"/>
            <a:ext cx="2926080" cy="38404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Return fake JSON, no backend hit</a:t>
            </a:r>
            <a:endParaRPr lang="en-US" sz="1050" dirty="0"/>
          </a:p>
        </p:txBody>
      </p:sp>
      <p:sp>
        <p:nvSpPr>
          <p:cNvPr id="27" name="Text 25"/>
          <p:cNvSpPr/>
          <p:nvPr/>
        </p:nvSpPr>
        <p:spPr>
          <a:xfrm>
            <a:off x="5212080" y="2953512"/>
            <a:ext cx="3474720" cy="384048"/>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cy.intercept(url, { fixture: "x.json" })</a:t>
            </a:r>
            <a:endParaRPr lang="en-US" sz="900" dirty="0"/>
          </a:p>
        </p:txBody>
      </p:sp>
      <p:sp>
        <p:nvSpPr>
          <p:cNvPr id="28" name="Shape 26"/>
          <p:cNvSpPr/>
          <p:nvPr/>
        </p:nvSpPr>
        <p:spPr>
          <a:xfrm>
            <a:off x="457200" y="3337560"/>
            <a:ext cx="8229600" cy="384048"/>
          </a:xfrm>
          <a:prstGeom prst="rect">
            <a:avLst/>
          </a:prstGeom>
          <a:solidFill>
            <a:srgbClr val="FFFFFF"/>
          </a:solidFill>
          <a:ln w="12700">
            <a:solidFill>
              <a:srgbClr val="FFFFFF"/>
            </a:solidFill>
            <a:prstDash val="solid"/>
          </a:ln>
        </p:spPr>
      </p:sp>
      <p:sp>
        <p:nvSpPr>
          <p:cNvPr id="29" name="Text 27"/>
          <p:cNvSpPr/>
          <p:nvPr/>
        </p:nvSpPr>
        <p:spPr>
          <a:xfrm>
            <a:off x="548640" y="3337560"/>
            <a:ext cx="1645920" cy="38404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Force error</a:t>
            </a:r>
            <a:endParaRPr lang="en-US" sz="1100" dirty="0"/>
          </a:p>
        </p:txBody>
      </p:sp>
      <p:sp>
        <p:nvSpPr>
          <p:cNvPr id="30" name="Text 28"/>
          <p:cNvSpPr/>
          <p:nvPr/>
        </p:nvSpPr>
        <p:spPr>
          <a:xfrm>
            <a:off x="2194560" y="3337560"/>
            <a:ext cx="2926080" cy="38404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Test how UI handles 500s</a:t>
            </a:r>
            <a:endParaRPr lang="en-US" sz="1050" dirty="0"/>
          </a:p>
        </p:txBody>
      </p:sp>
      <p:sp>
        <p:nvSpPr>
          <p:cNvPr id="31" name="Text 29"/>
          <p:cNvSpPr/>
          <p:nvPr/>
        </p:nvSpPr>
        <p:spPr>
          <a:xfrm>
            <a:off x="5212080" y="3337560"/>
            <a:ext cx="3474720" cy="384048"/>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cy.intercept(url, { statusCode: 500 })</a:t>
            </a:r>
            <a:endParaRPr lang="en-US" sz="900" dirty="0"/>
          </a:p>
        </p:txBody>
      </p:sp>
      <p:sp>
        <p:nvSpPr>
          <p:cNvPr id="32" name="Shape 30"/>
          <p:cNvSpPr/>
          <p:nvPr/>
        </p:nvSpPr>
        <p:spPr>
          <a:xfrm>
            <a:off x="457200" y="3721608"/>
            <a:ext cx="8229600" cy="384048"/>
          </a:xfrm>
          <a:prstGeom prst="rect">
            <a:avLst/>
          </a:prstGeom>
          <a:solidFill>
            <a:srgbClr val="F7F9FC"/>
          </a:solidFill>
          <a:ln w="12700">
            <a:solidFill>
              <a:srgbClr val="F7F9FC"/>
            </a:solidFill>
            <a:prstDash val="solid"/>
          </a:ln>
        </p:spPr>
      </p:sp>
      <p:sp>
        <p:nvSpPr>
          <p:cNvPr id="33" name="Text 31"/>
          <p:cNvSpPr/>
          <p:nvPr/>
        </p:nvSpPr>
        <p:spPr>
          <a:xfrm>
            <a:off x="548640" y="3721608"/>
            <a:ext cx="1645920" cy="38404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Delay response</a:t>
            </a:r>
            <a:endParaRPr lang="en-US" sz="1100" dirty="0"/>
          </a:p>
        </p:txBody>
      </p:sp>
      <p:sp>
        <p:nvSpPr>
          <p:cNvPr id="34" name="Text 32"/>
          <p:cNvSpPr/>
          <p:nvPr/>
        </p:nvSpPr>
        <p:spPr>
          <a:xfrm>
            <a:off x="2194560" y="3721608"/>
            <a:ext cx="2926080" cy="38404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Simulate slow backend</a:t>
            </a:r>
            <a:endParaRPr lang="en-US" sz="1050" dirty="0"/>
          </a:p>
        </p:txBody>
      </p:sp>
      <p:sp>
        <p:nvSpPr>
          <p:cNvPr id="35" name="Text 33"/>
          <p:cNvSpPr/>
          <p:nvPr/>
        </p:nvSpPr>
        <p:spPr>
          <a:xfrm>
            <a:off x="5212080" y="3721608"/>
            <a:ext cx="3474720" cy="384048"/>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cy.intercept(url, { delay: 3000, ... })</a:t>
            </a:r>
            <a:endParaRPr lang="en-US" sz="900" dirty="0"/>
          </a:p>
        </p:txBody>
      </p:sp>
      <p:sp>
        <p:nvSpPr>
          <p:cNvPr id="36" name="Shape 34"/>
          <p:cNvSpPr/>
          <p:nvPr/>
        </p:nvSpPr>
        <p:spPr>
          <a:xfrm>
            <a:off x="457200" y="4105656"/>
            <a:ext cx="8229600" cy="384048"/>
          </a:xfrm>
          <a:prstGeom prst="rect">
            <a:avLst/>
          </a:prstGeom>
          <a:solidFill>
            <a:srgbClr val="FFFFFF"/>
          </a:solidFill>
          <a:ln w="12700">
            <a:solidFill>
              <a:srgbClr val="FFFFFF"/>
            </a:solidFill>
            <a:prstDash val="solid"/>
          </a:ln>
        </p:spPr>
      </p:sp>
      <p:sp>
        <p:nvSpPr>
          <p:cNvPr id="37" name="Text 35"/>
          <p:cNvSpPr/>
          <p:nvPr/>
        </p:nvSpPr>
        <p:spPr>
          <a:xfrm>
            <a:off x="548640" y="4105656"/>
            <a:ext cx="1645920" cy="38404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Assert response</a:t>
            </a:r>
            <a:endParaRPr lang="en-US" sz="1100" dirty="0"/>
          </a:p>
        </p:txBody>
      </p:sp>
      <p:sp>
        <p:nvSpPr>
          <p:cNvPr id="38" name="Text 36"/>
          <p:cNvSpPr/>
          <p:nvPr/>
        </p:nvSpPr>
        <p:spPr>
          <a:xfrm>
            <a:off x="2194560" y="4105656"/>
            <a:ext cx="2926080" cy="38404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Check status, body, headers</a:t>
            </a:r>
            <a:endParaRPr lang="en-US" sz="1050" dirty="0"/>
          </a:p>
        </p:txBody>
      </p:sp>
      <p:sp>
        <p:nvSpPr>
          <p:cNvPr id="39" name="Text 37"/>
          <p:cNvSpPr/>
          <p:nvPr/>
        </p:nvSpPr>
        <p:spPr>
          <a:xfrm>
            <a:off x="5212080" y="4105656"/>
            <a:ext cx="3474720" cy="384048"/>
          </a:xfrm>
          <a:prstGeom prst="rect">
            <a:avLst/>
          </a:prstGeom>
          <a:noFill/>
          <a:ln/>
        </p:spPr>
        <p:txBody>
          <a:bodyPr wrap="square" lIns="0" tIns="0" rIns="0" bIns="0" rtlCol="0" anchor="ctr"/>
          <a:lstStyle/>
          <a:p>
            <a:pPr indent="0" marL="0">
              <a:buNone/>
            </a:pPr>
            <a:r>
              <a:rPr lang="en-US" sz="900" dirty="0">
                <a:solidFill>
                  <a:srgbClr val="5D4037"/>
                </a:solidFill>
                <a:latin typeface="Consolas" pitchFamily="34" charset="0"/>
                <a:ea typeface="Consolas" pitchFamily="34" charset="-122"/>
                <a:cs typeface="Consolas" pitchFamily="34" charset="-120"/>
              </a:rPr>
              <a:t>.then(res =&gt; expect(res.status).to.eq(200))</a:t>
            </a:r>
            <a:endParaRPr lang="en-US" sz="900" dirty="0"/>
          </a:p>
        </p:txBody>
      </p:sp>
      <p:sp>
        <p:nvSpPr>
          <p:cNvPr id="40" name="Text 38"/>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41" name="Text 39"/>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31520" y="2011680"/>
            <a:ext cx="548640" cy="73152"/>
          </a:xfrm>
          <a:prstGeom prst="rect">
            <a:avLst/>
          </a:prstGeom>
          <a:solidFill>
            <a:srgbClr val="69D3A7"/>
          </a:solidFill>
          <a:ln w="12700">
            <a:solidFill>
              <a:srgbClr val="69D3A7"/>
            </a:solidFill>
            <a:prstDash val="solid"/>
          </a:ln>
        </p:spPr>
      </p:sp>
      <p:sp>
        <p:nvSpPr>
          <p:cNvPr id="3" name="Text 1"/>
          <p:cNvSpPr/>
          <p:nvPr/>
        </p:nvSpPr>
        <p:spPr>
          <a:xfrm>
            <a:off x="731520" y="2148840"/>
            <a:ext cx="8229600" cy="365760"/>
          </a:xfrm>
          <a:prstGeom prst="rect">
            <a:avLst/>
          </a:prstGeom>
          <a:noFill/>
          <a:ln/>
        </p:spPr>
        <p:txBody>
          <a:bodyPr wrap="square" rtlCol="0" anchor="ctr"/>
          <a:lstStyle/>
          <a:p>
            <a:pPr indent="0" marL="0">
              <a:buNone/>
            </a:pPr>
            <a:r>
              <a:rPr lang="en-US" sz="1400" b="1" spc="800" kern="0" dirty="0">
                <a:solidFill>
                  <a:srgbClr val="69D3A7"/>
                </a:solidFill>
                <a:latin typeface="Calibri" pitchFamily="34" charset="0"/>
                <a:ea typeface="Calibri" pitchFamily="34" charset="-122"/>
                <a:cs typeface="Calibri" pitchFamily="34" charset="-120"/>
              </a:rPr>
              <a:t>QUICK CHECK</a:t>
            </a:r>
            <a:endParaRPr lang="en-US" sz="1400" dirty="0"/>
          </a:p>
        </p:txBody>
      </p:sp>
      <p:sp>
        <p:nvSpPr>
          <p:cNvPr id="4" name="Text 2"/>
          <p:cNvSpPr/>
          <p:nvPr/>
        </p:nvSpPr>
        <p:spPr>
          <a:xfrm>
            <a:off x="731520" y="2560320"/>
            <a:ext cx="8229600" cy="8229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3 Questions — Network &amp; API Testing</a:t>
            </a:r>
            <a:endParaRPr lang="en-US" sz="2800" dirty="0"/>
          </a:p>
        </p:txBody>
      </p:sp>
      <p:sp>
        <p:nvSpPr>
          <p:cNvPr id="5" name="Text 3"/>
          <p:cNvSpPr/>
          <p:nvPr/>
        </p:nvSpPr>
        <p:spPr>
          <a:xfrm>
            <a:off x="731520" y="3429000"/>
            <a:ext cx="8229600" cy="365760"/>
          </a:xfrm>
          <a:prstGeom prst="rect">
            <a:avLst/>
          </a:prstGeom>
          <a:noFill/>
          <a:ln/>
        </p:spPr>
        <p:txBody>
          <a:bodyPr wrap="square" lIns="0" tIns="0" rIns="0" bIns="0" rtlCol="0" anchor="ctr"/>
          <a:lstStyle/>
          <a:p>
            <a:pPr indent="0" marL="0">
              <a:buNone/>
            </a:pPr>
            <a:r>
              <a:rPr lang="en-US" sz="1600" i="1" dirty="0">
                <a:solidFill>
                  <a:srgbClr val="CADCFC"/>
                </a:solidFill>
                <a:latin typeface="Georgia" pitchFamily="34" charset="0"/>
                <a:ea typeface="Georgia" pitchFamily="34" charset="-122"/>
                <a:cs typeface="Georgia" pitchFamily="34" charset="-120"/>
              </a:rPr>
              <a:t>Shout out your answers — click to reveal.</a:t>
            </a:r>
            <a:endParaRPr lang="en-US" sz="1600" dirty="0"/>
          </a:p>
        </p:txBody>
      </p:sp>
      <p:sp>
        <p:nvSpPr>
          <p:cNvPr id="6" name="Text 4"/>
          <p:cNvSpPr/>
          <p:nvPr/>
        </p:nvSpPr>
        <p:spPr>
          <a:xfrm>
            <a:off x="731520" y="3931920"/>
            <a:ext cx="8229600" cy="320040"/>
          </a:xfrm>
          <a:prstGeom prst="rect">
            <a:avLst/>
          </a:prstGeom>
          <a:noFill/>
          <a:ln/>
        </p:spPr>
        <p:txBody>
          <a:bodyPr wrap="square" lIns="0" tIns="0" rIns="0" bIns="0" rtlCol="0" anchor="ctr"/>
          <a:lstStyle/>
          <a:p>
            <a:pPr indent="0" marL="0">
              <a:buNone/>
            </a:pPr>
            <a:r>
              <a:rPr lang="en-US" sz="1100" spc="300" kern="0" dirty="0">
                <a:solidFill>
                  <a:srgbClr val="69D3A7"/>
                </a:solidFill>
                <a:latin typeface="Calibri" pitchFamily="34" charset="0"/>
                <a:ea typeface="Calibri" pitchFamily="34" charset="-122"/>
                <a:cs typeface="Calibri" pitchFamily="34" charset="-120"/>
              </a:rPr>
              <a:t>Three more questions after Part 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1E2761"/>
                </a:solidFill>
                <a:latin typeface="Calibri" pitchFamily="34" charset="0"/>
                <a:ea typeface="Calibri" pitchFamily="34" charset="-122"/>
                <a:cs typeface="Calibri" pitchFamily="34" charset="-120"/>
              </a:rPr>
              <a:t>QUESTION 1</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1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What's the key difference between cy.request and cy.intercept?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cy.request is faster, cy.intercept is older</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cy.request makes a real HTTP call from the test; cy.intercept watches the browser's network</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sp>
      <p:sp>
        <p:nvSpPr>
          <p:cNvPr id="16" name="Text 14"/>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cy.intercept is only for mocking, cy.request is only for assertions</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sp>
      <p:sp>
        <p:nvSpPr>
          <p:cNvPr id="20" name="Text 18"/>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They're aliases — same thing</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algn="ctr" indent="0" marL="0">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ANSWER 1</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1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What's the key difference between cy.request and cy.intercept?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cy.request is faster, cy.intercept is older</a:t>
            </a:r>
            <a:endParaRPr lang="en-US" sz="1300" dirty="0"/>
          </a:p>
        </p:txBody>
      </p:sp>
      <p:sp>
        <p:nvSpPr>
          <p:cNvPr id="10" name="Shape 8"/>
          <p:cNvSpPr/>
          <p:nvPr/>
        </p:nvSpPr>
        <p:spPr>
          <a:xfrm>
            <a:off x="4663440" y="2103120"/>
            <a:ext cx="4023360" cy="685800"/>
          </a:xfrm>
          <a:prstGeom prst="rect">
            <a:avLst/>
          </a:prstGeom>
          <a:solidFill>
            <a:srgbClr val="E8F5E9"/>
          </a:solidFill>
          <a:ln w="25400">
            <a:solidFill>
              <a:srgbClr val="2E7D32"/>
            </a:solidFill>
            <a:prstDash val="solid"/>
          </a:ln>
        </p:spPr>
      </p:sp>
      <p:sp>
        <p:nvSpPr>
          <p:cNvPr id="11" name="Shape 9"/>
          <p:cNvSpPr/>
          <p:nvPr/>
        </p:nvSpPr>
        <p:spPr>
          <a:xfrm>
            <a:off x="4846320" y="2263140"/>
            <a:ext cx="365760" cy="365760"/>
          </a:xfrm>
          <a:prstGeom prst="ellipse">
            <a:avLst/>
          </a:prstGeom>
          <a:solidFill>
            <a:srgbClr val="2E7D32"/>
          </a:solidFill>
          <a:ln w="12700">
            <a:solidFill>
              <a:srgbClr val="2E7D32"/>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cy.request makes a real HTTP call from the test; cy.intercept watches the browser's network</a:t>
            </a:r>
            <a:endParaRPr lang="en-US" sz="1300" dirty="0"/>
          </a:p>
        </p:txBody>
      </p:sp>
      <p:sp>
        <p:nvSpPr>
          <p:cNvPr id="14" name="Text 12"/>
          <p:cNvSpPr/>
          <p:nvPr/>
        </p:nvSpPr>
        <p:spPr>
          <a:xfrm>
            <a:off x="8321040" y="2103120"/>
            <a:ext cx="320040" cy="685800"/>
          </a:xfrm>
          <a:prstGeom prst="rect">
            <a:avLst/>
          </a:prstGeom>
          <a:noFill/>
          <a:ln/>
        </p:spPr>
        <p:txBody>
          <a:bodyPr wrap="square" lIns="0" tIns="0" rIns="0" bIns="0" rtlCol="0" anchor="ctr"/>
          <a:lstStyle/>
          <a:p>
            <a:pPr algn="ctr" indent="0" marL="0">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sp>
      <p:sp>
        <p:nvSpPr>
          <p:cNvPr id="17" name="Text 15"/>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cy.intercept is only for mocking, cy.request is only for assertions</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sp>
      <p:sp>
        <p:nvSpPr>
          <p:cNvPr id="21" name="Text 19"/>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They're aliases — same thing</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sp>
      <p:sp>
        <p:nvSpPr>
          <p:cNvPr id="25" name="Text 23"/>
          <p:cNvSpPr/>
          <p:nvPr/>
        </p:nvSpPr>
        <p:spPr>
          <a:xfrm>
            <a:off x="685800" y="4114800"/>
            <a:ext cx="7863840" cy="640080"/>
          </a:xfrm>
          <a:prstGeom prst="rect">
            <a:avLst/>
          </a:prstGeom>
          <a:noFill/>
          <a:ln/>
        </p:spPr>
        <p:txBody>
          <a:bodyPr wrap="square" lIns="0" tIns="0" rIns="0" bIns="0" rtlCol="0" anchor="ctr"/>
          <a:lstStyle/>
          <a:p>
            <a:pPr indent="0" marL="0">
              <a:buNone/>
            </a:pPr>
            <a:r>
              <a:rPr lang="en-US" sz="1100" b="1" dirty="0">
                <a:solidFill>
                  <a:srgbClr val="F5B700"/>
                </a:solidFill>
                <a:latin typeface="Calibri" pitchFamily="34" charset="0"/>
                <a:ea typeface="Calibri" pitchFamily="34" charset="-122"/>
                <a:cs typeface="Calibri" pitchFamily="34" charset="-120"/>
              </a:rPr>
              <a:t>Why: </a:t>
            </a:r>
            <a:pPr indent="0" marL="0">
              <a:buNone/>
            </a:pPr>
            <a:r>
              <a:rPr lang="en-US" sz="1100" dirty="0">
                <a:solidFill>
                  <a:srgbClr val="1A1A2E"/>
                </a:solidFill>
                <a:latin typeface="Calibri" pitchFamily="34" charset="0"/>
                <a:ea typeface="Calibri" pitchFamily="34" charset="-122"/>
                <a:cs typeface="Calibri" pitchFamily="34" charset="-120"/>
              </a:rPr>
              <a:t>cy.request bypasses the browser entirely (like Postman). cy.intercept sits between the app and the API, watching or modifying what the browser sends. Two tools, two different jobs.</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1E2761"/>
                </a:solidFill>
                <a:latin typeface="Calibri" pitchFamily="34" charset="0"/>
                <a:ea typeface="Calibri" pitchFamily="34" charset="-122"/>
                <a:cs typeface="Calibri" pitchFamily="34" charset="-120"/>
              </a:rPr>
              <a:t>QUESTION 2</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2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How do you stub an API to return a 500 error so you can test how the UI handles it?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cy.intercept(url, { statusCode: 500, body: { error: "..." } })</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cy.fail(url, 500)</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sp>
      <p:sp>
        <p:nvSpPr>
          <p:cNvPr id="16" name="Text 14"/>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cy.request("FAIL", url)</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sp>
      <p:sp>
        <p:nvSpPr>
          <p:cNvPr id="20" name="Text 18"/>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cy.intercept(url).reject(500)</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algn="ctr" indent="0" marL="0">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ANSWER 2</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2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How do you stub an API to return a 500 error so you can test how the UI handles it?</a:t>
            </a:r>
            <a:endParaRPr lang="en-US" sz="2200" dirty="0"/>
          </a:p>
        </p:txBody>
      </p:sp>
      <p:sp>
        <p:nvSpPr>
          <p:cNvPr id="6" name="Shape 4"/>
          <p:cNvSpPr/>
          <p:nvPr/>
        </p:nvSpPr>
        <p:spPr>
          <a:xfrm>
            <a:off x="457200" y="2103120"/>
            <a:ext cx="4023360" cy="685800"/>
          </a:xfrm>
          <a:prstGeom prst="rect">
            <a:avLst/>
          </a:prstGeom>
          <a:solidFill>
            <a:srgbClr val="E8F5E9"/>
          </a:solidFill>
          <a:ln w="25400">
            <a:solidFill>
              <a:srgbClr val="2E7D32"/>
            </a:solidFill>
            <a:prstDash val="solid"/>
          </a:ln>
        </p:spPr>
      </p:sp>
      <p:sp>
        <p:nvSpPr>
          <p:cNvPr id="7" name="Shape 5"/>
          <p:cNvSpPr/>
          <p:nvPr/>
        </p:nvSpPr>
        <p:spPr>
          <a:xfrm>
            <a:off x="640080" y="2263140"/>
            <a:ext cx="365760" cy="365760"/>
          </a:xfrm>
          <a:prstGeom prst="ellipse">
            <a:avLst/>
          </a:prstGeom>
          <a:solidFill>
            <a:srgbClr val="2E7D32"/>
          </a:solidFill>
          <a:ln w="12700">
            <a:solidFill>
              <a:srgbClr val="2E7D32"/>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cy.intercept(url, { statusCode: 500, body: { error: "..." } })</a:t>
            </a:r>
            <a:endParaRPr lang="en-US" sz="1300" dirty="0"/>
          </a:p>
        </p:txBody>
      </p:sp>
      <p:sp>
        <p:nvSpPr>
          <p:cNvPr id="10" name="Text 8"/>
          <p:cNvSpPr/>
          <p:nvPr/>
        </p:nvSpPr>
        <p:spPr>
          <a:xfrm>
            <a:off x="4114800" y="2103120"/>
            <a:ext cx="320040" cy="685800"/>
          </a:xfrm>
          <a:prstGeom prst="rect">
            <a:avLst/>
          </a:prstGeom>
          <a:noFill/>
          <a:ln/>
        </p:spPr>
        <p:txBody>
          <a:bodyPr wrap="square" lIns="0" tIns="0" rIns="0" bIns="0" rtlCol="0" anchor="ctr"/>
          <a:lstStyle/>
          <a:p>
            <a:pPr algn="ctr" indent="0" marL="0">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663440" y="2103120"/>
            <a:ext cx="4023360" cy="685800"/>
          </a:xfrm>
          <a:prstGeom prst="rect">
            <a:avLst/>
          </a:prstGeom>
          <a:solidFill>
            <a:srgbClr val="F7F9FC"/>
          </a:solidFill>
          <a:ln w="12700">
            <a:solidFill>
              <a:srgbClr val="F7F9FC"/>
            </a:solidFill>
            <a:prstDash val="solid"/>
          </a:ln>
        </p:spPr>
      </p:sp>
      <p:sp>
        <p:nvSpPr>
          <p:cNvPr id="12" name="Shape 10"/>
          <p:cNvSpPr/>
          <p:nvPr/>
        </p:nvSpPr>
        <p:spPr>
          <a:xfrm>
            <a:off x="4846320" y="2263140"/>
            <a:ext cx="365760" cy="365760"/>
          </a:xfrm>
          <a:prstGeom prst="ellipse">
            <a:avLst/>
          </a:prstGeom>
          <a:solidFill>
            <a:srgbClr val="1E2761"/>
          </a:solidFill>
          <a:ln w="12700">
            <a:solidFill>
              <a:srgbClr val="1E2761"/>
            </a:solidFill>
            <a:prstDash val="solid"/>
          </a:ln>
        </p:spPr>
      </p:sp>
      <p:sp>
        <p:nvSpPr>
          <p:cNvPr id="13" name="Text 11"/>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cy.fail(url, 500)</a:t>
            </a:r>
            <a:endParaRPr lang="en-US" sz="13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sp>
      <p:sp>
        <p:nvSpPr>
          <p:cNvPr id="17" name="Text 15"/>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cy.request("FAIL", url)</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sp>
      <p:sp>
        <p:nvSpPr>
          <p:cNvPr id="21" name="Text 19"/>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cy.intercept(url).reject(500)</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sp>
      <p:sp>
        <p:nvSpPr>
          <p:cNvPr id="25" name="Text 23"/>
          <p:cNvSpPr/>
          <p:nvPr/>
        </p:nvSpPr>
        <p:spPr>
          <a:xfrm>
            <a:off x="685800" y="4114800"/>
            <a:ext cx="7863840" cy="640080"/>
          </a:xfrm>
          <a:prstGeom prst="rect">
            <a:avLst/>
          </a:prstGeom>
          <a:noFill/>
          <a:ln/>
        </p:spPr>
        <p:txBody>
          <a:bodyPr wrap="square" lIns="0" tIns="0" rIns="0" bIns="0" rtlCol="0" anchor="ctr"/>
          <a:lstStyle/>
          <a:p>
            <a:pPr indent="0" marL="0">
              <a:buNone/>
            </a:pPr>
            <a:r>
              <a:rPr lang="en-US" sz="1100" b="1" dirty="0">
                <a:solidFill>
                  <a:srgbClr val="F5B700"/>
                </a:solidFill>
                <a:latin typeface="Calibri" pitchFamily="34" charset="0"/>
                <a:ea typeface="Calibri" pitchFamily="34" charset="-122"/>
                <a:cs typeface="Calibri" pitchFamily="34" charset="-120"/>
              </a:rPr>
              <a:t>Why: </a:t>
            </a:r>
            <a:pPr indent="0" marL="0">
              <a:buNone/>
            </a:pPr>
            <a:r>
              <a:rPr lang="en-US" sz="1100" dirty="0">
                <a:solidFill>
                  <a:srgbClr val="1A1A2E"/>
                </a:solidFill>
                <a:latin typeface="Calibri" pitchFamily="34" charset="0"/>
                <a:ea typeface="Calibri" pitchFamily="34" charset="-122"/>
                <a:cs typeface="Calibri" pitchFamily="34" charset="-120"/>
              </a:rPr>
              <a:t>Pass a response object with statusCode to cy.intercept. Add a body to mimic the real error payload. Now your test can assert that the UI shows an error message instead of crashing.</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1E2761"/>
                </a:solidFill>
                <a:latin typeface="Calibri" pitchFamily="34" charset="0"/>
                <a:ea typeface="Calibri" pitchFamily="34" charset="-122"/>
                <a:cs typeface="Calibri" pitchFamily="34" charset="-120"/>
              </a:rPr>
              <a:t>QUESTION 3</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3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Why would you use cy.request to log in BEFORE a UI test?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Cypress requires it</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API login is way faster than clicking the login form — saves seconds on every test</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sp>
      <p:sp>
        <p:nvSpPr>
          <p:cNvPr id="16" name="Text 14"/>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It's the only way to log in</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sp>
      <p:sp>
        <p:nvSpPr>
          <p:cNvPr id="20" name="Text 18"/>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To test the API login form</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algn="ctr" indent="0" marL="0">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ANSWER 3</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3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Why would you use cy.request to log in BEFORE a UI test?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Cypress requires it</a:t>
            </a:r>
            <a:endParaRPr lang="en-US" sz="1300" dirty="0"/>
          </a:p>
        </p:txBody>
      </p:sp>
      <p:sp>
        <p:nvSpPr>
          <p:cNvPr id="10" name="Shape 8"/>
          <p:cNvSpPr/>
          <p:nvPr/>
        </p:nvSpPr>
        <p:spPr>
          <a:xfrm>
            <a:off x="4663440" y="2103120"/>
            <a:ext cx="4023360" cy="685800"/>
          </a:xfrm>
          <a:prstGeom prst="rect">
            <a:avLst/>
          </a:prstGeom>
          <a:solidFill>
            <a:srgbClr val="E8F5E9"/>
          </a:solidFill>
          <a:ln w="25400">
            <a:solidFill>
              <a:srgbClr val="2E7D32"/>
            </a:solidFill>
            <a:prstDash val="solid"/>
          </a:ln>
        </p:spPr>
      </p:sp>
      <p:sp>
        <p:nvSpPr>
          <p:cNvPr id="11" name="Shape 9"/>
          <p:cNvSpPr/>
          <p:nvPr/>
        </p:nvSpPr>
        <p:spPr>
          <a:xfrm>
            <a:off x="4846320" y="2263140"/>
            <a:ext cx="365760" cy="365760"/>
          </a:xfrm>
          <a:prstGeom prst="ellipse">
            <a:avLst/>
          </a:prstGeom>
          <a:solidFill>
            <a:srgbClr val="2E7D32"/>
          </a:solidFill>
          <a:ln w="12700">
            <a:solidFill>
              <a:srgbClr val="2E7D32"/>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API login is way faster than clicking the login form — saves seconds on every test</a:t>
            </a:r>
            <a:endParaRPr lang="en-US" sz="1300" dirty="0"/>
          </a:p>
        </p:txBody>
      </p:sp>
      <p:sp>
        <p:nvSpPr>
          <p:cNvPr id="14" name="Text 12"/>
          <p:cNvSpPr/>
          <p:nvPr/>
        </p:nvSpPr>
        <p:spPr>
          <a:xfrm>
            <a:off x="8321040" y="2103120"/>
            <a:ext cx="320040" cy="685800"/>
          </a:xfrm>
          <a:prstGeom prst="rect">
            <a:avLst/>
          </a:prstGeom>
          <a:noFill/>
          <a:ln/>
        </p:spPr>
        <p:txBody>
          <a:bodyPr wrap="square" lIns="0" tIns="0" rIns="0" bIns="0" rtlCol="0" anchor="ctr"/>
          <a:lstStyle/>
          <a:p>
            <a:pPr algn="ctr" indent="0" marL="0">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sp>
      <p:sp>
        <p:nvSpPr>
          <p:cNvPr id="17" name="Text 15"/>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It's the only way to log in</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sp>
      <p:sp>
        <p:nvSpPr>
          <p:cNvPr id="21" name="Text 19"/>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To test the API login form</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sp>
      <p:sp>
        <p:nvSpPr>
          <p:cNvPr id="25" name="Text 23"/>
          <p:cNvSpPr/>
          <p:nvPr/>
        </p:nvSpPr>
        <p:spPr>
          <a:xfrm>
            <a:off x="685800" y="4114800"/>
            <a:ext cx="7863840" cy="640080"/>
          </a:xfrm>
          <a:prstGeom prst="rect">
            <a:avLst/>
          </a:prstGeom>
          <a:noFill/>
          <a:ln/>
        </p:spPr>
        <p:txBody>
          <a:bodyPr wrap="square" lIns="0" tIns="0" rIns="0" bIns="0" rtlCol="0" anchor="ctr"/>
          <a:lstStyle/>
          <a:p>
            <a:pPr indent="0" marL="0">
              <a:buNone/>
            </a:pPr>
            <a:r>
              <a:rPr lang="en-US" sz="1100" b="1" dirty="0">
                <a:solidFill>
                  <a:srgbClr val="F5B700"/>
                </a:solidFill>
                <a:latin typeface="Calibri" pitchFamily="34" charset="0"/>
                <a:ea typeface="Calibri" pitchFamily="34" charset="-122"/>
                <a:cs typeface="Calibri" pitchFamily="34" charset="-120"/>
              </a:rPr>
              <a:t>Why: </a:t>
            </a:r>
            <a:pPr indent="0" marL="0">
              <a:buNone/>
            </a:pPr>
            <a:r>
              <a:rPr lang="en-US" sz="1100" dirty="0">
                <a:solidFill>
                  <a:srgbClr val="1A1A2E"/>
                </a:solidFill>
                <a:latin typeface="Calibri" pitchFamily="34" charset="0"/>
                <a:ea typeface="Calibri" pitchFamily="34" charset="-122"/>
                <a:cs typeface="Calibri" pitchFamily="34" charset="-120"/>
              </a:rPr>
              <a:t>Logging in via API takes ~50ms. Logging in by typing email + password + clicking Sign in takes 2-3 seconds per test. Multiply by 100 tests = saving 4-5 minutes per run. The UI part of each test only tests what's unique to that test.</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31520" y="2011680"/>
            <a:ext cx="548640" cy="73152"/>
          </a:xfrm>
          <a:prstGeom prst="rect">
            <a:avLst/>
          </a:prstGeom>
          <a:solidFill>
            <a:srgbClr val="7C4DFF"/>
          </a:solidFill>
          <a:ln w="12700">
            <a:solidFill>
              <a:srgbClr val="7C4DFF"/>
            </a:solidFill>
            <a:prstDash val="solid"/>
          </a:ln>
        </p:spPr>
      </p:sp>
      <p:sp>
        <p:nvSpPr>
          <p:cNvPr id="3" name="Text 1"/>
          <p:cNvSpPr/>
          <p:nvPr/>
        </p:nvSpPr>
        <p:spPr>
          <a:xfrm>
            <a:off x="731520" y="2148840"/>
            <a:ext cx="8229600" cy="365760"/>
          </a:xfrm>
          <a:prstGeom prst="rect">
            <a:avLst/>
          </a:prstGeom>
          <a:noFill/>
          <a:ln/>
        </p:spPr>
        <p:txBody>
          <a:bodyPr wrap="square" rtlCol="0" anchor="ctr"/>
          <a:lstStyle/>
          <a:p>
            <a:pPr indent="0" marL="0">
              <a:buNone/>
            </a:pPr>
            <a:r>
              <a:rPr lang="en-US" sz="1400" b="1" spc="800" kern="0" dirty="0">
                <a:solidFill>
                  <a:srgbClr val="7C4DFF"/>
                </a:solidFill>
                <a:latin typeface="Calibri" pitchFamily="34" charset="0"/>
                <a:ea typeface="Calibri" pitchFamily="34" charset="-122"/>
                <a:cs typeface="Calibri" pitchFamily="34" charset="-120"/>
              </a:rPr>
              <a:t>PART 2</a:t>
            </a:r>
            <a:endParaRPr lang="en-US" sz="1400" dirty="0"/>
          </a:p>
        </p:txBody>
      </p:sp>
      <p:sp>
        <p:nvSpPr>
          <p:cNvPr id="4" name="Text 2"/>
          <p:cNvSpPr/>
          <p:nvPr/>
        </p:nvSpPr>
        <p:spPr>
          <a:xfrm>
            <a:off x="731520" y="2560320"/>
            <a:ext cx="8229600" cy="82296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Copilot for API Testing</a:t>
            </a:r>
            <a:endParaRPr lang="en-US" sz="3800" dirty="0"/>
          </a:p>
        </p:txBody>
      </p:sp>
      <p:sp>
        <p:nvSpPr>
          <p:cNvPr id="5" name="Text 3"/>
          <p:cNvSpPr/>
          <p:nvPr/>
        </p:nvSpPr>
        <p:spPr>
          <a:xfrm>
            <a:off x="731520" y="3337560"/>
            <a:ext cx="8229600" cy="502920"/>
          </a:xfrm>
          <a:prstGeom prst="rect">
            <a:avLst/>
          </a:prstGeom>
          <a:noFill/>
          <a:ln/>
        </p:spPr>
        <p:txBody>
          <a:bodyPr wrap="square" lIns="0" tIns="0" rIns="0" bIns="0" rtlCol="0" anchor="ctr"/>
          <a:lstStyle/>
          <a:p>
            <a:pPr indent="0" marL="0">
              <a:buNone/>
            </a:pPr>
            <a:r>
              <a:rPr lang="en-US" sz="1300" i="1" dirty="0">
                <a:solidFill>
                  <a:srgbClr val="CADCFC"/>
                </a:solidFill>
                <a:latin typeface="Georgia" pitchFamily="34" charset="0"/>
                <a:ea typeface="Georgia" pitchFamily="34" charset="-122"/>
                <a:cs typeface="Georgia" pitchFamily="34" charset="-120"/>
              </a:rPr>
              <a:t>Paste an endpoint spec → get the full test. Paste a slow UI test → get a fast API-driven one.</a:t>
            </a:r>
            <a:endParaRPr lang="en-US" sz="1300" dirty="0"/>
          </a:p>
        </p:txBody>
      </p:sp>
      <p:sp>
        <p:nvSpPr>
          <p:cNvPr id="6" name="Text 4"/>
          <p:cNvSpPr/>
          <p:nvPr/>
        </p:nvSpPr>
        <p:spPr>
          <a:xfrm>
            <a:off x="731520" y="4023360"/>
            <a:ext cx="8229600" cy="320040"/>
          </a:xfrm>
          <a:prstGeom prst="rect">
            <a:avLst/>
          </a:prstGeom>
          <a:noFill/>
          <a:ln/>
        </p:spPr>
        <p:txBody>
          <a:bodyPr wrap="square" lIns="0" tIns="0" rIns="0" bIns="0" rtlCol="0" anchor="ctr"/>
          <a:lstStyle/>
          <a:p>
            <a:pPr indent="0" marL="0">
              <a:buNone/>
            </a:pPr>
            <a:r>
              <a:rPr lang="en-US" sz="1200" spc="400" kern="0" dirty="0">
                <a:solidFill>
                  <a:srgbClr val="7C4DFF"/>
                </a:solidFill>
                <a:latin typeface="Calibri" pitchFamily="34" charset="0"/>
                <a:ea typeface="Calibri" pitchFamily="34" charset="-122"/>
                <a:cs typeface="Calibri" pitchFamily="34" charset="-120"/>
              </a:rPr>
              <a:t>⏱  30 minutes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Live: Generate API Test from a Spec</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Describe the endpoint — Copilot writes the cy.request call AND the assertions</a:t>
            </a:r>
            <a:endParaRPr lang="en-US" sz="1300" dirty="0"/>
          </a:p>
        </p:txBody>
      </p:sp>
      <p:sp>
        <p:nvSpPr>
          <p:cNvPr id="4" name="Text 2"/>
          <p:cNvSpPr/>
          <p:nvPr/>
        </p:nvSpPr>
        <p:spPr>
          <a:xfrm>
            <a:off x="457200" y="1188720"/>
            <a:ext cx="4023360" cy="274320"/>
          </a:xfrm>
          <a:prstGeom prst="rect">
            <a:avLst/>
          </a:prstGeom>
          <a:noFill/>
          <a:ln/>
        </p:spPr>
        <p:txBody>
          <a:bodyPr wrap="square" lIns="0" tIns="0" rIns="0" bIns="0" rtlCol="0" anchor="ctr"/>
          <a:lstStyle/>
          <a:p>
            <a:pPr indent="0" marL="0">
              <a:buNone/>
            </a:pPr>
            <a:r>
              <a:rPr lang="en-US" sz="1100" b="1" spc="200" kern="0" dirty="0">
                <a:solidFill>
                  <a:srgbClr val="7C4DFF"/>
                </a:solidFill>
                <a:latin typeface="Calibri" pitchFamily="34" charset="0"/>
                <a:ea typeface="Calibri" pitchFamily="34" charset="-122"/>
                <a:cs typeface="Calibri" pitchFamily="34" charset="-120"/>
              </a:rPr>
              <a:t>Your prompt</a:t>
            </a:r>
            <a:endParaRPr lang="en-US" sz="1100" dirty="0"/>
          </a:p>
        </p:txBody>
      </p:sp>
      <p:sp>
        <p:nvSpPr>
          <p:cNvPr id="5" name="Shape 3"/>
          <p:cNvSpPr/>
          <p:nvPr/>
        </p:nvSpPr>
        <p:spPr>
          <a:xfrm>
            <a:off x="457200" y="1508760"/>
            <a:ext cx="4023360" cy="3108960"/>
          </a:xfrm>
          <a:prstGeom prst="rect">
            <a:avLst/>
          </a:prstGeom>
          <a:solidFill>
            <a:srgbClr val="0F1A3A"/>
          </a:solidFill>
          <a:ln w="12700">
            <a:solidFill>
              <a:srgbClr val="0F1A3A"/>
            </a:solidFill>
            <a:prstDash val="solid"/>
          </a:ln>
        </p:spPr>
      </p:sp>
      <p:sp>
        <p:nvSpPr>
          <p:cNvPr id="6" name="Text 4"/>
          <p:cNvSpPr/>
          <p:nvPr/>
        </p:nvSpPr>
        <p:spPr>
          <a:xfrm>
            <a:off x="640080" y="1600200"/>
            <a:ext cx="3749040" cy="3017520"/>
          </a:xfrm>
          <a:prstGeom prst="rect">
            <a:avLst/>
          </a:prstGeom>
          <a:noFill/>
          <a:ln/>
        </p:spPr>
        <p:txBody>
          <a:bodyPr wrap="square" lIns="0" tIns="0" rIns="0" bIns="0" rtlCol="0" anchor="t"/>
          <a:lstStyle/>
          <a:p>
            <a:pPr indent="0" marL="0">
              <a:spcAft>
                <a:spcPts val="100"/>
              </a:spcAft>
              <a:buNone/>
            </a:pPr>
            <a:r>
              <a:rPr lang="en-US" sz="1050" dirty="0">
                <a:solidFill>
                  <a:srgbClr val="B8A8F0"/>
                </a:solidFill>
                <a:latin typeface="Consolas" pitchFamily="34" charset="0"/>
                <a:ea typeface="Consolas" pitchFamily="34" charset="-122"/>
                <a:cs typeface="Consolas" pitchFamily="34" charset="-120"/>
              </a:rPr>
              <a:t>&gt; Cypress test for the</a:t>
            </a:r>
            <a:endParaRPr lang="en-US" sz="1050" dirty="0"/>
          </a:p>
          <a:p>
            <a:pPr indent="0" marL="0">
              <a:spcAft>
                <a:spcPts val="100"/>
              </a:spcAft>
              <a:buNone/>
            </a:pPr>
            <a:r>
              <a:rPr lang="en-US" sz="1050" dirty="0">
                <a:solidFill>
                  <a:srgbClr val="B8A8F0"/>
                </a:solidFill>
                <a:latin typeface="Consolas" pitchFamily="34" charset="0"/>
                <a:ea typeface="Consolas" pitchFamily="34" charset="-122"/>
                <a:cs typeface="Consolas" pitchFamily="34" charset="-120"/>
              </a:rPr>
              <a:t>  Create Order API:</a:t>
            </a:r>
            <a:endParaRPr lang="en-US" sz="1050" dirty="0"/>
          </a:p>
          <a:p>
            <a:pPr indent="0" marL="0">
              <a:spcAft>
                <a:spcPts val="100"/>
              </a:spcAft>
              <a:buNone/>
            </a:pPr>
            <a:r>
              <a:rPr lang="en-US" sz="1050" dirty="0">
                <a:solidFill>
                  <a:srgbClr val="000000"/>
                </a:solidFill>
              </a:rPr>
              <a:t> </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POST /api/orders</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auth: Bearer abc123</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body: { product, qty }</a:t>
            </a:r>
            <a:endParaRPr lang="en-US" sz="1050" dirty="0"/>
          </a:p>
          <a:p>
            <a:pPr indent="0" marL="0">
              <a:spcAft>
                <a:spcPts val="100"/>
              </a:spcAft>
              <a:buNone/>
            </a:pPr>
            <a:r>
              <a:rPr lang="en-US" sz="1050" dirty="0">
                <a:solidFill>
                  <a:srgbClr val="000000"/>
                </a:solidFill>
              </a:rPr>
              <a:t> </a:t>
            </a:r>
            <a:endParaRPr lang="en-US" sz="1050" dirty="0"/>
          </a:p>
          <a:p>
            <a:pPr indent="0" marL="0">
              <a:spcAft>
                <a:spcPts val="100"/>
              </a:spcAft>
              <a:buNone/>
            </a:pPr>
            <a:r>
              <a:rPr lang="en-US" sz="1050" dirty="0">
                <a:solidFill>
                  <a:srgbClr val="B8A8F0"/>
                </a:solidFill>
                <a:latin typeface="Consolas" pitchFamily="34" charset="0"/>
                <a:ea typeface="Consolas" pitchFamily="34" charset="-122"/>
                <a:cs typeface="Consolas" pitchFamily="34" charset="-120"/>
              </a:rPr>
              <a:t>assert:</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 - status 201</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 - body has id (number)</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 - body.product = "book"</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 - body.qty = 2</a:t>
            </a:r>
            <a:endParaRPr lang="en-US" sz="1050" dirty="0"/>
          </a:p>
          <a:p>
            <a:pPr indent="0" marL="0">
              <a:spcAft>
                <a:spcPts val="100"/>
              </a:spcAft>
              <a:buNone/>
            </a:pPr>
            <a:r>
              <a:rPr lang="en-US" sz="1050" dirty="0">
                <a:solidFill>
                  <a:srgbClr val="E2E8F0"/>
                </a:solidFill>
                <a:latin typeface="Consolas" pitchFamily="34" charset="0"/>
                <a:ea typeface="Consolas" pitchFamily="34" charset="-122"/>
                <a:cs typeface="Consolas" pitchFamily="34" charset="-120"/>
              </a:rPr>
              <a:t> - content-type json</a:t>
            </a:r>
            <a:endParaRPr lang="en-US" sz="1050" dirty="0"/>
          </a:p>
        </p:txBody>
      </p:sp>
      <p:sp>
        <p:nvSpPr>
          <p:cNvPr id="7" name="Text 5"/>
          <p:cNvSpPr/>
          <p:nvPr/>
        </p:nvSpPr>
        <p:spPr>
          <a:xfrm>
            <a:off x="4663440" y="1188720"/>
            <a:ext cx="4023360" cy="274320"/>
          </a:xfrm>
          <a:prstGeom prst="rect">
            <a:avLst/>
          </a:prstGeom>
          <a:noFill/>
          <a:ln/>
        </p:spPr>
        <p:txBody>
          <a:bodyPr wrap="square" lIns="0" tIns="0" rIns="0" bIns="0" rtlCol="0" anchor="ctr"/>
          <a:lstStyle/>
          <a:p>
            <a:pPr indent="0" marL="0">
              <a:buNone/>
            </a:pPr>
            <a:r>
              <a:rPr lang="en-US" sz="1100" b="1" spc="200" kern="0" dirty="0">
                <a:solidFill>
                  <a:srgbClr val="7C4DFF"/>
                </a:solidFill>
                <a:latin typeface="Calibri" pitchFamily="34" charset="0"/>
                <a:ea typeface="Calibri" pitchFamily="34" charset="-122"/>
                <a:cs typeface="Calibri" pitchFamily="34" charset="-120"/>
              </a:rPr>
              <a:t>Copilot writes orders.cy.js</a:t>
            </a:r>
            <a:endParaRPr lang="en-US" sz="1100" dirty="0"/>
          </a:p>
        </p:txBody>
      </p:sp>
      <p:sp>
        <p:nvSpPr>
          <p:cNvPr id="8" name="Shape 6"/>
          <p:cNvSpPr/>
          <p:nvPr/>
        </p:nvSpPr>
        <p:spPr>
          <a:xfrm>
            <a:off x="4663440" y="1508760"/>
            <a:ext cx="4023360" cy="3108960"/>
          </a:xfrm>
          <a:prstGeom prst="rect">
            <a:avLst/>
          </a:prstGeom>
          <a:solidFill>
            <a:srgbClr val="0F1A3A"/>
          </a:solidFill>
          <a:ln w="12700">
            <a:solidFill>
              <a:srgbClr val="0F1A3A"/>
            </a:solidFill>
            <a:prstDash val="solid"/>
          </a:ln>
        </p:spPr>
      </p:sp>
      <p:sp>
        <p:nvSpPr>
          <p:cNvPr id="9" name="Text 7"/>
          <p:cNvSpPr/>
          <p:nvPr/>
        </p:nvSpPr>
        <p:spPr>
          <a:xfrm>
            <a:off x="4846320" y="1600200"/>
            <a:ext cx="3749040" cy="3017520"/>
          </a:xfrm>
          <a:prstGeom prst="rect">
            <a:avLst/>
          </a:prstGeom>
          <a:noFill/>
          <a:ln/>
        </p:spPr>
        <p:txBody>
          <a:bodyPr wrap="square" lIns="0" tIns="0" rIns="0" bIns="0" rtlCol="0" anchor="t"/>
          <a:lstStyle/>
          <a:p>
            <a:pPr indent="0" marL="0">
              <a:spcAft>
                <a:spcPts val="100"/>
              </a:spcAft>
              <a:buNone/>
            </a:pPr>
            <a:r>
              <a:rPr lang="en-US" sz="850" dirty="0">
                <a:solidFill>
                  <a:srgbClr val="F06292"/>
                </a:solidFill>
                <a:latin typeface="Consolas" pitchFamily="34" charset="0"/>
                <a:ea typeface="Consolas" pitchFamily="34" charset="-122"/>
                <a:cs typeface="Consolas" pitchFamily="34" charset="-120"/>
              </a:rPr>
              <a:t>it(</a:t>
            </a:r>
            <a:pPr indent="0" marL="0">
              <a:spcAft>
                <a:spcPts val="100"/>
              </a:spcAft>
              <a:buNone/>
            </a:pPr>
            <a:r>
              <a:rPr lang="en-US" sz="850" dirty="0">
                <a:solidFill>
                  <a:srgbClr val="FFD54F"/>
                </a:solidFill>
                <a:latin typeface="Consolas" pitchFamily="34" charset="0"/>
                <a:ea typeface="Consolas" pitchFamily="34" charset="-122"/>
                <a:cs typeface="Consolas" pitchFamily="34" charset="-120"/>
              </a:rPr>
              <a:t>"creates an order"</a:t>
            </a:r>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 =&gt; {</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cy.request({</a:t>
            </a:r>
            <a:endParaRPr lang="en-US" sz="850" dirty="0"/>
          </a:p>
          <a:p>
            <a:pPr indent="0" marL="0">
              <a:spcAft>
                <a:spcPts val="100"/>
              </a:spcAft>
              <a:buNone/>
            </a:pPr>
            <a:r>
              <a:rPr lang="en-US" sz="850" dirty="0">
                <a:solidFill>
                  <a:srgbClr val="81D4FA"/>
                </a:solidFill>
                <a:latin typeface="Consolas" pitchFamily="34" charset="0"/>
                <a:ea typeface="Consolas" pitchFamily="34" charset="-122"/>
                <a:cs typeface="Consolas" pitchFamily="34" charset="-120"/>
              </a:rPr>
              <a:t>    method: </a:t>
            </a:r>
            <a:pPr indent="0" marL="0">
              <a:spcAft>
                <a:spcPts val="100"/>
              </a:spcAft>
              <a:buNone/>
            </a:pPr>
            <a:r>
              <a:rPr lang="en-US" sz="850" dirty="0">
                <a:solidFill>
                  <a:srgbClr val="FFD54F"/>
                </a:solidFill>
                <a:latin typeface="Consolas" pitchFamily="34" charset="0"/>
                <a:ea typeface="Consolas" pitchFamily="34" charset="-122"/>
                <a:cs typeface="Consolas" pitchFamily="34" charset="-120"/>
              </a:rPr>
              <a:t>"POST"</a:t>
            </a:r>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spcAft>
                <a:spcPts val="100"/>
              </a:spcAft>
              <a:buNone/>
            </a:pPr>
            <a:r>
              <a:rPr lang="en-US" sz="850" dirty="0">
                <a:solidFill>
                  <a:srgbClr val="81D4FA"/>
                </a:solidFill>
                <a:latin typeface="Consolas" pitchFamily="34" charset="0"/>
                <a:ea typeface="Consolas" pitchFamily="34" charset="-122"/>
                <a:cs typeface="Consolas" pitchFamily="34" charset="-120"/>
              </a:rPr>
              <a:t>    url: </a:t>
            </a:r>
            <a:pPr indent="0" marL="0">
              <a:spcAft>
                <a:spcPts val="100"/>
              </a:spcAft>
              <a:buNone/>
            </a:pPr>
            <a:r>
              <a:rPr lang="en-US" sz="850" dirty="0">
                <a:solidFill>
                  <a:srgbClr val="FFD54F"/>
                </a:solidFill>
                <a:latin typeface="Consolas" pitchFamily="34" charset="0"/>
                <a:ea typeface="Consolas" pitchFamily="34" charset="-122"/>
                <a:cs typeface="Consolas" pitchFamily="34" charset="-120"/>
              </a:rPr>
              <a:t>"/api/orders"</a:t>
            </a:r>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spcAft>
                <a:spcPts val="100"/>
              </a:spcAft>
              <a:buNone/>
            </a:pPr>
            <a:r>
              <a:rPr lang="en-US" sz="850" dirty="0">
                <a:solidFill>
                  <a:srgbClr val="81D4FA"/>
                </a:solidFill>
                <a:latin typeface="Consolas" pitchFamily="34" charset="0"/>
                <a:ea typeface="Consolas" pitchFamily="34" charset="-122"/>
                <a:cs typeface="Consolas" pitchFamily="34" charset="-120"/>
              </a:rPr>
              <a:t>    headers: { Authorization:</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a:t>
            </a:r>
            <a:pPr indent="0" marL="0">
              <a:spcAft>
                <a:spcPts val="100"/>
              </a:spcAft>
              <a:buNone/>
            </a:pPr>
            <a:r>
              <a:rPr lang="en-US" sz="850" dirty="0">
                <a:solidFill>
                  <a:srgbClr val="FFD54F"/>
                </a:solidFill>
                <a:latin typeface="Consolas" pitchFamily="34" charset="0"/>
                <a:ea typeface="Consolas" pitchFamily="34" charset="-122"/>
                <a:cs typeface="Consolas" pitchFamily="34" charset="-120"/>
              </a:rPr>
              <a:t>"Bearer abc123"</a:t>
            </a:r>
            <a:pPr indent="0" marL="0">
              <a:spcAft>
                <a:spcPts val="100"/>
              </a:spcAft>
              <a:buNone/>
            </a:pPr>
            <a:r>
              <a:rPr lang="en-US" sz="850" dirty="0">
                <a:solidFill>
                  <a:srgbClr val="81D4FA"/>
                </a:solidFill>
                <a:latin typeface="Consolas" pitchFamily="34" charset="0"/>
                <a:ea typeface="Consolas" pitchFamily="34" charset="-122"/>
                <a:cs typeface="Consolas" pitchFamily="34" charset="-120"/>
              </a:rPr>
              <a:t> },</a:t>
            </a:r>
            <a:endParaRPr lang="en-US" sz="850" dirty="0"/>
          </a:p>
          <a:p>
            <a:pPr indent="0" marL="0">
              <a:spcAft>
                <a:spcPts val="100"/>
              </a:spcAft>
              <a:buNone/>
            </a:pPr>
            <a:r>
              <a:rPr lang="en-US" sz="850" dirty="0">
                <a:solidFill>
                  <a:srgbClr val="81D4FA"/>
                </a:solidFill>
                <a:latin typeface="Consolas" pitchFamily="34" charset="0"/>
                <a:ea typeface="Consolas" pitchFamily="34" charset="-122"/>
                <a:cs typeface="Consolas" pitchFamily="34" charset="-120"/>
              </a:rPr>
              <a:t>    body: { product: </a:t>
            </a:r>
            <a:pPr indent="0" marL="0">
              <a:spcAft>
                <a:spcPts val="100"/>
              </a:spcAft>
              <a:buNone/>
            </a:pPr>
            <a:r>
              <a:rPr lang="en-US" sz="850" dirty="0">
                <a:solidFill>
                  <a:srgbClr val="FFD54F"/>
                </a:solidFill>
                <a:latin typeface="Consolas" pitchFamily="34" charset="0"/>
                <a:ea typeface="Consolas" pitchFamily="34" charset="-122"/>
                <a:cs typeface="Consolas" pitchFamily="34" charset="-120"/>
              </a:rPr>
              <a:t>"book"</a:t>
            </a:r>
            <a:pPr indent="0" marL="0">
              <a:spcAft>
                <a:spcPts val="100"/>
              </a:spcAft>
              <a:buNone/>
            </a:pPr>
            <a:r>
              <a:rPr lang="en-US" sz="850" dirty="0">
                <a:solidFill>
                  <a:srgbClr val="81D4FA"/>
                </a:solidFill>
                <a:latin typeface="Consolas" pitchFamily="34" charset="0"/>
                <a:ea typeface="Consolas" pitchFamily="34" charset="-122"/>
                <a:cs typeface="Consolas" pitchFamily="34" charset="-120"/>
              </a:rPr>
              <a:t>, qty: </a:t>
            </a:r>
            <a:pPr indent="0" marL="0">
              <a:spcAft>
                <a:spcPts val="100"/>
              </a:spcAft>
              <a:buNone/>
            </a:pPr>
            <a:r>
              <a:rPr lang="en-US" sz="850" dirty="0">
                <a:solidFill>
                  <a:srgbClr val="F06292"/>
                </a:solidFill>
                <a:latin typeface="Consolas" pitchFamily="34" charset="0"/>
                <a:ea typeface="Consolas" pitchFamily="34" charset="-122"/>
                <a:cs typeface="Consolas" pitchFamily="34" charset="-120"/>
              </a:rPr>
              <a:t>2</a:t>
            </a:r>
            <a:pPr indent="0" marL="0">
              <a:spcAft>
                <a:spcPts val="100"/>
              </a:spcAft>
              <a:buNone/>
            </a:pPr>
            <a:r>
              <a:rPr lang="en-US" sz="850" dirty="0">
                <a:solidFill>
                  <a:srgbClr val="81D4FA"/>
                </a:solidFill>
                <a:latin typeface="Consolas" pitchFamily="34" charset="0"/>
                <a:ea typeface="Consolas" pitchFamily="34" charset="-122"/>
                <a:cs typeface="Consolas" pitchFamily="34" charset="-120"/>
              </a:rPr>
              <a:t> }</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}).then((res) =&gt; {</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expect(res.status).to.eq(</a:t>
            </a:r>
            <a:pPr indent="0" marL="0">
              <a:spcAft>
                <a:spcPts val="100"/>
              </a:spcAft>
              <a:buNone/>
            </a:pPr>
            <a:r>
              <a:rPr lang="en-US" sz="850" dirty="0">
                <a:solidFill>
                  <a:srgbClr val="F06292"/>
                </a:solidFill>
                <a:latin typeface="Consolas" pitchFamily="34" charset="0"/>
                <a:ea typeface="Consolas" pitchFamily="34" charset="-122"/>
                <a:cs typeface="Consolas" pitchFamily="34" charset="-120"/>
              </a:rPr>
              <a:t>201</a:t>
            </a:r>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expect(res.body).to.have.property(</a:t>
            </a:r>
            <a:pPr indent="0" marL="0">
              <a:spcAft>
                <a:spcPts val="100"/>
              </a:spcAft>
              <a:buNone/>
            </a:pPr>
            <a:r>
              <a:rPr lang="en-US" sz="850" dirty="0">
                <a:solidFill>
                  <a:srgbClr val="FFD54F"/>
                </a:solidFill>
                <a:latin typeface="Consolas" pitchFamily="34" charset="0"/>
                <a:ea typeface="Consolas" pitchFamily="34" charset="-122"/>
                <a:cs typeface="Consolas" pitchFamily="34" charset="-120"/>
              </a:rPr>
              <a:t>"id"</a:t>
            </a:r>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expect(res.body.product).to.eq(</a:t>
            </a:r>
            <a:pPr indent="0" marL="0">
              <a:spcAft>
                <a:spcPts val="100"/>
              </a:spcAft>
              <a:buNone/>
            </a:pPr>
            <a:r>
              <a:rPr lang="en-US" sz="850" dirty="0">
                <a:solidFill>
                  <a:srgbClr val="FFD54F"/>
                </a:solidFill>
                <a:latin typeface="Consolas" pitchFamily="34" charset="0"/>
                <a:ea typeface="Consolas" pitchFamily="34" charset="-122"/>
                <a:cs typeface="Consolas" pitchFamily="34" charset="-120"/>
              </a:rPr>
              <a:t>"book"</a:t>
            </a:r>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expect(res.body.qty).to.eq(</a:t>
            </a:r>
            <a:pPr indent="0" marL="0">
              <a:spcAft>
                <a:spcPts val="100"/>
              </a:spcAft>
              <a:buNone/>
            </a:pPr>
            <a:r>
              <a:rPr lang="en-US" sz="850" dirty="0">
                <a:solidFill>
                  <a:srgbClr val="F06292"/>
                </a:solidFill>
                <a:latin typeface="Consolas" pitchFamily="34" charset="0"/>
                <a:ea typeface="Consolas" pitchFamily="34" charset="-122"/>
                <a:cs typeface="Consolas" pitchFamily="34" charset="-120"/>
              </a:rPr>
              <a:t>2</a:t>
            </a:r>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spcAft>
                <a:spcPts val="100"/>
              </a:spcAft>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10" name="Text 8"/>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11" name="Text 9"/>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Refactor: UI Setup → API Setup</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200" i="1" dirty="0">
                <a:solidFill>
                  <a:srgbClr val="5B6582"/>
                </a:solidFill>
                <a:latin typeface="Calibri" pitchFamily="34" charset="0"/>
                <a:ea typeface="Calibri" pitchFamily="34" charset="-122"/>
                <a:cs typeface="Calibri" pitchFamily="34" charset="-120"/>
              </a:rPr>
              <a:t>Highlight the test → Edit mode → "replace UI login with cy.request login — keep the rest"</a:t>
            </a:r>
            <a:endParaRPr lang="en-US" sz="1200" dirty="0"/>
          </a:p>
        </p:txBody>
      </p:sp>
      <p:sp>
        <p:nvSpPr>
          <p:cNvPr id="4" name="Text 2"/>
          <p:cNvSpPr/>
          <p:nvPr/>
        </p:nvSpPr>
        <p:spPr>
          <a:xfrm>
            <a:off x="457200" y="1188720"/>
            <a:ext cx="4023360" cy="274320"/>
          </a:xfrm>
          <a:prstGeom prst="rect">
            <a:avLst/>
          </a:prstGeom>
          <a:noFill/>
          <a:ln/>
        </p:spPr>
        <p:txBody>
          <a:bodyPr wrap="square" lIns="0" tIns="0" rIns="0" bIns="0" rtlCol="0" anchor="ctr"/>
          <a:lstStyle/>
          <a:p>
            <a:pPr indent="0" marL="0">
              <a:buNone/>
            </a:pPr>
            <a:r>
              <a:rPr lang="en-US" sz="1200" b="1" spc="200" kern="0" dirty="0">
                <a:solidFill>
                  <a:srgbClr val="C62828"/>
                </a:solidFill>
                <a:latin typeface="Calibri" pitchFamily="34" charset="0"/>
                <a:ea typeface="Calibri" pitchFamily="34" charset="-122"/>
                <a:cs typeface="Calibri" pitchFamily="34" charset="-120"/>
              </a:rPr>
              <a:t>Before — slow UI login</a:t>
            </a:r>
            <a:endParaRPr lang="en-US" sz="1200" dirty="0"/>
          </a:p>
        </p:txBody>
      </p:sp>
      <p:sp>
        <p:nvSpPr>
          <p:cNvPr id="5" name="Shape 3"/>
          <p:cNvSpPr/>
          <p:nvPr/>
        </p:nvSpPr>
        <p:spPr>
          <a:xfrm>
            <a:off x="457200" y="1508760"/>
            <a:ext cx="4023360" cy="3108960"/>
          </a:xfrm>
          <a:prstGeom prst="rect">
            <a:avLst/>
          </a:prstGeom>
          <a:solidFill>
            <a:srgbClr val="0F1A3A"/>
          </a:solidFill>
          <a:ln w="12700">
            <a:solidFill>
              <a:srgbClr val="0F1A3A"/>
            </a:solidFill>
            <a:prstDash val="solid"/>
          </a:ln>
        </p:spPr>
      </p:sp>
      <p:sp>
        <p:nvSpPr>
          <p:cNvPr id="6" name="Text 4"/>
          <p:cNvSpPr/>
          <p:nvPr/>
        </p:nvSpPr>
        <p:spPr>
          <a:xfrm>
            <a:off x="640080" y="1600200"/>
            <a:ext cx="3749040" cy="3017520"/>
          </a:xfrm>
          <a:prstGeom prst="rect">
            <a:avLst/>
          </a:prstGeom>
          <a:noFill/>
          <a:ln/>
        </p:spPr>
        <p:txBody>
          <a:bodyPr wrap="square" lIns="0" tIns="0" rIns="0" bIns="0" rtlCol="0" anchor="t"/>
          <a:lstStyle/>
          <a:p>
            <a:pPr indent="0" marL="0">
              <a:spcAft>
                <a:spcPts val="100"/>
              </a:spcAft>
              <a:buNone/>
            </a:pPr>
            <a:r>
              <a:rPr lang="en-US" sz="950" dirty="0">
                <a:solidFill>
                  <a:srgbClr val="F06292"/>
                </a:solidFill>
                <a:latin typeface="Consolas" pitchFamily="34" charset="0"/>
                <a:ea typeface="Consolas" pitchFamily="34" charset="-122"/>
                <a:cs typeface="Consolas" pitchFamily="34" charset="-120"/>
              </a:rPr>
              <a:t>it(</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"adds item to cart"</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 =&gt; {</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cy.visit(</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"/login"</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cy.get(</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"#email"</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).type(</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"a@b.c"</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cy.get(</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"#pwd"</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).type(</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"1234"</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cy.contains(</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"Sign in"</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).click();</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cy.url().should(</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"include"</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"/home"</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78909C"/>
                </a:solidFill>
                <a:latin typeface="Consolas" pitchFamily="34" charset="0"/>
                <a:ea typeface="Consolas" pitchFamily="34" charset="-122"/>
                <a:cs typeface="Consolas" pitchFamily="34" charset="-120"/>
              </a:rPr>
              <a:t>  </a:t>
            </a:r>
            <a:pPr indent="0" marL="0">
              <a:spcAft>
                <a:spcPts val="100"/>
              </a:spcAft>
              <a:buNone/>
            </a:pPr>
            <a:r>
              <a:rPr lang="en-US" sz="950" dirty="0">
                <a:solidFill>
                  <a:srgbClr val="FF8A80"/>
                </a:solidFill>
                <a:latin typeface="Consolas" pitchFamily="34" charset="0"/>
                <a:ea typeface="Consolas" pitchFamily="34" charset="-122"/>
                <a:cs typeface="Consolas" pitchFamily="34" charset="-120"/>
              </a:rPr>
              <a:t>// ↑ 3 seconds wasted</a:t>
            </a:r>
            <a:endParaRPr lang="en-US" sz="950" dirty="0"/>
          </a:p>
          <a:p>
            <a:pPr indent="0" marL="0">
              <a:spcAft>
                <a:spcPts val="100"/>
              </a:spcAft>
              <a:buNone/>
            </a:pPr>
            <a:r>
              <a:rPr lang="en-US" sz="950" dirty="0">
                <a:solidFill>
                  <a:srgbClr val="000000"/>
                </a:solidFill>
              </a:rPr>
              <a:t> </a:t>
            </a:r>
            <a:endParaRPr lang="en-US" sz="950" dirty="0"/>
          </a:p>
          <a:p>
            <a:pPr indent="0" marL="0">
              <a:spcAft>
                <a:spcPts val="100"/>
              </a:spcAft>
              <a:buNone/>
            </a:pPr>
            <a:r>
              <a:rPr lang="en-US" sz="950" dirty="0">
                <a:solidFill>
                  <a:srgbClr val="78909C"/>
                </a:solidFill>
                <a:latin typeface="Consolas" pitchFamily="34" charset="0"/>
                <a:ea typeface="Consolas" pitchFamily="34" charset="-122"/>
                <a:cs typeface="Consolas" pitchFamily="34" charset="-120"/>
              </a:rPr>
              <a:t>  // actual test: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cy.contains(</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"Add to cart"</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).click();</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p:txBody>
      </p:sp>
      <p:sp>
        <p:nvSpPr>
          <p:cNvPr id="7" name="Text 5"/>
          <p:cNvSpPr/>
          <p:nvPr/>
        </p:nvSpPr>
        <p:spPr>
          <a:xfrm>
            <a:off x="4663440" y="1188720"/>
            <a:ext cx="4023360" cy="274320"/>
          </a:xfrm>
          <a:prstGeom prst="rect">
            <a:avLst/>
          </a:prstGeom>
          <a:noFill/>
          <a:ln/>
        </p:spPr>
        <p:txBody>
          <a:bodyPr wrap="square" lIns="0" tIns="0" rIns="0" bIns="0" rtlCol="0" anchor="ctr"/>
          <a:lstStyle/>
          <a:p>
            <a:pPr indent="0" marL="0">
              <a:buNone/>
            </a:pPr>
            <a:r>
              <a:rPr lang="en-US" sz="1200" b="1" spc="200" kern="0" dirty="0">
                <a:solidFill>
                  <a:srgbClr val="2E7D32"/>
                </a:solidFill>
                <a:latin typeface="Calibri" pitchFamily="34" charset="0"/>
                <a:ea typeface="Calibri" pitchFamily="34" charset="-122"/>
                <a:cs typeface="Calibri" pitchFamily="34" charset="-120"/>
              </a:rPr>
              <a:t>After — fast API login</a:t>
            </a:r>
            <a:endParaRPr lang="en-US" sz="1200" dirty="0"/>
          </a:p>
        </p:txBody>
      </p:sp>
      <p:sp>
        <p:nvSpPr>
          <p:cNvPr id="8" name="Shape 6"/>
          <p:cNvSpPr/>
          <p:nvPr/>
        </p:nvSpPr>
        <p:spPr>
          <a:xfrm>
            <a:off x="4663440" y="1508760"/>
            <a:ext cx="4023360" cy="3108960"/>
          </a:xfrm>
          <a:prstGeom prst="rect">
            <a:avLst/>
          </a:prstGeom>
          <a:solidFill>
            <a:srgbClr val="0F1A3A"/>
          </a:solidFill>
          <a:ln w="12700">
            <a:solidFill>
              <a:srgbClr val="0F1A3A"/>
            </a:solidFill>
            <a:prstDash val="solid"/>
          </a:ln>
        </p:spPr>
      </p:sp>
      <p:sp>
        <p:nvSpPr>
          <p:cNvPr id="9" name="Text 7"/>
          <p:cNvSpPr/>
          <p:nvPr/>
        </p:nvSpPr>
        <p:spPr>
          <a:xfrm>
            <a:off x="4846320" y="1600200"/>
            <a:ext cx="3749040" cy="3017520"/>
          </a:xfrm>
          <a:prstGeom prst="rect">
            <a:avLst/>
          </a:prstGeom>
          <a:noFill/>
          <a:ln/>
        </p:spPr>
        <p:txBody>
          <a:bodyPr wrap="square" lIns="0" tIns="0" rIns="0" bIns="0" rtlCol="0" anchor="t"/>
          <a:lstStyle/>
          <a:p>
            <a:pPr indent="0" marL="0">
              <a:spcAft>
                <a:spcPts val="100"/>
              </a:spcAft>
              <a:buNone/>
            </a:pPr>
            <a:r>
              <a:rPr lang="en-US" sz="950" dirty="0">
                <a:solidFill>
                  <a:srgbClr val="F06292"/>
                </a:solidFill>
                <a:latin typeface="Consolas" pitchFamily="34" charset="0"/>
                <a:ea typeface="Consolas" pitchFamily="34" charset="-122"/>
                <a:cs typeface="Consolas" pitchFamily="34" charset="-120"/>
              </a:rPr>
              <a:t>it(</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"adds item to cart"</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 =&gt; {</a:t>
            </a:r>
            <a:endParaRPr lang="en-US" sz="950" dirty="0"/>
          </a:p>
          <a:p>
            <a:pPr indent="0" marL="0">
              <a:spcAft>
                <a:spcPts val="100"/>
              </a:spcAft>
              <a:buNone/>
            </a:pPr>
            <a:r>
              <a:rPr lang="en-US" sz="950" dirty="0">
                <a:solidFill>
                  <a:srgbClr val="78909C"/>
                </a:solidFill>
                <a:latin typeface="Consolas" pitchFamily="34" charset="0"/>
                <a:ea typeface="Consolas" pitchFamily="34" charset="-122"/>
                <a:cs typeface="Consolas" pitchFamily="34" charset="-120"/>
              </a:rPr>
              <a:t>  </a:t>
            </a:r>
            <a:pPr indent="0" marL="0">
              <a:spcAft>
                <a:spcPts val="100"/>
              </a:spcAft>
              <a:buNone/>
            </a:pPr>
            <a:r>
              <a:rPr lang="en-US" sz="950" dirty="0">
                <a:solidFill>
                  <a:srgbClr val="9FBF6A"/>
                </a:solidFill>
                <a:latin typeface="Consolas" pitchFamily="34" charset="0"/>
                <a:ea typeface="Consolas" pitchFamily="34" charset="-122"/>
                <a:cs typeface="Consolas" pitchFamily="34" charset="-120"/>
              </a:rPr>
              <a:t>// log in via API — fast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cy.request(</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"POST"</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"/api/login"</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a:t>
            </a:r>
            <a:endParaRPr lang="en-US" sz="950" dirty="0"/>
          </a:p>
          <a:p>
            <a:pPr indent="0" marL="0">
              <a:spcAft>
                <a:spcPts val="100"/>
              </a:spcAft>
              <a:buNone/>
            </a:pPr>
            <a:r>
              <a:rPr lang="en-US" sz="950" dirty="0">
                <a:solidFill>
                  <a:srgbClr val="81D4FA"/>
                </a:solidFill>
                <a:latin typeface="Consolas" pitchFamily="34" charset="0"/>
                <a:ea typeface="Consolas" pitchFamily="34" charset="-122"/>
                <a:cs typeface="Consolas" pitchFamily="34" charset="-120"/>
              </a:rPr>
              <a:t>    email: </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"a@b.c"</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81D4FA"/>
                </a:solidFill>
                <a:latin typeface="Consolas" pitchFamily="34" charset="0"/>
                <a:ea typeface="Consolas" pitchFamily="34" charset="-122"/>
                <a:cs typeface="Consolas" pitchFamily="34" charset="-120"/>
              </a:rPr>
              <a:t>    password: </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"1234"</a:t>
            </a:r>
            <a:pPr indent="0" marL="0">
              <a:spcAft>
                <a:spcPts val="100"/>
              </a:spcAft>
              <a:buNone/>
            </a:pP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a:t>
            </a:r>
            <a:endParaRPr lang="en-US" sz="950" dirty="0"/>
          </a:p>
          <a:p>
            <a:pPr indent="0" marL="0">
              <a:spcAft>
                <a:spcPts val="100"/>
              </a:spcAft>
              <a:buNone/>
            </a:pPr>
            <a:r>
              <a:rPr lang="en-US" sz="950" dirty="0">
                <a:solidFill>
                  <a:srgbClr val="78909C"/>
                </a:solidFill>
                <a:latin typeface="Consolas" pitchFamily="34" charset="0"/>
                <a:ea typeface="Consolas" pitchFamily="34" charset="-122"/>
                <a:cs typeface="Consolas" pitchFamily="34" charset="-120"/>
              </a:rPr>
              <a:t>  </a:t>
            </a:r>
            <a:pPr indent="0" marL="0">
              <a:spcAft>
                <a:spcPts val="100"/>
              </a:spcAft>
              <a:buNone/>
            </a:pPr>
            <a:r>
              <a:rPr lang="en-US" sz="950" dirty="0">
                <a:solidFill>
                  <a:srgbClr val="9FBF6A"/>
                </a:solidFill>
                <a:latin typeface="Consolas" pitchFamily="34" charset="0"/>
                <a:ea typeface="Consolas" pitchFamily="34" charset="-122"/>
                <a:cs typeface="Consolas" pitchFamily="34" charset="-120"/>
              </a:rPr>
              <a:t>// ↑ ~50ms total</a:t>
            </a:r>
            <a:endParaRPr lang="en-US" sz="950" dirty="0"/>
          </a:p>
          <a:p>
            <a:pPr indent="0" marL="0">
              <a:spcAft>
                <a:spcPts val="100"/>
              </a:spcAft>
              <a:buNone/>
            </a:pPr>
            <a:r>
              <a:rPr lang="en-US" sz="950" dirty="0">
                <a:solidFill>
                  <a:srgbClr val="000000"/>
                </a:solidFill>
              </a:rPr>
              <a:t> </a:t>
            </a:r>
            <a:endParaRPr lang="en-US" sz="950" dirty="0"/>
          </a:p>
          <a:p>
            <a:pPr indent="0" marL="0">
              <a:spcAft>
                <a:spcPts val="100"/>
              </a:spcAft>
              <a:buNone/>
            </a:pPr>
            <a:r>
              <a:rPr lang="en-US" sz="950" dirty="0">
                <a:solidFill>
                  <a:srgbClr val="78909C"/>
                </a:solidFill>
                <a:latin typeface="Consolas" pitchFamily="34" charset="0"/>
                <a:ea typeface="Consolas" pitchFamily="34" charset="-122"/>
                <a:cs typeface="Consolas" pitchFamily="34" charset="-120"/>
              </a:rPr>
              <a:t>  // straight to the test: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cy.visit(</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"/products"</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  cy.contains(</a:t>
            </a:r>
            <a:pPr indent="0" marL="0">
              <a:spcAft>
                <a:spcPts val="100"/>
              </a:spcAft>
              <a:buNone/>
            </a:pPr>
            <a:r>
              <a:rPr lang="en-US" sz="950" dirty="0">
                <a:solidFill>
                  <a:srgbClr val="FFD54F"/>
                </a:solidFill>
                <a:latin typeface="Consolas" pitchFamily="34" charset="0"/>
                <a:ea typeface="Consolas" pitchFamily="34" charset="-122"/>
                <a:cs typeface="Consolas" pitchFamily="34" charset="-120"/>
              </a:rPr>
              <a:t>"Add to cart"</a:t>
            </a:r>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).click();</a:t>
            </a:r>
            <a:endParaRPr lang="en-US" sz="950" dirty="0"/>
          </a:p>
          <a:p>
            <a:pPr indent="0" marL="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p:txBody>
      </p:sp>
      <p:sp>
        <p:nvSpPr>
          <p:cNvPr id="10" name="Text 8"/>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11" name="Text 9"/>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Use Copilot Well — Three Principles</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Especially important with API tests — wrong data or wrong status code hides real bugs</a:t>
            </a:r>
            <a:endParaRPr lang="en-US" sz="1300" dirty="0"/>
          </a:p>
        </p:txBody>
      </p:sp>
      <p:sp>
        <p:nvSpPr>
          <p:cNvPr id="4" name="Shape 2"/>
          <p:cNvSpPr/>
          <p:nvPr/>
        </p:nvSpPr>
        <p:spPr>
          <a:xfrm>
            <a:off x="457200" y="1280160"/>
            <a:ext cx="2651760" cy="3337560"/>
          </a:xfrm>
          <a:prstGeom prst="rect">
            <a:avLst/>
          </a:prstGeom>
          <a:solidFill>
            <a:srgbClr val="F7F9FC"/>
          </a:solidFill>
          <a:ln w="12700">
            <a:solidFill>
              <a:srgbClr val="F7F9FC"/>
            </a:solidFill>
            <a:prstDash val="solid"/>
          </a:ln>
        </p:spPr>
      </p:sp>
      <p:sp>
        <p:nvSpPr>
          <p:cNvPr id="5" name="Shape 3"/>
          <p:cNvSpPr/>
          <p:nvPr/>
        </p:nvSpPr>
        <p:spPr>
          <a:xfrm>
            <a:off x="457200" y="1280160"/>
            <a:ext cx="2651760" cy="914400"/>
          </a:xfrm>
          <a:prstGeom prst="rect">
            <a:avLst/>
          </a:prstGeom>
          <a:solidFill>
            <a:srgbClr val="7C4DFF"/>
          </a:solidFill>
          <a:ln w="12700">
            <a:solidFill>
              <a:srgbClr val="7C4DFF"/>
            </a:solidFill>
            <a:prstDash val="solid"/>
          </a:ln>
        </p:spPr>
      </p:sp>
      <p:sp>
        <p:nvSpPr>
          <p:cNvPr id="6" name="Text 4"/>
          <p:cNvSpPr/>
          <p:nvPr/>
        </p:nvSpPr>
        <p:spPr>
          <a:xfrm>
            <a:off x="457200" y="1371600"/>
            <a:ext cx="265176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7" name="Text 5"/>
          <p:cNvSpPr/>
          <p:nvPr/>
        </p:nvSpPr>
        <p:spPr>
          <a:xfrm>
            <a:off x="548640" y="1828800"/>
            <a:ext cx="246888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Use clear prompts</a:t>
            </a:r>
            <a:endParaRPr lang="en-US" sz="1300" dirty="0"/>
          </a:p>
        </p:txBody>
      </p:sp>
      <p:sp>
        <p:nvSpPr>
          <p:cNvPr id="8" name="Text 6"/>
          <p:cNvSpPr/>
          <p:nvPr/>
        </p:nvSpPr>
        <p:spPr>
          <a:xfrm>
            <a:off x="457200" y="2286000"/>
            <a:ext cx="2651760" cy="365760"/>
          </a:xfrm>
          <a:prstGeom prst="rect">
            <a:avLst/>
          </a:prstGeom>
          <a:noFill/>
          <a:ln/>
        </p:spPr>
        <p:txBody>
          <a:bodyPr wrap="square" lIns="0" tIns="0" rIns="0" bIns="0" rtlCol="0" anchor="ctr"/>
          <a:lstStyle/>
          <a:p>
            <a:pPr algn="ctr" indent="0" marL="0">
              <a:buNone/>
            </a:pPr>
            <a:r>
              <a:rPr lang="en-US" sz="2200" b="1" dirty="0">
                <a:solidFill>
                  <a:srgbClr val="F5B700"/>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594360" y="2697480"/>
            <a:ext cx="237744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Better Copilot output</a:t>
            </a:r>
            <a:endParaRPr lang="en-US" sz="1400" dirty="0"/>
          </a:p>
        </p:txBody>
      </p:sp>
      <p:sp>
        <p:nvSpPr>
          <p:cNvPr id="10" name="Shape 8"/>
          <p:cNvSpPr/>
          <p:nvPr/>
        </p:nvSpPr>
        <p:spPr>
          <a:xfrm>
            <a:off x="914400" y="3154680"/>
            <a:ext cx="1737360" cy="0"/>
          </a:xfrm>
          <a:prstGeom prst="line">
            <a:avLst/>
          </a:prstGeom>
          <a:noFill/>
          <a:ln w="6350">
            <a:solidFill>
              <a:srgbClr val="5B6582"/>
            </a:solidFill>
            <a:prstDash val="solid"/>
          </a:ln>
        </p:spPr>
      </p:sp>
      <p:sp>
        <p:nvSpPr>
          <p:cNvPr id="11" name="Text 9"/>
          <p:cNvSpPr/>
          <p:nvPr/>
        </p:nvSpPr>
        <p:spPr>
          <a:xfrm>
            <a:off x="640080" y="3291840"/>
            <a:ext cx="2331720" cy="1280160"/>
          </a:xfrm>
          <a:prstGeom prst="rect">
            <a:avLst/>
          </a:prstGeom>
          <a:noFill/>
          <a:ln/>
        </p:spPr>
        <p:txBody>
          <a:bodyPr wrap="square" lIns="0" tIns="0" rIns="0" bIns="0" rtlCol="0" anchor="t"/>
          <a:lstStyle/>
          <a:p>
            <a:pPr algn="l" indent="0" marL="0">
              <a:buNone/>
            </a:pPr>
            <a:r>
              <a:rPr lang="en-US" sz="1050" dirty="0">
                <a:solidFill>
                  <a:srgbClr val="1A1A2E"/>
                </a:solidFill>
                <a:latin typeface="Calibri" pitchFamily="34" charset="0"/>
                <a:ea typeface="Calibri" pitchFamily="34" charset="-122"/>
                <a:cs typeface="Calibri" pitchFamily="34" charset="-120"/>
              </a:rPr>
              <a:t>Name the method, the URL, the exact body, the expected status. "Test the API" gives you nothing useful.</a:t>
            </a:r>
            <a:endParaRPr lang="en-US" sz="1050" dirty="0"/>
          </a:p>
        </p:txBody>
      </p:sp>
      <p:sp>
        <p:nvSpPr>
          <p:cNvPr id="12" name="Shape 10"/>
          <p:cNvSpPr/>
          <p:nvPr/>
        </p:nvSpPr>
        <p:spPr>
          <a:xfrm>
            <a:off x="3246120" y="1280160"/>
            <a:ext cx="2651760" cy="3337560"/>
          </a:xfrm>
          <a:prstGeom prst="rect">
            <a:avLst/>
          </a:prstGeom>
          <a:solidFill>
            <a:srgbClr val="F7F9FC"/>
          </a:solidFill>
          <a:ln w="12700">
            <a:solidFill>
              <a:srgbClr val="F7F9FC"/>
            </a:solidFill>
            <a:prstDash val="solid"/>
          </a:ln>
        </p:spPr>
      </p:sp>
      <p:sp>
        <p:nvSpPr>
          <p:cNvPr id="13" name="Shape 11"/>
          <p:cNvSpPr/>
          <p:nvPr/>
        </p:nvSpPr>
        <p:spPr>
          <a:xfrm>
            <a:off x="3246120" y="1280160"/>
            <a:ext cx="2651760" cy="914400"/>
          </a:xfrm>
          <a:prstGeom prst="rect">
            <a:avLst/>
          </a:prstGeom>
          <a:solidFill>
            <a:srgbClr val="7C4DFF"/>
          </a:solidFill>
          <a:ln w="12700">
            <a:solidFill>
              <a:srgbClr val="7C4DFF"/>
            </a:solidFill>
            <a:prstDash val="solid"/>
          </a:ln>
        </p:spPr>
      </p:sp>
      <p:sp>
        <p:nvSpPr>
          <p:cNvPr id="14" name="Text 12"/>
          <p:cNvSpPr/>
          <p:nvPr/>
        </p:nvSpPr>
        <p:spPr>
          <a:xfrm>
            <a:off x="3246120" y="1371600"/>
            <a:ext cx="265176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15" name="Text 13"/>
          <p:cNvSpPr/>
          <p:nvPr/>
        </p:nvSpPr>
        <p:spPr>
          <a:xfrm>
            <a:off x="3337560" y="1828800"/>
            <a:ext cx="246888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Choose the right mode</a:t>
            </a:r>
            <a:endParaRPr lang="en-US" sz="1300" dirty="0"/>
          </a:p>
        </p:txBody>
      </p:sp>
      <p:sp>
        <p:nvSpPr>
          <p:cNvPr id="16" name="Text 14"/>
          <p:cNvSpPr/>
          <p:nvPr/>
        </p:nvSpPr>
        <p:spPr>
          <a:xfrm>
            <a:off x="3246120" y="2286000"/>
            <a:ext cx="2651760" cy="365760"/>
          </a:xfrm>
          <a:prstGeom prst="rect">
            <a:avLst/>
          </a:prstGeom>
          <a:noFill/>
          <a:ln/>
        </p:spPr>
        <p:txBody>
          <a:bodyPr wrap="square" lIns="0" tIns="0" rIns="0" bIns="0" rtlCol="0" anchor="ctr"/>
          <a:lstStyle/>
          <a:p>
            <a:pPr algn="ctr" indent="0" marL="0">
              <a:buNone/>
            </a:pPr>
            <a:r>
              <a:rPr lang="en-US" sz="2200" b="1" dirty="0">
                <a:solidFill>
                  <a:srgbClr val="F5B700"/>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3383280" y="2697480"/>
            <a:ext cx="237744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Faster productivity</a:t>
            </a:r>
            <a:endParaRPr lang="en-US" sz="1400" dirty="0"/>
          </a:p>
        </p:txBody>
      </p:sp>
      <p:sp>
        <p:nvSpPr>
          <p:cNvPr id="18" name="Shape 16"/>
          <p:cNvSpPr/>
          <p:nvPr/>
        </p:nvSpPr>
        <p:spPr>
          <a:xfrm>
            <a:off x="3703320" y="3154680"/>
            <a:ext cx="1737360" cy="0"/>
          </a:xfrm>
          <a:prstGeom prst="line">
            <a:avLst/>
          </a:prstGeom>
          <a:noFill/>
          <a:ln w="6350">
            <a:solidFill>
              <a:srgbClr val="5B6582"/>
            </a:solidFill>
            <a:prstDash val="solid"/>
          </a:ln>
        </p:spPr>
      </p:sp>
      <p:sp>
        <p:nvSpPr>
          <p:cNvPr id="19" name="Text 17"/>
          <p:cNvSpPr/>
          <p:nvPr/>
        </p:nvSpPr>
        <p:spPr>
          <a:xfrm>
            <a:off x="3429000" y="3291840"/>
            <a:ext cx="2331720" cy="1280160"/>
          </a:xfrm>
          <a:prstGeom prst="rect">
            <a:avLst/>
          </a:prstGeom>
          <a:noFill/>
          <a:ln/>
        </p:spPr>
        <p:txBody>
          <a:bodyPr wrap="square" lIns="0" tIns="0" rIns="0" bIns="0" rtlCol="0" anchor="t"/>
          <a:lstStyle/>
          <a:p>
            <a:pPr algn="l" indent="0" marL="0">
              <a:buNone/>
            </a:pPr>
            <a:r>
              <a:rPr lang="en-US" sz="1050" dirty="0">
                <a:solidFill>
                  <a:srgbClr val="1A1A2E"/>
                </a:solidFill>
                <a:latin typeface="Calibri" pitchFamily="34" charset="0"/>
                <a:ea typeface="Calibri" pitchFamily="34" charset="-122"/>
                <a:cs typeface="Calibri" pitchFamily="34" charset="-120"/>
              </a:rPr>
              <a:t>Ask for explanations · Edit when changing one file · Agent for full test scaffolds across multiple specs.</a:t>
            </a:r>
            <a:endParaRPr lang="en-US" sz="1050" dirty="0"/>
          </a:p>
        </p:txBody>
      </p:sp>
      <p:sp>
        <p:nvSpPr>
          <p:cNvPr id="20" name="Shape 18"/>
          <p:cNvSpPr/>
          <p:nvPr/>
        </p:nvSpPr>
        <p:spPr>
          <a:xfrm>
            <a:off x="6035040" y="1280160"/>
            <a:ext cx="2651760" cy="3337560"/>
          </a:xfrm>
          <a:prstGeom prst="rect">
            <a:avLst/>
          </a:prstGeom>
          <a:solidFill>
            <a:srgbClr val="F7F9FC"/>
          </a:solidFill>
          <a:ln w="12700">
            <a:solidFill>
              <a:srgbClr val="F7F9FC"/>
            </a:solidFill>
            <a:prstDash val="solid"/>
          </a:ln>
        </p:spPr>
      </p:sp>
      <p:sp>
        <p:nvSpPr>
          <p:cNvPr id="21" name="Shape 19"/>
          <p:cNvSpPr/>
          <p:nvPr/>
        </p:nvSpPr>
        <p:spPr>
          <a:xfrm>
            <a:off x="6035040" y="1280160"/>
            <a:ext cx="2651760" cy="914400"/>
          </a:xfrm>
          <a:prstGeom prst="rect">
            <a:avLst/>
          </a:prstGeom>
          <a:solidFill>
            <a:srgbClr val="7C4DFF"/>
          </a:solidFill>
          <a:ln w="12700">
            <a:solidFill>
              <a:srgbClr val="7C4DFF"/>
            </a:solidFill>
            <a:prstDash val="solid"/>
          </a:ln>
        </p:spPr>
      </p:sp>
      <p:sp>
        <p:nvSpPr>
          <p:cNvPr id="22" name="Text 20"/>
          <p:cNvSpPr/>
          <p:nvPr/>
        </p:nvSpPr>
        <p:spPr>
          <a:xfrm>
            <a:off x="6035040" y="1371600"/>
            <a:ext cx="265176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23" name="Text 21"/>
          <p:cNvSpPr/>
          <p:nvPr/>
        </p:nvSpPr>
        <p:spPr>
          <a:xfrm>
            <a:off x="6126480" y="1828800"/>
            <a:ext cx="246888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Follow safe prompting</a:t>
            </a:r>
            <a:endParaRPr lang="en-US" sz="1300" dirty="0"/>
          </a:p>
        </p:txBody>
      </p:sp>
      <p:sp>
        <p:nvSpPr>
          <p:cNvPr id="24" name="Text 22"/>
          <p:cNvSpPr/>
          <p:nvPr/>
        </p:nvSpPr>
        <p:spPr>
          <a:xfrm>
            <a:off x="6035040" y="2286000"/>
            <a:ext cx="2651760" cy="365760"/>
          </a:xfrm>
          <a:prstGeom prst="rect">
            <a:avLst/>
          </a:prstGeom>
          <a:noFill/>
          <a:ln/>
        </p:spPr>
        <p:txBody>
          <a:bodyPr wrap="square" lIns="0" tIns="0" rIns="0" bIns="0" rtlCol="0" anchor="ctr"/>
          <a:lstStyle/>
          <a:p>
            <a:pPr algn="ctr" indent="0" marL="0">
              <a:buNone/>
            </a:pPr>
            <a:r>
              <a:rPr lang="en-US" sz="2200" b="1" dirty="0">
                <a:solidFill>
                  <a:srgbClr val="F5B700"/>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6172200" y="2697480"/>
            <a:ext cx="237744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Protect data &amp; stability</a:t>
            </a:r>
            <a:endParaRPr lang="en-US" sz="1400" dirty="0"/>
          </a:p>
        </p:txBody>
      </p:sp>
      <p:sp>
        <p:nvSpPr>
          <p:cNvPr id="26" name="Shape 24"/>
          <p:cNvSpPr/>
          <p:nvPr/>
        </p:nvSpPr>
        <p:spPr>
          <a:xfrm>
            <a:off x="6492240" y="3154680"/>
            <a:ext cx="1737360" cy="0"/>
          </a:xfrm>
          <a:prstGeom prst="line">
            <a:avLst/>
          </a:prstGeom>
          <a:noFill/>
          <a:ln w="6350">
            <a:solidFill>
              <a:srgbClr val="5B6582"/>
            </a:solidFill>
            <a:prstDash val="solid"/>
          </a:ln>
        </p:spPr>
      </p:sp>
      <p:sp>
        <p:nvSpPr>
          <p:cNvPr id="27" name="Text 25"/>
          <p:cNvSpPr/>
          <p:nvPr/>
        </p:nvSpPr>
        <p:spPr>
          <a:xfrm>
            <a:off x="6217920" y="3291840"/>
            <a:ext cx="2331720" cy="1280160"/>
          </a:xfrm>
          <a:prstGeom prst="rect">
            <a:avLst/>
          </a:prstGeom>
          <a:noFill/>
          <a:ln/>
        </p:spPr>
        <p:txBody>
          <a:bodyPr wrap="square" lIns="0" tIns="0" rIns="0" bIns="0" rtlCol="0" anchor="t"/>
          <a:lstStyle/>
          <a:p>
            <a:pPr algn="l" indent="0" marL="0">
              <a:buNone/>
            </a:pPr>
            <a:r>
              <a:rPr lang="en-US" sz="1050" dirty="0">
                <a:solidFill>
                  <a:srgbClr val="1A1A2E"/>
                </a:solidFill>
                <a:latin typeface="Calibri" pitchFamily="34" charset="0"/>
                <a:ea typeface="Calibri" pitchFamily="34" charset="-122"/>
                <a:cs typeface="Calibri" pitchFamily="34" charset="-120"/>
              </a:rPr>
              <a:t>Never paste production tokens, real auth headers, or live customer IDs. Use stub values for examples.</a:t>
            </a:r>
            <a:endParaRPr lang="en-US" sz="1050" dirty="0"/>
          </a:p>
        </p:txBody>
      </p:sp>
      <p:sp>
        <p:nvSpPr>
          <p:cNvPr id="28" name="Text 26"/>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29" name="Text 27"/>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Tips  &amp;  Tricks for API Testing</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Things that make Copilot generate sharper, more useful API test code</a:t>
            </a:r>
            <a:endParaRPr lang="en-US" sz="1300" dirty="0"/>
          </a:p>
        </p:txBody>
      </p:sp>
      <p:sp>
        <p:nvSpPr>
          <p:cNvPr id="4" name="Shape 2"/>
          <p:cNvSpPr/>
          <p:nvPr/>
        </p:nvSpPr>
        <p:spPr>
          <a:xfrm>
            <a:off x="457200" y="1188720"/>
            <a:ext cx="4023360" cy="1051560"/>
          </a:xfrm>
          <a:prstGeom prst="rect">
            <a:avLst/>
          </a:prstGeom>
          <a:solidFill>
            <a:srgbClr val="F7F9FC"/>
          </a:solidFill>
          <a:ln w="12700">
            <a:solidFill>
              <a:srgbClr val="F7F9FC"/>
            </a:solidFill>
            <a:prstDash val="solid"/>
          </a:ln>
        </p:spPr>
      </p:sp>
      <p:sp>
        <p:nvSpPr>
          <p:cNvPr id="5" name="Shape 3"/>
          <p:cNvSpPr/>
          <p:nvPr/>
        </p:nvSpPr>
        <p:spPr>
          <a:xfrm>
            <a:off x="457200" y="1188720"/>
            <a:ext cx="73152" cy="1051560"/>
          </a:xfrm>
          <a:prstGeom prst="rect">
            <a:avLst/>
          </a:prstGeom>
          <a:solidFill>
            <a:srgbClr val="7C4DFF"/>
          </a:solidFill>
          <a:ln w="12700">
            <a:solidFill>
              <a:srgbClr val="7C4DFF"/>
            </a:solidFill>
            <a:prstDash val="solid"/>
          </a:ln>
        </p:spPr>
      </p:sp>
      <p:sp>
        <p:nvSpPr>
          <p:cNvPr id="6" name="Text 4"/>
          <p:cNvSpPr/>
          <p:nvPr/>
        </p:nvSpPr>
        <p:spPr>
          <a:xfrm>
            <a:off x="640080" y="1261872"/>
            <a:ext cx="457200" cy="36576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143000" y="1261872"/>
            <a:ext cx="324612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Paste real API specs</a:t>
            </a:r>
            <a:endParaRPr lang="en-US" sz="1200" dirty="0"/>
          </a:p>
        </p:txBody>
      </p:sp>
      <p:sp>
        <p:nvSpPr>
          <p:cNvPr id="8" name="Text 6"/>
          <p:cNvSpPr/>
          <p:nvPr/>
        </p:nvSpPr>
        <p:spPr>
          <a:xfrm>
            <a:off x="640080" y="1645920"/>
            <a:ext cx="3749040" cy="5486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OpenAPI snippet, Postman screenshot, or 5 lines of "POST /x with body { ... } → returns 201" — all work.</a:t>
            </a:r>
            <a:endParaRPr lang="en-US" sz="1050" dirty="0"/>
          </a:p>
        </p:txBody>
      </p:sp>
      <p:sp>
        <p:nvSpPr>
          <p:cNvPr id="9" name="Shape 7"/>
          <p:cNvSpPr/>
          <p:nvPr/>
        </p:nvSpPr>
        <p:spPr>
          <a:xfrm>
            <a:off x="4617720" y="1188720"/>
            <a:ext cx="4023360" cy="1051560"/>
          </a:xfrm>
          <a:prstGeom prst="rect">
            <a:avLst/>
          </a:prstGeom>
          <a:solidFill>
            <a:srgbClr val="F7F9FC"/>
          </a:solidFill>
          <a:ln w="12700">
            <a:solidFill>
              <a:srgbClr val="F7F9FC"/>
            </a:solidFill>
            <a:prstDash val="solid"/>
          </a:ln>
        </p:spPr>
      </p:sp>
      <p:sp>
        <p:nvSpPr>
          <p:cNvPr id="10" name="Shape 8"/>
          <p:cNvSpPr/>
          <p:nvPr/>
        </p:nvSpPr>
        <p:spPr>
          <a:xfrm>
            <a:off x="4617720" y="1188720"/>
            <a:ext cx="73152" cy="1051560"/>
          </a:xfrm>
          <a:prstGeom prst="rect">
            <a:avLst/>
          </a:prstGeom>
          <a:solidFill>
            <a:srgbClr val="7C4DFF"/>
          </a:solidFill>
          <a:ln w="12700">
            <a:solidFill>
              <a:srgbClr val="7C4DFF"/>
            </a:solidFill>
            <a:prstDash val="solid"/>
          </a:ln>
        </p:spPr>
      </p:sp>
      <p:sp>
        <p:nvSpPr>
          <p:cNvPr id="11" name="Text 9"/>
          <p:cNvSpPr/>
          <p:nvPr/>
        </p:nvSpPr>
        <p:spPr>
          <a:xfrm>
            <a:off x="4800600" y="1261872"/>
            <a:ext cx="457200" cy="36576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5303520" y="1261872"/>
            <a:ext cx="324612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Ask for negative cases too</a:t>
            </a:r>
            <a:endParaRPr lang="en-US" sz="1200" dirty="0"/>
          </a:p>
        </p:txBody>
      </p:sp>
      <p:sp>
        <p:nvSpPr>
          <p:cNvPr id="13" name="Text 11"/>
          <p:cNvSpPr/>
          <p:nvPr/>
        </p:nvSpPr>
        <p:spPr>
          <a:xfrm>
            <a:off x="4800600" y="1645920"/>
            <a:ext cx="3749040" cy="5486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"also write tests for 401 unauthorized and 422 invalid body" — full coverage in one prompt.</a:t>
            </a:r>
            <a:endParaRPr lang="en-US" sz="1050" dirty="0"/>
          </a:p>
        </p:txBody>
      </p:sp>
      <p:sp>
        <p:nvSpPr>
          <p:cNvPr id="14" name="Shape 12"/>
          <p:cNvSpPr/>
          <p:nvPr/>
        </p:nvSpPr>
        <p:spPr>
          <a:xfrm>
            <a:off x="457200" y="2331720"/>
            <a:ext cx="4023360" cy="1051560"/>
          </a:xfrm>
          <a:prstGeom prst="rect">
            <a:avLst/>
          </a:prstGeom>
          <a:solidFill>
            <a:srgbClr val="F7F9FC"/>
          </a:solidFill>
          <a:ln w="12700">
            <a:solidFill>
              <a:srgbClr val="F7F9FC"/>
            </a:solidFill>
            <a:prstDash val="solid"/>
          </a:ln>
        </p:spPr>
      </p:sp>
      <p:sp>
        <p:nvSpPr>
          <p:cNvPr id="15" name="Shape 13"/>
          <p:cNvSpPr/>
          <p:nvPr/>
        </p:nvSpPr>
        <p:spPr>
          <a:xfrm>
            <a:off x="457200" y="2331720"/>
            <a:ext cx="73152" cy="1051560"/>
          </a:xfrm>
          <a:prstGeom prst="rect">
            <a:avLst/>
          </a:prstGeom>
          <a:solidFill>
            <a:srgbClr val="7C4DFF"/>
          </a:solidFill>
          <a:ln w="12700">
            <a:solidFill>
              <a:srgbClr val="7C4DFF"/>
            </a:solidFill>
            <a:prstDash val="solid"/>
          </a:ln>
        </p:spPr>
      </p:sp>
      <p:sp>
        <p:nvSpPr>
          <p:cNvPr id="16" name="Text 14"/>
          <p:cNvSpPr/>
          <p:nvPr/>
        </p:nvSpPr>
        <p:spPr>
          <a:xfrm>
            <a:off x="640080" y="2404872"/>
            <a:ext cx="457200" cy="36576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143000" y="2404872"/>
            <a:ext cx="324612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Generate stub + real test pair</a:t>
            </a:r>
            <a:endParaRPr lang="en-US" sz="1200" dirty="0"/>
          </a:p>
        </p:txBody>
      </p:sp>
      <p:sp>
        <p:nvSpPr>
          <p:cNvPr id="18" name="Text 16"/>
          <p:cNvSpPr/>
          <p:nvPr/>
        </p:nvSpPr>
        <p:spPr>
          <a:xfrm>
            <a:off x="640080" y="2788920"/>
            <a:ext cx="3749040" cy="5486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"write the same test twice: one with cy.intercept stubbing, one with cy.request hitting the real API."</a:t>
            </a:r>
            <a:endParaRPr lang="en-US" sz="1050" dirty="0"/>
          </a:p>
        </p:txBody>
      </p:sp>
      <p:sp>
        <p:nvSpPr>
          <p:cNvPr id="19" name="Shape 17"/>
          <p:cNvSpPr/>
          <p:nvPr/>
        </p:nvSpPr>
        <p:spPr>
          <a:xfrm>
            <a:off x="4617720" y="2331720"/>
            <a:ext cx="4023360" cy="1051560"/>
          </a:xfrm>
          <a:prstGeom prst="rect">
            <a:avLst/>
          </a:prstGeom>
          <a:solidFill>
            <a:srgbClr val="F7F9FC"/>
          </a:solidFill>
          <a:ln w="12700">
            <a:solidFill>
              <a:srgbClr val="F7F9FC"/>
            </a:solidFill>
            <a:prstDash val="solid"/>
          </a:ln>
        </p:spPr>
      </p:sp>
      <p:sp>
        <p:nvSpPr>
          <p:cNvPr id="20" name="Shape 18"/>
          <p:cNvSpPr/>
          <p:nvPr/>
        </p:nvSpPr>
        <p:spPr>
          <a:xfrm>
            <a:off x="4617720" y="2331720"/>
            <a:ext cx="73152" cy="1051560"/>
          </a:xfrm>
          <a:prstGeom prst="rect">
            <a:avLst/>
          </a:prstGeom>
          <a:solidFill>
            <a:srgbClr val="7C4DFF"/>
          </a:solidFill>
          <a:ln w="12700">
            <a:solidFill>
              <a:srgbClr val="7C4DFF"/>
            </a:solidFill>
            <a:prstDash val="solid"/>
          </a:ln>
        </p:spPr>
      </p:sp>
      <p:sp>
        <p:nvSpPr>
          <p:cNvPr id="21" name="Text 19"/>
          <p:cNvSpPr/>
          <p:nvPr/>
        </p:nvSpPr>
        <p:spPr>
          <a:xfrm>
            <a:off x="4800600" y="2404872"/>
            <a:ext cx="457200" cy="36576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5303520" y="2404872"/>
            <a:ext cx="324612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Mention the auth pattern</a:t>
            </a:r>
            <a:endParaRPr lang="en-US" sz="1200" dirty="0"/>
          </a:p>
        </p:txBody>
      </p:sp>
      <p:sp>
        <p:nvSpPr>
          <p:cNvPr id="23" name="Text 21"/>
          <p:cNvSpPr/>
          <p:nvPr/>
        </p:nvSpPr>
        <p:spPr>
          <a:xfrm>
            <a:off x="4800600" y="2788920"/>
            <a:ext cx="3749040" cy="5486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"Bearer token in Authorization header" vs "cookie-based session" — Copilot picks the right code.</a:t>
            </a:r>
            <a:endParaRPr lang="en-US" sz="1050" dirty="0"/>
          </a:p>
        </p:txBody>
      </p:sp>
      <p:sp>
        <p:nvSpPr>
          <p:cNvPr id="24" name="Shape 22"/>
          <p:cNvSpPr/>
          <p:nvPr/>
        </p:nvSpPr>
        <p:spPr>
          <a:xfrm>
            <a:off x="457200" y="3474720"/>
            <a:ext cx="4023360" cy="1051560"/>
          </a:xfrm>
          <a:prstGeom prst="rect">
            <a:avLst/>
          </a:prstGeom>
          <a:solidFill>
            <a:srgbClr val="F7F9FC"/>
          </a:solidFill>
          <a:ln w="12700">
            <a:solidFill>
              <a:srgbClr val="F7F9FC"/>
            </a:solidFill>
            <a:prstDash val="solid"/>
          </a:ln>
        </p:spPr>
      </p:sp>
      <p:sp>
        <p:nvSpPr>
          <p:cNvPr id="25" name="Shape 23"/>
          <p:cNvSpPr/>
          <p:nvPr/>
        </p:nvSpPr>
        <p:spPr>
          <a:xfrm>
            <a:off x="457200" y="3474720"/>
            <a:ext cx="73152" cy="1051560"/>
          </a:xfrm>
          <a:prstGeom prst="rect">
            <a:avLst/>
          </a:prstGeom>
          <a:solidFill>
            <a:srgbClr val="7C4DFF"/>
          </a:solidFill>
          <a:ln w="12700">
            <a:solidFill>
              <a:srgbClr val="7C4DFF"/>
            </a:solidFill>
            <a:prstDash val="solid"/>
          </a:ln>
        </p:spPr>
      </p:sp>
      <p:sp>
        <p:nvSpPr>
          <p:cNvPr id="26" name="Text 24"/>
          <p:cNvSpPr/>
          <p:nvPr/>
        </p:nvSpPr>
        <p:spPr>
          <a:xfrm>
            <a:off x="640080" y="3547872"/>
            <a:ext cx="457200" cy="36576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1143000" y="3547872"/>
            <a:ext cx="324612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Reuse via Cypress commands</a:t>
            </a:r>
            <a:endParaRPr lang="en-US" sz="1200" dirty="0"/>
          </a:p>
        </p:txBody>
      </p:sp>
      <p:sp>
        <p:nvSpPr>
          <p:cNvPr id="28" name="Text 26"/>
          <p:cNvSpPr/>
          <p:nvPr/>
        </p:nvSpPr>
        <p:spPr>
          <a:xfrm>
            <a:off x="640080" y="3931920"/>
            <a:ext cx="3749040" cy="5486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"wrap this cy.request login into a custom command cy.apiLogin()" — testable, reusable.</a:t>
            </a:r>
            <a:endParaRPr lang="en-US" sz="1050" dirty="0"/>
          </a:p>
        </p:txBody>
      </p:sp>
      <p:sp>
        <p:nvSpPr>
          <p:cNvPr id="29" name="Shape 27"/>
          <p:cNvSpPr/>
          <p:nvPr/>
        </p:nvSpPr>
        <p:spPr>
          <a:xfrm>
            <a:off x="4617720" y="3474720"/>
            <a:ext cx="4023360" cy="1051560"/>
          </a:xfrm>
          <a:prstGeom prst="rect">
            <a:avLst/>
          </a:prstGeom>
          <a:solidFill>
            <a:srgbClr val="F7F9FC"/>
          </a:solidFill>
          <a:ln w="12700">
            <a:solidFill>
              <a:srgbClr val="F7F9FC"/>
            </a:solidFill>
            <a:prstDash val="solid"/>
          </a:ln>
        </p:spPr>
      </p:sp>
      <p:sp>
        <p:nvSpPr>
          <p:cNvPr id="30" name="Shape 28"/>
          <p:cNvSpPr/>
          <p:nvPr/>
        </p:nvSpPr>
        <p:spPr>
          <a:xfrm>
            <a:off x="4617720" y="3474720"/>
            <a:ext cx="73152" cy="1051560"/>
          </a:xfrm>
          <a:prstGeom prst="rect">
            <a:avLst/>
          </a:prstGeom>
          <a:solidFill>
            <a:srgbClr val="7C4DFF"/>
          </a:solidFill>
          <a:ln w="12700">
            <a:solidFill>
              <a:srgbClr val="7C4DFF"/>
            </a:solidFill>
            <a:prstDash val="solid"/>
          </a:ln>
        </p:spPr>
      </p:sp>
      <p:sp>
        <p:nvSpPr>
          <p:cNvPr id="31" name="Text 29"/>
          <p:cNvSpPr/>
          <p:nvPr/>
        </p:nvSpPr>
        <p:spPr>
          <a:xfrm>
            <a:off x="4800600" y="3547872"/>
            <a:ext cx="457200" cy="36576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5303520" y="3547872"/>
            <a:ext cx="324612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Ask for schema assertions</a:t>
            </a:r>
            <a:endParaRPr lang="en-US" sz="1200" dirty="0"/>
          </a:p>
        </p:txBody>
      </p:sp>
      <p:sp>
        <p:nvSpPr>
          <p:cNvPr id="33" name="Text 31"/>
          <p:cNvSpPr/>
          <p:nvPr/>
        </p:nvSpPr>
        <p:spPr>
          <a:xfrm>
            <a:off x="4800600" y="3931920"/>
            <a:ext cx="3749040" cy="5486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"assert the response matches schema: id (number), name (string), roles (array)" → strong contract tests.</a:t>
            </a:r>
            <a:endParaRPr lang="en-US" sz="1050" dirty="0"/>
          </a:p>
        </p:txBody>
      </p:sp>
      <p:sp>
        <p:nvSpPr>
          <p:cNvPr id="34" name="Text 32"/>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35" name="Text 33"/>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Best Practices</a:t>
            </a:r>
            <a:endParaRPr lang="en-US" sz="30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300" i="1" dirty="0">
                <a:solidFill>
                  <a:srgbClr val="5B6582"/>
                </a:solidFill>
                <a:latin typeface="Calibri" pitchFamily="34" charset="0"/>
                <a:ea typeface="Calibri" pitchFamily="34" charset="-122"/>
                <a:cs typeface="Calibri" pitchFamily="34" charset="-120"/>
              </a:rPr>
              <a:t>Habits that keep API tests reliable, fast, and trustworthy in real projects</a:t>
            </a:r>
            <a:endParaRPr lang="en-US" sz="1300" dirty="0"/>
          </a:p>
        </p:txBody>
      </p:sp>
      <p:sp>
        <p:nvSpPr>
          <p:cNvPr id="4" name="Shape 2"/>
          <p:cNvSpPr/>
          <p:nvPr/>
        </p:nvSpPr>
        <p:spPr>
          <a:xfrm>
            <a:off x="457200" y="1188720"/>
            <a:ext cx="8229600" cy="365760"/>
          </a:xfrm>
          <a:prstGeom prst="rect">
            <a:avLst/>
          </a:prstGeom>
          <a:solidFill>
            <a:srgbClr val="1E2761"/>
          </a:solidFill>
          <a:ln w="12700">
            <a:solidFill>
              <a:srgbClr val="1E2761"/>
            </a:solidFill>
            <a:prstDash val="solid"/>
          </a:ln>
        </p:spPr>
      </p:sp>
      <p:sp>
        <p:nvSpPr>
          <p:cNvPr id="5" name="Text 3"/>
          <p:cNvSpPr/>
          <p:nvPr/>
        </p:nvSpPr>
        <p:spPr>
          <a:xfrm>
            <a:off x="548640" y="1188720"/>
            <a:ext cx="4023360" cy="365760"/>
          </a:xfrm>
          <a:prstGeom prst="rect">
            <a:avLst/>
          </a:prstGeom>
          <a:noFill/>
          <a:ln/>
        </p:spPr>
        <p:txBody>
          <a:bodyPr wrap="square" lIns="0" tIns="0" rIns="0" bIns="0" rtlCol="0" anchor="ctr"/>
          <a:lstStyle/>
          <a:p>
            <a:pPr indent="0" marL="0">
              <a:buNone/>
            </a:pPr>
            <a:r>
              <a:rPr lang="en-US" sz="1100" b="1" spc="400" kern="0" dirty="0">
                <a:solidFill>
                  <a:srgbClr val="E8F5E9"/>
                </a:solidFill>
                <a:latin typeface="Calibri" pitchFamily="34" charset="0"/>
                <a:ea typeface="Calibri" pitchFamily="34" charset="-122"/>
                <a:cs typeface="Calibri" pitchFamily="34" charset="-120"/>
              </a:rPr>
              <a:t>DO</a:t>
            </a:r>
            <a:endParaRPr lang="en-US" sz="1100" dirty="0"/>
          </a:p>
        </p:txBody>
      </p:sp>
      <p:sp>
        <p:nvSpPr>
          <p:cNvPr id="6" name="Text 4"/>
          <p:cNvSpPr/>
          <p:nvPr/>
        </p:nvSpPr>
        <p:spPr>
          <a:xfrm>
            <a:off x="4663440" y="1188720"/>
            <a:ext cx="4023360" cy="365760"/>
          </a:xfrm>
          <a:prstGeom prst="rect">
            <a:avLst/>
          </a:prstGeom>
          <a:noFill/>
          <a:ln/>
        </p:spPr>
        <p:txBody>
          <a:bodyPr wrap="square" lIns="0" tIns="0" rIns="0" bIns="0" rtlCol="0" anchor="ctr"/>
          <a:lstStyle/>
          <a:p>
            <a:pPr indent="0" marL="0">
              <a:buNone/>
            </a:pPr>
            <a:r>
              <a:rPr lang="en-US" sz="1100" b="1" spc="400" kern="0" dirty="0">
                <a:solidFill>
                  <a:srgbClr val="FFCDD2"/>
                </a:solidFill>
                <a:latin typeface="Calibri" pitchFamily="34" charset="0"/>
                <a:ea typeface="Calibri" pitchFamily="34" charset="-122"/>
                <a:cs typeface="Calibri" pitchFamily="34" charset="-120"/>
              </a:rPr>
              <a:t>DON'T</a:t>
            </a:r>
            <a:endParaRPr lang="en-US" sz="1100" dirty="0"/>
          </a:p>
        </p:txBody>
      </p:sp>
      <p:sp>
        <p:nvSpPr>
          <p:cNvPr id="7" name="Shape 5"/>
          <p:cNvSpPr/>
          <p:nvPr/>
        </p:nvSpPr>
        <p:spPr>
          <a:xfrm>
            <a:off x="457200" y="1554480"/>
            <a:ext cx="8229600" cy="420624"/>
          </a:xfrm>
          <a:prstGeom prst="rect">
            <a:avLst/>
          </a:prstGeom>
          <a:solidFill>
            <a:srgbClr val="F7F9FC"/>
          </a:solidFill>
          <a:ln w="12700">
            <a:solidFill>
              <a:srgbClr val="F7F9FC"/>
            </a:solidFill>
            <a:prstDash val="solid"/>
          </a:ln>
        </p:spPr>
      </p:sp>
      <p:sp>
        <p:nvSpPr>
          <p:cNvPr id="8" name="Text 6"/>
          <p:cNvSpPr/>
          <p:nvPr/>
        </p:nvSpPr>
        <p:spPr>
          <a:xfrm>
            <a:off x="548640" y="1554480"/>
            <a:ext cx="274320" cy="420624"/>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868680" y="1554480"/>
            <a:ext cx="365760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Use cy.request for setup (login, seed data)</a:t>
            </a:r>
            <a:endParaRPr lang="en-US" sz="1100" dirty="0"/>
          </a:p>
        </p:txBody>
      </p:sp>
      <p:sp>
        <p:nvSpPr>
          <p:cNvPr id="10" name="Text 8"/>
          <p:cNvSpPr/>
          <p:nvPr/>
        </p:nvSpPr>
        <p:spPr>
          <a:xfrm>
            <a:off x="4754880" y="1554480"/>
            <a:ext cx="274320" cy="420624"/>
          </a:xfrm>
          <a:prstGeom prst="rect">
            <a:avLst/>
          </a:prstGeom>
          <a:noFill/>
          <a:ln/>
        </p:spPr>
        <p:txBody>
          <a:bodyPr wrap="square" lIns="0" tIns="0" rIns="0" bIns="0" rtlCol="0" anchor="ctr"/>
          <a:lstStyle/>
          <a:p>
            <a:pPr indent="0" marL="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5074920" y="1554480"/>
            <a:ext cx="352044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Click through the UI just to set state</a:t>
            </a:r>
            <a:endParaRPr lang="en-US" sz="1100" dirty="0"/>
          </a:p>
        </p:txBody>
      </p:sp>
      <p:sp>
        <p:nvSpPr>
          <p:cNvPr id="12" name="Shape 10"/>
          <p:cNvSpPr/>
          <p:nvPr/>
        </p:nvSpPr>
        <p:spPr>
          <a:xfrm>
            <a:off x="457200" y="1975104"/>
            <a:ext cx="8229600" cy="420624"/>
          </a:xfrm>
          <a:prstGeom prst="rect">
            <a:avLst/>
          </a:prstGeom>
          <a:solidFill>
            <a:srgbClr val="FFFFFF"/>
          </a:solidFill>
          <a:ln w="12700">
            <a:solidFill>
              <a:srgbClr val="FFFFFF"/>
            </a:solidFill>
            <a:prstDash val="solid"/>
          </a:ln>
        </p:spPr>
      </p:sp>
      <p:sp>
        <p:nvSpPr>
          <p:cNvPr id="13" name="Text 11"/>
          <p:cNvSpPr/>
          <p:nvPr/>
        </p:nvSpPr>
        <p:spPr>
          <a:xfrm>
            <a:off x="548640" y="1975104"/>
            <a:ext cx="274320" cy="420624"/>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68680" y="1975104"/>
            <a:ext cx="365760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Assert status AND body — both matter</a:t>
            </a:r>
            <a:endParaRPr lang="en-US" sz="1100" dirty="0"/>
          </a:p>
        </p:txBody>
      </p:sp>
      <p:sp>
        <p:nvSpPr>
          <p:cNvPr id="15" name="Text 13"/>
          <p:cNvSpPr/>
          <p:nvPr/>
        </p:nvSpPr>
        <p:spPr>
          <a:xfrm>
            <a:off x="4754880" y="1975104"/>
            <a:ext cx="274320" cy="420624"/>
          </a:xfrm>
          <a:prstGeom prst="rect">
            <a:avLst/>
          </a:prstGeom>
          <a:noFill/>
          <a:ln/>
        </p:spPr>
        <p:txBody>
          <a:bodyPr wrap="square" lIns="0" tIns="0" rIns="0" bIns="0" rtlCol="0" anchor="ctr"/>
          <a:lstStyle/>
          <a:p>
            <a:pPr indent="0" marL="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5074920" y="1975104"/>
            <a:ext cx="352044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Stop at status 200 — bodies can be wrong</a:t>
            </a:r>
            <a:endParaRPr lang="en-US" sz="1100" dirty="0"/>
          </a:p>
        </p:txBody>
      </p:sp>
      <p:sp>
        <p:nvSpPr>
          <p:cNvPr id="17" name="Shape 15"/>
          <p:cNvSpPr/>
          <p:nvPr/>
        </p:nvSpPr>
        <p:spPr>
          <a:xfrm>
            <a:off x="457200" y="2395728"/>
            <a:ext cx="8229600" cy="420624"/>
          </a:xfrm>
          <a:prstGeom prst="rect">
            <a:avLst/>
          </a:prstGeom>
          <a:solidFill>
            <a:srgbClr val="F7F9FC"/>
          </a:solidFill>
          <a:ln w="12700">
            <a:solidFill>
              <a:srgbClr val="F7F9FC"/>
            </a:solidFill>
            <a:prstDash val="solid"/>
          </a:ln>
        </p:spPr>
      </p:sp>
      <p:sp>
        <p:nvSpPr>
          <p:cNvPr id="18" name="Text 16"/>
          <p:cNvSpPr/>
          <p:nvPr/>
        </p:nvSpPr>
        <p:spPr>
          <a:xfrm>
            <a:off x="548640" y="2395728"/>
            <a:ext cx="274320" cy="420624"/>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68680" y="2395728"/>
            <a:ext cx="365760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Stub external APIs you don't control</a:t>
            </a:r>
            <a:endParaRPr lang="en-US" sz="1100" dirty="0"/>
          </a:p>
        </p:txBody>
      </p:sp>
      <p:sp>
        <p:nvSpPr>
          <p:cNvPr id="20" name="Text 18"/>
          <p:cNvSpPr/>
          <p:nvPr/>
        </p:nvSpPr>
        <p:spPr>
          <a:xfrm>
            <a:off x="4754880" y="2395728"/>
            <a:ext cx="274320" cy="420624"/>
          </a:xfrm>
          <a:prstGeom prst="rect">
            <a:avLst/>
          </a:prstGeom>
          <a:noFill/>
          <a:ln/>
        </p:spPr>
        <p:txBody>
          <a:bodyPr wrap="square" lIns="0" tIns="0" rIns="0" bIns="0" rtlCol="0" anchor="ctr"/>
          <a:lstStyle/>
          <a:p>
            <a:pPr indent="0" marL="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5074920" y="2395728"/>
            <a:ext cx="352044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Let a third-party 500 fail your tests</a:t>
            </a:r>
            <a:endParaRPr lang="en-US" sz="1100" dirty="0"/>
          </a:p>
        </p:txBody>
      </p:sp>
      <p:sp>
        <p:nvSpPr>
          <p:cNvPr id="22" name="Shape 20"/>
          <p:cNvSpPr/>
          <p:nvPr/>
        </p:nvSpPr>
        <p:spPr>
          <a:xfrm>
            <a:off x="457200" y="2816352"/>
            <a:ext cx="8229600" cy="420624"/>
          </a:xfrm>
          <a:prstGeom prst="rect">
            <a:avLst/>
          </a:prstGeom>
          <a:solidFill>
            <a:srgbClr val="FFFFFF"/>
          </a:solidFill>
          <a:ln w="12700">
            <a:solidFill>
              <a:srgbClr val="FFFFFF"/>
            </a:solidFill>
            <a:prstDash val="solid"/>
          </a:ln>
        </p:spPr>
      </p:sp>
      <p:sp>
        <p:nvSpPr>
          <p:cNvPr id="23" name="Text 21"/>
          <p:cNvSpPr/>
          <p:nvPr/>
        </p:nvSpPr>
        <p:spPr>
          <a:xfrm>
            <a:off x="548640" y="2816352"/>
            <a:ext cx="274320" cy="420624"/>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868680" y="2816352"/>
            <a:ext cx="365760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Test happy AND error paths (401, 422, 500)</a:t>
            </a:r>
            <a:endParaRPr lang="en-US" sz="1100" dirty="0"/>
          </a:p>
        </p:txBody>
      </p:sp>
      <p:sp>
        <p:nvSpPr>
          <p:cNvPr id="25" name="Text 23"/>
          <p:cNvSpPr/>
          <p:nvPr/>
        </p:nvSpPr>
        <p:spPr>
          <a:xfrm>
            <a:off x="4754880" y="2816352"/>
            <a:ext cx="274320" cy="420624"/>
          </a:xfrm>
          <a:prstGeom prst="rect">
            <a:avLst/>
          </a:prstGeom>
          <a:noFill/>
          <a:ln/>
        </p:spPr>
        <p:txBody>
          <a:bodyPr wrap="square" lIns="0" tIns="0" rIns="0" bIns="0" rtlCol="0" anchor="ctr"/>
          <a:lstStyle/>
          <a:p>
            <a:pPr indent="0" marL="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5074920" y="2816352"/>
            <a:ext cx="352044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Only assert the success case</a:t>
            </a:r>
            <a:endParaRPr lang="en-US" sz="1100" dirty="0"/>
          </a:p>
        </p:txBody>
      </p:sp>
      <p:sp>
        <p:nvSpPr>
          <p:cNvPr id="27" name="Shape 25"/>
          <p:cNvSpPr/>
          <p:nvPr/>
        </p:nvSpPr>
        <p:spPr>
          <a:xfrm>
            <a:off x="457200" y="3236976"/>
            <a:ext cx="8229600" cy="420624"/>
          </a:xfrm>
          <a:prstGeom prst="rect">
            <a:avLst/>
          </a:prstGeom>
          <a:solidFill>
            <a:srgbClr val="F7F9FC"/>
          </a:solidFill>
          <a:ln w="12700">
            <a:solidFill>
              <a:srgbClr val="F7F9FC"/>
            </a:solidFill>
            <a:prstDash val="solid"/>
          </a:ln>
        </p:spPr>
      </p:sp>
      <p:sp>
        <p:nvSpPr>
          <p:cNvPr id="28" name="Text 26"/>
          <p:cNvSpPr/>
          <p:nvPr/>
        </p:nvSpPr>
        <p:spPr>
          <a:xfrm>
            <a:off x="548640" y="3236976"/>
            <a:ext cx="274320" cy="420624"/>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868680" y="3236976"/>
            <a:ext cx="365760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Keep auth tokens in cypress.env.json</a:t>
            </a:r>
            <a:endParaRPr lang="en-US" sz="1100" dirty="0"/>
          </a:p>
        </p:txBody>
      </p:sp>
      <p:sp>
        <p:nvSpPr>
          <p:cNvPr id="30" name="Text 28"/>
          <p:cNvSpPr/>
          <p:nvPr/>
        </p:nvSpPr>
        <p:spPr>
          <a:xfrm>
            <a:off x="4754880" y="3236976"/>
            <a:ext cx="274320" cy="420624"/>
          </a:xfrm>
          <a:prstGeom prst="rect">
            <a:avLst/>
          </a:prstGeom>
          <a:noFill/>
          <a:ln/>
        </p:spPr>
        <p:txBody>
          <a:bodyPr wrap="square" lIns="0" tIns="0" rIns="0" bIns="0" rtlCol="0" anchor="ctr"/>
          <a:lstStyle/>
          <a:p>
            <a:pPr indent="0" marL="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5074920" y="3236976"/>
            <a:ext cx="352044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Hardcode Bearer tokens in tests</a:t>
            </a:r>
            <a:endParaRPr lang="en-US" sz="1100" dirty="0"/>
          </a:p>
        </p:txBody>
      </p:sp>
      <p:sp>
        <p:nvSpPr>
          <p:cNvPr id="32" name="Shape 30"/>
          <p:cNvSpPr/>
          <p:nvPr/>
        </p:nvSpPr>
        <p:spPr>
          <a:xfrm>
            <a:off x="457200" y="3657600"/>
            <a:ext cx="8229600" cy="420624"/>
          </a:xfrm>
          <a:prstGeom prst="rect">
            <a:avLst/>
          </a:prstGeom>
          <a:solidFill>
            <a:srgbClr val="FFFFFF"/>
          </a:solidFill>
          <a:ln w="12700">
            <a:solidFill>
              <a:srgbClr val="FFFFFF"/>
            </a:solidFill>
            <a:prstDash val="solid"/>
          </a:ln>
        </p:spPr>
      </p:sp>
      <p:sp>
        <p:nvSpPr>
          <p:cNvPr id="33" name="Text 31"/>
          <p:cNvSpPr/>
          <p:nvPr/>
        </p:nvSpPr>
        <p:spPr>
          <a:xfrm>
            <a:off x="548640" y="3657600"/>
            <a:ext cx="274320" cy="420624"/>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868680" y="3657600"/>
            <a:ext cx="365760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Match real API contract — update when it changes</a:t>
            </a:r>
            <a:endParaRPr lang="en-US" sz="1100" dirty="0"/>
          </a:p>
        </p:txBody>
      </p:sp>
      <p:sp>
        <p:nvSpPr>
          <p:cNvPr id="35" name="Text 33"/>
          <p:cNvSpPr/>
          <p:nvPr/>
        </p:nvSpPr>
        <p:spPr>
          <a:xfrm>
            <a:off x="4754880" y="3657600"/>
            <a:ext cx="274320" cy="420624"/>
          </a:xfrm>
          <a:prstGeom prst="rect">
            <a:avLst/>
          </a:prstGeom>
          <a:noFill/>
          <a:ln/>
        </p:spPr>
        <p:txBody>
          <a:bodyPr wrap="square" lIns="0" tIns="0" rIns="0" bIns="0" rtlCol="0" anchor="ctr"/>
          <a:lstStyle/>
          <a:p>
            <a:pPr indent="0" marL="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5074920" y="3657600"/>
            <a:ext cx="352044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Let stubs drift from the actual response shape</a:t>
            </a:r>
            <a:endParaRPr lang="en-US" sz="1100" dirty="0"/>
          </a:p>
        </p:txBody>
      </p:sp>
      <p:sp>
        <p:nvSpPr>
          <p:cNvPr id="37" name="Shape 35"/>
          <p:cNvSpPr/>
          <p:nvPr/>
        </p:nvSpPr>
        <p:spPr>
          <a:xfrm>
            <a:off x="457200" y="4078224"/>
            <a:ext cx="8229600" cy="420624"/>
          </a:xfrm>
          <a:prstGeom prst="rect">
            <a:avLst/>
          </a:prstGeom>
          <a:solidFill>
            <a:srgbClr val="F7F9FC"/>
          </a:solidFill>
          <a:ln w="12700">
            <a:solidFill>
              <a:srgbClr val="F7F9FC"/>
            </a:solidFill>
            <a:prstDash val="solid"/>
          </a:ln>
        </p:spPr>
      </p:sp>
      <p:sp>
        <p:nvSpPr>
          <p:cNvPr id="38" name="Text 36"/>
          <p:cNvSpPr/>
          <p:nvPr/>
        </p:nvSpPr>
        <p:spPr>
          <a:xfrm>
            <a:off x="548640" y="4078224"/>
            <a:ext cx="274320" cy="420624"/>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868680" y="4078224"/>
            <a:ext cx="365760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Use Copilot for the boilerplate, verify the contract</a:t>
            </a:r>
            <a:endParaRPr lang="en-US" sz="1100" dirty="0"/>
          </a:p>
        </p:txBody>
      </p:sp>
      <p:sp>
        <p:nvSpPr>
          <p:cNvPr id="40" name="Text 38"/>
          <p:cNvSpPr/>
          <p:nvPr/>
        </p:nvSpPr>
        <p:spPr>
          <a:xfrm>
            <a:off x="4754880" y="4078224"/>
            <a:ext cx="274320" cy="420624"/>
          </a:xfrm>
          <a:prstGeom prst="rect">
            <a:avLst/>
          </a:prstGeom>
          <a:noFill/>
          <a:ln/>
        </p:spPr>
        <p:txBody>
          <a:bodyPr wrap="square" lIns="0" tIns="0" rIns="0" bIns="0" rtlCol="0" anchor="ctr"/>
          <a:lstStyle/>
          <a:p>
            <a:pPr indent="0" marL="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41" name="Text 39"/>
          <p:cNvSpPr/>
          <p:nvPr/>
        </p:nvSpPr>
        <p:spPr>
          <a:xfrm>
            <a:off x="5074920" y="4078224"/>
            <a:ext cx="3520440" cy="4206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Trust Copilot's stub matches your real API</a:t>
            </a:r>
            <a:endParaRPr lang="en-US" sz="1100" dirty="0"/>
          </a:p>
        </p:txBody>
      </p:sp>
      <p:sp>
        <p:nvSpPr>
          <p:cNvPr id="42" name="Text 40"/>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43" name="Text 41"/>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31520" y="2011680"/>
            <a:ext cx="548640" cy="73152"/>
          </a:xfrm>
          <a:prstGeom prst="rect">
            <a:avLst/>
          </a:prstGeom>
          <a:solidFill>
            <a:srgbClr val="7C4DFF"/>
          </a:solidFill>
          <a:ln w="12700">
            <a:solidFill>
              <a:srgbClr val="7C4DFF"/>
            </a:solidFill>
            <a:prstDash val="solid"/>
          </a:ln>
        </p:spPr>
      </p:sp>
      <p:sp>
        <p:nvSpPr>
          <p:cNvPr id="3" name="Text 1"/>
          <p:cNvSpPr/>
          <p:nvPr/>
        </p:nvSpPr>
        <p:spPr>
          <a:xfrm>
            <a:off x="731520" y="2148840"/>
            <a:ext cx="8229600" cy="365760"/>
          </a:xfrm>
          <a:prstGeom prst="rect">
            <a:avLst/>
          </a:prstGeom>
          <a:noFill/>
          <a:ln/>
        </p:spPr>
        <p:txBody>
          <a:bodyPr wrap="square" rtlCol="0" anchor="ctr"/>
          <a:lstStyle/>
          <a:p>
            <a:pPr indent="0" marL="0">
              <a:buNone/>
            </a:pPr>
            <a:r>
              <a:rPr lang="en-US" sz="1400" b="1" spc="800" kern="0" dirty="0">
                <a:solidFill>
                  <a:srgbClr val="7C4DFF"/>
                </a:solidFill>
                <a:latin typeface="Calibri" pitchFamily="34" charset="0"/>
                <a:ea typeface="Calibri" pitchFamily="34" charset="-122"/>
                <a:cs typeface="Calibri" pitchFamily="34" charset="-120"/>
              </a:rPr>
              <a:t>QUICK CHECK</a:t>
            </a:r>
            <a:endParaRPr lang="en-US" sz="1400" dirty="0"/>
          </a:p>
        </p:txBody>
      </p:sp>
      <p:sp>
        <p:nvSpPr>
          <p:cNvPr id="4" name="Text 2"/>
          <p:cNvSpPr/>
          <p:nvPr/>
        </p:nvSpPr>
        <p:spPr>
          <a:xfrm>
            <a:off x="731520" y="2560320"/>
            <a:ext cx="8229600" cy="8229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3 Questions — Copilot for API Testing</a:t>
            </a:r>
            <a:endParaRPr lang="en-US" sz="2800" dirty="0"/>
          </a:p>
        </p:txBody>
      </p:sp>
      <p:sp>
        <p:nvSpPr>
          <p:cNvPr id="5" name="Text 3"/>
          <p:cNvSpPr/>
          <p:nvPr/>
        </p:nvSpPr>
        <p:spPr>
          <a:xfrm>
            <a:off x="731520" y="3429000"/>
            <a:ext cx="8229600" cy="365760"/>
          </a:xfrm>
          <a:prstGeom prst="rect">
            <a:avLst/>
          </a:prstGeom>
          <a:noFill/>
          <a:ln/>
        </p:spPr>
        <p:txBody>
          <a:bodyPr wrap="square" lIns="0" tIns="0" rIns="0" bIns="0" rtlCol="0" anchor="ctr"/>
          <a:lstStyle/>
          <a:p>
            <a:pPr indent="0" marL="0">
              <a:buNone/>
            </a:pPr>
            <a:r>
              <a:rPr lang="en-US" sz="1600" i="1" dirty="0">
                <a:solidFill>
                  <a:srgbClr val="CADCFC"/>
                </a:solidFill>
                <a:latin typeface="Georgia" pitchFamily="34" charset="0"/>
                <a:ea typeface="Georgia" pitchFamily="34" charset="-122"/>
                <a:cs typeface="Georgia" pitchFamily="34" charset="-120"/>
              </a:rPr>
              <a:t>Last three — click to reveal each answer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1E2761"/>
                </a:solidFill>
                <a:latin typeface="Calibri" pitchFamily="34" charset="0"/>
                <a:ea typeface="Calibri" pitchFamily="34" charset="-122"/>
                <a:cs typeface="Calibri" pitchFamily="34" charset="-120"/>
              </a:rPr>
              <a:t>QUESTION 4</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4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Which prompt gives you the most useful API test code on the first try?</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"test the API"</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"Cypress test for POST /api/orders with Authorization: Bearer abc123, body { product, qty }, assert status 201 + body has id"</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sp>
      <p:sp>
        <p:nvSpPr>
          <p:cNvPr id="16" name="Text 14"/>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"write some assertions"</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sp>
      <p:sp>
        <p:nvSpPr>
          <p:cNvPr id="20" name="Text 18"/>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"make API tests please"</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algn="ctr" indent="0" marL="0">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ANSWER 4</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4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Which prompt gives you the most useful API test code on the first try?</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"test the API"</a:t>
            </a:r>
            <a:endParaRPr lang="en-US" sz="1300" dirty="0"/>
          </a:p>
        </p:txBody>
      </p:sp>
      <p:sp>
        <p:nvSpPr>
          <p:cNvPr id="10" name="Shape 8"/>
          <p:cNvSpPr/>
          <p:nvPr/>
        </p:nvSpPr>
        <p:spPr>
          <a:xfrm>
            <a:off x="4663440" y="2103120"/>
            <a:ext cx="4023360" cy="685800"/>
          </a:xfrm>
          <a:prstGeom prst="rect">
            <a:avLst/>
          </a:prstGeom>
          <a:solidFill>
            <a:srgbClr val="E8F5E9"/>
          </a:solidFill>
          <a:ln w="25400">
            <a:solidFill>
              <a:srgbClr val="2E7D32"/>
            </a:solidFill>
            <a:prstDash val="solid"/>
          </a:ln>
        </p:spPr>
      </p:sp>
      <p:sp>
        <p:nvSpPr>
          <p:cNvPr id="11" name="Shape 9"/>
          <p:cNvSpPr/>
          <p:nvPr/>
        </p:nvSpPr>
        <p:spPr>
          <a:xfrm>
            <a:off x="4846320" y="2263140"/>
            <a:ext cx="365760" cy="365760"/>
          </a:xfrm>
          <a:prstGeom prst="ellipse">
            <a:avLst/>
          </a:prstGeom>
          <a:solidFill>
            <a:srgbClr val="2E7D32"/>
          </a:solidFill>
          <a:ln w="12700">
            <a:solidFill>
              <a:srgbClr val="2E7D32"/>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"Cypress test for POST /api/orders with Authorization: Bearer abc123, body { product, qty }, assert status 201 + body has id"</a:t>
            </a:r>
            <a:endParaRPr lang="en-US" sz="1300" dirty="0"/>
          </a:p>
        </p:txBody>
      </p:sp>
      <p:sp>
        <p:nvSpPr>
          <p:cNvPr id="14" name="Text 12"/>
          <p:cNvSpPr/>
          <p:nvPr/>
        </p:nvSpPr>
        <p:spPr>
          <a:xfrm>
            <a:off x="8321040" y="2103120"/>
            <a:ext cx="320040" cy="685800"/>
          </a:xfrm>
          <a:prstGeom prst="rect">
            <a:avLst/>
          </a:prstGeom>
          <a:noFill/>
          <a:ln/>
        </p:spPr>
        <p:txBody>
          <a:bodyPr wrap="square" lIns="0" tIns="0" rIns="0" bIns="0" rtlCol="0" anchor="ctr"/>
          <a:lstStyle/>
          <a:p>
            <a:pPr algn="ctr" indent="0" marL="0">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sp>
      <p:sp>
        <p:nvSpPr>
          <p:cNvPr id="17" name="Text 15"/>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"write some assertions"</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sp>
      <p:sp>
        <p:nvSpPr>
          <p:cNvPr id="21" name="Text 19"/>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"make API tests please"</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sp>
      <p:sp>
        <p:nvSpPr>
          <p:cNvPr id="25" name="Text 23"/>
          <p:cNvSpPr/>
          <p:nvPr/>
        </p:nvSpPr>
        <p:spPr>
          <a:xfrm>
            <a:off x="685800" y="4114800"/>
            <a:ext cx="7863840" cy="640080"/>
          </a:xfrm>
          <a:prstGeom prst="rect">
            <a:avLst/>
          </a:prstGeom>
          <a:noFill/>
          <a:ln/>
        </p:spPr>
        <p:txBody>
          <a:bodyPr wrap="square" lIns="0" tIns="0" rIns="0" bIns="0" rtlCol="0" anchor="ctr"/>
          <a:lstStyle/>
          <a:p>
            <a:pPr indent="0" marL="0">
              <a:buNone/>
            </a:pPr>
            <a:r>
              <a:rPr lang="en-US" sz="1100" b="1" dirty="0">
                <a:solidFill>
                  <a:srgbClr val="F5B700"/>
                </a:solidFill>
                <a:latin typeface="Calibri" pitchFamily="34" charset="0"/>
                <a:ea typeface="Calibri" pitchFamily="34" charset="-122"/>
                <a:cs typeface="Calibri" pitchFamily="34" charset="-120"/>
              </a:rPr>
              <a:t>Why: </a:t>
            </a:r>
            <a:pPr indent="0" marL="0">
              <a:buNone/>
            </a:pPr>
            <a:r>
              <a:rPr lang="en-US" sz="1100" dirty="0">
                <a:solidFill>
                  <a:srgbClr val="1A1A2E"/>
                </a:solidFill>
                <a:latin typeface="Calibri" pitchFamily="34" charset="0"/>
                <a:ea typeface="Calibri" pitchFamily="34" charset="-122"/>
                <a:cs typeface="Calibri" pitchFamily="34" charset="-120"/>
              </a:rPr>
              <a:t>Name the framework, method, URL, auth header, body shape, and expected status + body fields. Specifics → working code. Vague → useless boilerplate.</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1E2761"/>
                </a:solidFill>
                <a:latin typeface="Calibri" pitchFamily="34" charset="0"/>
                <a:ea typeface="Calibri" pitchFamily="34" charset="-122"/>
                <a:cs typeface="Calibri" pitchFamily="34" charset="-120"/>
              </a:rPr>
              <a:t>QUESTION 5</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5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Your UI test starts with a slow login form. What's the right Edit-mode prompt?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"speed this up"</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"make login faster"</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sp>
      <p:sp>
        <p:nvSpPr>
          <p:cNvPr id="16" name="Text 14"/>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"replace the UI login with a cy.request POST to /api/login — keep the rest of the test unchanged"</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sp>
      <p:sp>
        <p:nvSpPr>
          <p:cNvPr id="20" name="Text 18"/>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"refactor"</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algn="ctr" indent="0" marL="0">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ANSWER 5</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5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Your UI test starts with a slow login form. What's the right Edit-mode prompt?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"speed this up"</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"make login faster"</a:t>
            </a:r>
            <a:endParaRPr lang="en-US" sz="1300" dirty="0"/>
          </a:p>
        </p:txBody>
      </p:sp>
      <p:sp>
        <p:nvSpPr>
          <p:cNvPr id="14" name="Shape 12"/>
          <p:cNvSpPr/>
          <p:nvPr/>
        </p:nvSpPr>
        <p:spPr>
          <a:xfrm>
            <a:off x="457200" y="2880360"/>
            <a:ext cx="4023360" cy="685800"/>
          </a:xfrm>
          <a:prstGeom prst="rect">
            <a:avLst/>
          </a:prstGeom>
          <a:solidFill>
            <a:srgbClr val="E8F5E9"/>
          </a:solidFill>
          <a:ln w="25400">
            <a:solidFill>
              <a:srgbClr val="2E7D32"/>
            </a:solidFill>
            <a:prstDash val="solid"/>
          </a:ln>
        </p:spPr>
      </p:sp>
      <p:sp>
        <p:nvSpPr>
          <p:cNvPr id="15" name="Shape 13"/>
          <p:cNvSpPr/>
          <p:nvPr/>
        </p:nvSpPr>
        <p:spPr>
          <a:xfrm>
            <a:off x="640080" y="3040380"/>
            <a:ext cx="365760" cy="365760"/>
          </a:xfrm>
          <a:prstGeom prst="ellipse">
            <a:avLst/>
          </a:prstGeom>
          <a:solidFill>
            <a:srgbClr val="2E7D32"/>
          </a:solidFill>
          <a:ln w="12700">
            <a:solidFill>
              <a:srgbClr val="2E7D32"/>
            </a:solidFill>
            <a:prstDash val="solid"/>
          </a:ln>
        </p:spPr>
      </p:sp>
      <p:sp>
        <p:nvSpPr>
          <p:cNvPr id="16" name="Text 14"/>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"replace the UI login with a cy.request POST to /api/login — keep the rest of the test unchanged"</a:t>
            </a:r>
            <a:endParaRPr lang="en-US" sz="1300" dirty="0"/>
          </a:p>
        </p:txBody>
      </p:sp>
      <p:sp>
        <p:nvSpPr>
          <p:cNvPr id="18" name="Text 16"/>
          <p:cNvSpPr/>
          <p:nvPr/>
        </p:nvSpPr>
        <p:spPr>
          <a:xfrm>
            <a:off x="4114800" y="2880360"/>
            <a:ext cx="320040" cy="685800"/>
          </a:xfrm>
          <a:prstGeom prst="rect">
            <a:avLst/>
          </a:prstGeom>
          <a:noFill/>
          <a:ln/>
        </p:spPr>
        <p:txBody>
          <a:bodyPr wrap="square" lIns="0" tIns="0" rIns="0" bIns="0" rtlCol="0" anchor="ctr"/>
          <a:lstStyle/>
          <a:p>
            <a:pPr algn="ctr" indent="0" marL="0">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sp>
      <p:sp>
        <p:nvSpPr>
          <p:cNvPr id="21" name="Text 19"/>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"refactor"</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sp>
      <p:sp>
        <p:nvSpPr>
          <p:cNvPr id="25" name="Text 23"/>
          <p:cNvSpPr/>
          <p:nvPr/>
        </p:nvSpPr>
        <p:spPr>
          <a:xfrm>
            <a:off x="685800" y="4114800"/>
            <a:ext cx="7863840" cy="640080"/>
          </a:xfrm>
          <a:prstGeom prst="rect">
            <a:avLst/>
          </a:prstGeom>
          <a:noFill/>
          <a:ln/>
        </p:spPr>
        <p:txBody>
          <a:bodyPr wrap="square" lIns="0" tIns="0" rIns="0" bIns="0" rtlCol="0" anchor="ctr"/>
          <a:lstStyle/>
          <a:p>
            <a:pPr indent="0" marL="0">
              <a:buNone/>
            </a:pPr>
            <a:r>
              <a:rPr lang="en-US" sz="1100" b="1" dirty="0">
                <a:solidFill>
                  <a:srgbClr val="F5B700"/>
                </a:solidFill>
                <a:latin typeface="Calibri" pitchFamily="34" charset="0"/>
                <a:ea typeface="Calibri" pitchFamily="34" charset="-122"/>
                <a:cs typeface="Calibri" pitchFamily="34" charset="-120"/>
              </a:rPr>
              <a:t>Why: </a:t>
            </a:r>
            <a:pPr indent="0" marL="0">
              <a:buNone/>
            </a:pPr>
            <a:r>
              <a:rPr lang="en-US" sz="1100" dirty="0">
                <a:solidFill>
                  <a:srgbClr val="1A1A2E"/>
                </a:solidFill>
                <a:latin typeface="Calibri" pitchFamily="34" charset="0"/>
                <a:ea typeface="Calibri" pitchFamily="34" charset="-122"/>
                <a:cs typeface="Calibri" pitchFamily="34" charset="-120"/>
              </a:rPr>
              <a:t>Name the replacement (cy.request), the endpoint (/api/login), AND specify "keep the rest unchanged" so Copilot doesn't accidentally rewrite the actual test you care about.</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1E2761"/>
                </a:solidFill>
                <a:latin typeface="Calibri" pitchFamily="34" charset="0"/>
                <a:ea typeface="Calibri" pitchFamily="34" charset="-122"/>
                <a:cs typeface="Calibri" pitchFamily="34" charset="-120"/>
              </a:rPr>
              <a:t>QUESTION 6</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6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Why ask Copilot for negative-case API tests (401, 422, 500)?</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Cypress requires three test cases per endpoint</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Real APIs return errors and your UI must handle them — error paths are where bugs hide</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sp>
      <p:sp>
        <p:nvSpPr>
          <p:cNvPr id="16" name="Text 14"/>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It makes the test file longer</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sp>
      <p:sp>
        <p:nvSpPr>
          <p:cNvPr id="20" name="Text 18"/>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Status 200 is unreliable</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algn="ctr" indent="0" marL="0">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sp>
      <p:sp>
        <p:nvSpPr>
          <p:cNvPr id="3" name="Text 1"/>
          <p:cNvSpPr/>
          <p:nvPr/>
        </p:nvSpPr>
        <p:spPr>
          <a:xfrm>
            <a:off x="457200" y="365760"/>
            <a:ext cx="118872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ANSWER 6</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algn="r" indent="0" marL="0">
              <a:buNone/>
            </a:pPr>
            <a:r>
              <a:rPr lang="en-US" sz="1100" dirty="0">
                <a:solidFill>
                  <a:srgbClr val="5B6582"/>
                </a:solidFill>
                <a:latin typeface="Calibri" pitchFamily="34" charset="0"/>
                <a:ea typeface="Calibri" pitchFamily="34" charset="-122"/>
                <a:cs typeface="Calibri" pitchFamily="34" charset="-120"/>
              </a:rPr>
              <a:t>6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indent="0" marL="0">
              <a:buNone/>
            </a:pPr>
            <a:r>
              <a:rPr lang="en-US" sz="2200" b="1" dirty="0">
                <a:solidFill>
                  <a:srgbClr val="1E2761"/>
                </a:solidFill>
                <a:latin typeface="Georgia" pitchFamily="34" charset="0"/>
                <a:ea typeface="Georgia" pitchFamily="34" charset="-122"/>
                <a:cs typeface="Georgia" pitchFamily="34" charset="-120"/>
              </a:rPr>
              <a:t>Why ask Copilot for negative-case API tests (401, 422, 500)?</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sp>
      <p:sp>
        <p:nvSpPr>
          <p:cNvPr id="8" name="Text 6"/>
          <p:cNvSpPr/>
          <p:nvPr/>
        </p:nvSpPr>
        <p:spPr>
          <a:xfrm>
            <a:off x="64008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Cypress requires three test cases per endpoint</a:t>
            </a:r>
            <a:endParaRPr lang="en-US" sz="1300" dirty="0"/>
          </a:p>
        </p:txBody>
      </p:sp>
      <p:sp>
        <p:nvSpPr>
          <p:cNvPr id="10" name="Shape 8"/>
          <p:cNvSpPr/>
          <p:nvPr/>
        </p:nvSpPr>
        <p:spPr>
          <a:xfrm>
            <a:off x="4663440" y="2103120"/>
            <a:ext cx="4023360" cy="685800"/>
          </a:xfrm>
          <a:prstGeom prst="rect">
            <a:avLst/>
          </a:prstGeom>
          <a:solidFill>
            <a:srgbClr val="E8F5E9"/>
          </a:solidFill>
          <a:ln w="25400">
            <a:solidFill>
              <a:srgbClr val="2E7D32"/>
            </a:solidFill>
            <a:prstDash val="solid"/>
          </a:ln>
        </p:spPr>
      </p:sp>
      <p:sp>
        <p:nvSpPr>
          <p:cNvPr id="11" name="Shape 9"/>
          <p:cNvSpPr/>
          <p:nvPr/>
        </p:nvSpPr>
        <p:spPr>
          <a:xfrm>
            <a:off x="4846320" y="2263140"/>
            <a:ext cx="365760" cy="365760"/>
          </a:xfrm>
          <a:prstGeom prst="ellipse">
            <a:avLst/>
          </a:prstGeom>
          <a:solidFill>
            <a:srgbClr val="2E7D32"/>
          </a:solidFill>
          <a:ln w="12700">
            <a:solidFill>
              <a:srgbClr val="2E7D32"/>
            </a:solidFill>
            <a:prstDash val="solid"/>
          </a:ln>
        </p:spPr>
      </p:sp>
      <p:sp>
        <p:nvSpPr>
          <p:cNvPr id="12" name="Text 10"/>
          <p:cNvSpPr/>
          <p:nvPr/>
        </p:nvSpPr>
        <p:spPr>
          <a:xfrm>
            <a:off x="4846320" y="2263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Real APIs return errors and your UI must handle them — error paths are where bugs hide</a:t>
            </a:r>
            <a:endParaRPr lang="en-US" sz="1300" dirty="0"/>
          </a:p>
        </p:txBody>
      </p:sp>
      <p:sp>
        <p:nvSpPr>
          <p:cNvPr id="14" name="Text 12"/>
          <p:cNvSpPr/>
          <p:nvPr/>
        </p:nvSpPr>
        <p:spPr>
          <a:xfrm>
            <a:off x="8321040" y="2103120"/>
            <a:ext cx="320040" cy="685800"/>
          </a:xfrm>
          <a:prstGeom prst="rect">
            <a:avLst/>
          </a:prstGeom>
          <a:noFill/>
          <a:ln/>
        </p:spPr>
        <p:txBody>
          <a:bodyPr wrap="square" lIns="0" tIns="0" rIns="0" bIns="0" rtlCol="0" anchor="ctr"/>
          <a:lstStyle/>
          <a:p>
            <a:pPr algn="ctr" indent="0" marL="0">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sp>
      <p:sp>
        <p:nvSpPr>
          <p:cNvPr id="17" name="Text 15"/>
          <p:cNvSpPr/>
          <p:nvPr/>
        </p:nvSpPr>
        <p:spPr>
          <a:xfrm>
            <a:off x="64008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It makes the test file longer</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sp>
      <p:sp>
        <p:nvSpPr>
          <p:cNvPr id="21" name="Text 19"/>
          <p:cNvSpPr/>
          <p:nvPr/>
        </p:nvSpPr>
        <p:spPr>
          <a:xfrm>
            <a:off x="4846320" y="3040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Status 200 is unreliable</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sp>
      <p:sp>
        <p:nvSpPr>
          <p:cNvPr id="25" name="Text 23"/>
          <p:cNvSpPr/>
          <p:nvPr/>
        </p:nvSpPr>
        <p:spPr>
          <a:xfrm>
            <a:off x="685800" y="4114800"/>
            <a:ext cx="7863840" cy="640080"/>
          </a:xfrm>
          <a:prstGeom prst="rect">
            <a:avLst/>
          </a:prstGeom>
          <a:noFill/>
          <a:ln/>
        </p:spPr>
        <p:txBody>
          <a:bodyPr wrap="square" lIns="0" tIns="0" rIns="0" bIns="0" rtlCol="0" anchor="ctr"/>
          <a:lstStyle/>
          <a:p>
            <a:pPr indent="0" marL="0">
              <a:buNone/>
            </a:pPr>
            <a:r>
              <a:rPr lang="en-US" sz="1100" b="1" dirty="0">
                <a:solidFill>
                  <a:srgbClr val="F5B700"/>
                </a:solidFill>
                <a:latin typeface="Calibri" pitchFamily="34" charset="0"/>
                <a:ea typeface="Calibri" pitchFamily="34" charset="-122"/>
                <a:cs typeface="Calibri" pitchFamily="34" charset="-120"/>
              </a:rPr>
              <a:t>Why: </a:t>
            </a:r>
            <a:pPr indent="0" marL="0">
              <a:buNone/>
            </a:pPr>
            <a:r>
              <a:rPr lang="en-US" sz="1100" dirty="0">
                <a:solidFill>
                  <a:srgbClr val="1A1A2E"/>
                </a:solidFill>
                <a:latin typeface="Calibri" pitchFamily="34" charset="0"/>
                <a:ea typeface="Calibri" pitchFamily="34" charset="-122"/>
                <a:cs typeface="Calibri" pitchFamily="34" charset="-120"/>
              </a:rPr>
              <a:t>Happy paths get tested first by everyone. Error states (auth failures, bad input, server crashes) are where users actually see bugs. Asking Copilot for the negative cases costs nothing and catches real issues.</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Day 10 Takeaways</a:t>
            </a:r>
            <a:endParaRPr lang="en-US" sz="32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400" i="1" dirty="0">
                <a:solidFill>
                  <a:srgbClr val="5B6582"/>
                </a:solidFill>
                <a:latin typeface="Calibri" pitchFamily="34" charset="0"/>
                <a:ea typeface="Calibri" pitchFamily="34" charset="-122"/>
                <a:cs typeface="Calibri" pitchFamily="34" charset="-120"/>
              </a:rPr>
              <a:t>Four habits that turn slow, flaky e2e tests into fast, reliable API-driven coverage</a:t>
            </a:r>
            <a:endParaRPr lang="en-US" sz="1400" dirty="0"/>
          </a:p>
        </p:txBody>
      </p:sp>
      <p:sp>
        <p:nvSpPr>
          <p:cNvPr id="4" name="Shape 2"/>
          <p:cNvSpPr/>
          <p:nvPr/>
        </p:nvSpPr>
        <p:spPr>
          <a:xfrm>
            <a:off x="457200" y="1417320"/>
            <a:ext cx="8229600" cy="658368"/>
          </a:xfrm>
          <a:prstGeom prst="rect">
            <a:avLst/>
          </a:prstGeom>
          <a:solidFill>
            <a:srgbClr val="F7F9FC"/>
          </a:solidFill>
          <a:ln w="12700">
            <a:solidFill>
              <a:srgbClr val="F7F9FC"/>
            </a:solidFill>
            <a:prstDash val="solid"/>
          </a:ln>
        </p:spPr>
      </p:sp>
      <p:sp>
        <p:nvSpPr>
          <p:cNvPr id="5" name="Shape 3"/>
          <p:cNvSpPr/>
          <p:nvPr/>
        </p:nvSpPr>
        <p:spPr>
          <a:xfrm>
            <a:off x="640080" y="1563624"/>
            <a:ext cx="384048" cy="384048"/>
          </a:xfrm>
          <a:prstGeom prst="ellipse">
            <a:avLst/>
          </a:prstGeom>
          <a:solidFill>
            <a:srgbClr val="69D3A7"/>
          </a:solidFill>
          <a:ln w="12700">
            <a:solidFill>
              <a:srgbClr val="69D3A7"/>
            </a:solidFill>
            <a:prstDash val="solid"/>
          </a:ln>
        </p:spPr>
      </p:sp>
      <p:sp>
        <p:nvSpPr>
          <p:cNvPr id="6" name="Text 4"/>
          <p:cNvSpPr/>
          <p:nvPr/>
        </p:nvSpPr>
        <p:spPr>
          <a:xfrm>
            <a:off x="640080" y="1563624"/>
            <a:ext cx="384048" cy="384048"/>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1</a:t>
            </a:r>
            <a:endParaRPr lang="en-US" sz="1400" dirty="0"/>
          </a:p>
        </p:txBody>
      </p:sp>
      <p:sp>
        <p:nvSpPr>
          <p:cNvPr id="7" name="Text 5"/>
          <p:cNvSpPr/>
          <p:nvPr/>
        </p:nvSpPr>
        <p:spPr>
          <a:xfrm>
            <a:off x="1188720" y="1490472"/>
            <a:ext cx="73152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Two tools, two jobs</a:t>
            </a:r>
            <a:endParaRPr lang="en-US" sz="1300" dirty="0"/>
          </a:p>
        </p:txBody>
      </p:sp>
      <p:sp>
        <p:nvSpPr>
          <p:cNvPr id="8" name="Text 6"/>
          <p:cNvSpPr/>
          <p:nvPr/>
        </p:nvSpPr>
        <p:spPr>
          <a:xfrm>
            <a:off x="1188720" y="1764792"/>
            <a:ext cx="7315200" cy="274320"/>
          </a:xfrm>
          <a:prstGeom prst="rect">
            <a:avLst/>
          </a:prstGeom>
          <a:noFill/>
          <a:ln/>
        </p:spPr>
        <p:txBody>
          <a:bodyPr wrap="square" lIns="0" tIns="0" rIns="0" bIns="0" rtlCol="0" anchor="ctr"/>
          <a:lstStyle/>
          <a:p>
            <a:pPr indent="0" marL="0">
              <a:buNone/>
            </a:pPr>
            <a:r>
              <a:rPr lang="en-US" sz="1100" dirty="0">
                <a:solidFill>
                  <a:srgbClr val="5B6582"/>
                </a:solidFill>
                <a:latin typeface="Calibri" pitchFamily="34" charset="0"/>
                <a:ea typeface="Calibri" pitchFamily="34" charset="-122"/>
                <a:cs typeface="Calibri" pitchFamily="34" charset="-120"/>
              </a:rPr>
              <a:t>cy.request makes real API calls. cy.intercept watches/stubs the browser's network. Match the tool to the task.</a:t>
            </a:r>
            <a:endParaRPr lang="en-US" sz="1100" dirty="0"/>
          </a:p>
        </p:txBody>
      </p:sp>
      <p:sp>
        <p:nvSpPr>
          <p:cNvPr id="9" name="Shape 7"/>
          <p:cNvSpPr/>
          <p:nvPr/>
        </p:nvSpPr>
        <p:spPr>
          <a:xfrm>
            <a:off x="457200" y="2167128"/>
            <a:ext cx="8229600" cy="658368"/>
          </a:xfrm>
          <a:prstGeom prst="rect">
            <a:avLst/>
          </a:prstGeom>
          <a:solidFill>
            <a:srgbClr val="F7F9FC"/>
          </a:solidFill>
          <a:ln w="12700">
            <a:solidFill>
              <a:srgbClr val="F7F9FC"/>
            </a:solidFill>
            <a:prstDash val="solid"/>
          </a:ln>
        </p:spPr>
      </p:sp>
      <p:sp>
        <p:nvSpPr>
          <p:cNvPr id="10" name="Shape 8"/>
          <p:cNvSpPr/>
          <p:nvPr/>
        </p:nvSpPr>
        <p:spPr>
          <a:xfrm>
            <a:off x="640080" y="2313432"/>
            <a:ext cx="384048" cy="384048"/>
          </a:xfrm>
          <a:prstGeom prst="ellipse">
            <a:avLst/>
          </a:prstGeom>
          <a:solidFill>
            <a:srgbClr val="69D3A7"/>
          </a:solidFill>
          <a:ln w="12700">
            <a:solidFill>
              <a:srgbClr val="69D3A7"/>
            </a:solidFill>
            <a:prstDash val="solid"/>
          </a:ln>
        </p:spPr>
      </p:sp>
      <p:sp>
        <p:nvSpPr>
          <p:cNvPr id="11" name="Text 9"/>
          <p:cNvSpPr/>
          <p:nvPr/>
        </p:nvSpPr>
        <p:spPr>
          <a:xfrm>
            <a:off x="640080" y="2313432"/>
            <a:ext cx="384048" cy="384048"/>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188720" y="2240280"/>
            <a:ext cx="73152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API setup before UI test = speed</a:t>
            </a:r>
            <a:endParaRPr lang="en-US" sz="1300" dirty="0"/>
          </a:p>
        </p:txBody>
      </p:sp>
      <p:sp>
        <p:nvSpPr>
          <p:cNvPr id="13" name="Text 11"/>
          <p:cNvSpPr/>
          <p:nvPr/>
        </p:nvSpPr>
        <p:spPr>
          <a:xfrm>
            <a:off x="1188720" y="2514600"/>
            <a:ext cx="7315200" cy="274320"/>
          </a:xfrm>
          <a:prstGeom prst="rect">
            <a:avLst/>
          </a:prstGeom>
          <a:noFill/>
          <a:ln/>
        </p:spPr>
        <p:txBody>
          <a:bodyPr wrap="square" lIns="0" tIns="0" rIns="0" bIns="0" rtlCol="0" anchor="ctr"/>
          <a:lstStyle/>
          <a:p>
            <a:pPr indent="0" marL="0">
              <a:buNone/>
            </a:pPr>
            <a:r>
              <a:rPr lang="en-US" sz="1100" dirty="0">
                <a:solidFill>
                  <a:srgbClr val="5B6582"/>
                </a:solidFill>
                <a:latin typeface="Calibri" pitchFamily="34" charset="0"/>
                <a:ea typeface="Calibri" pitchFamily="34" charset="-122"/>
                <a:cs typeface="Calibri" pitchFamily="34" charset="-120"/>
              </a:rPr>
              <a:t>Log in via cy.request, seed data via cy.request — then drive the UI for the part you actually want to test.</a:t>
            </a:r>
            <a:endParaRPr lang="en-US" sz="1100" dirty="0"/>
          </a:p>
        </p:txBody>
      </p:sp>
      <p:sp>
        <p:nvSpPr>
          <p:cNvPr id="14" name="Shape 12"/>
          <p:cNvSpPr/>
          <p:nvPr/>
        </p:nvSpPr>
        <p:spPr>
          <a:xfrm>
            <a:off x="457200" y="2916936"/>
            <a:ext cx="8229600" cy="658368"/>
          </a:xfrm>
          <a:prstGeom prst="rect">
            <a:avLst/>
          </a:prstGeom>
          <a:solidFill>
            <a:srgbClr val="F7F9FC"/>
          </a:solidFill>
          <a:ln w="12700">
            <a:solidFill>
              <a:srgbClr val="F7F9FC"/>
            </a:solidFill>
            <a:prstDash val="solid"/>
          </a:ln>
        </p:spPr>
      </p:sp>
      <p:sp>
        <p:nvSpPr>
          <p:cNvPr id="15" name="Shape 13"/>
          <p:cNvSpPr/>
          <p:nvPr/>
        </p:nvSpPr>
        <p:spPr>
          <a:xfrm>
            <a:off x="640080" y="3063240"/>
            <a:ext cx="384048" cy="384048"/>
          </a:xfrm>
          <a:prstGeom prst="ellipse">
            <a:avLst/>
          </a:prstGeom>
          <a:solidFill>
            <a:srgbClr val="69D3A7"/>
          </a:solidFill>
          <a:ln w="12700">
            <a:solidFill>
              <a:srgbClr val="69D3A7"/>
            </a:solidFill>
            <a:prstDash val="solid"/>
          </a:ln>
        </p:spPr>
      </p:sp>
      <p:sp>
        <p:nvSpPr>
          <p:cNvPr id="16" name="Text 14"/>
          <p:cNvSpPr/>
          <p:nvPr/>
        </p:nvSpPr>
        <p:spPr>
          <a:xfrm>
            <a:off x="640080" y="3063240"/>
            <a:ext cx="384048" cy="384048"/>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3</a:t>
            </a:r>
            <a:endParaRPr lang="en-US" sz="1400" dirty="0"/>
          </a:p>
        </p:txBody>
      </p:sp>
      <p:sp>
        <p:nvSpPr>
          <p:cNvPr id="17" name="Text 15"/>
          <p:cNvSpPr/>
          <p:nvPr/>
        </p:nvSpPr>
        <p:spPr>
          <a:xfrm>
            <a:off x="1188720" y="2990088"/>
            <a:ext cx="73152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Stubs unlock edge cases</a:t>
            </a:r>
            <a:endParaRPr lang="en-US" sz="1300" dirty="0"/>
          </a:p>
        </p:txBody>
      </p:sp>
      <p:sp>
        <p:nvSpPr>
          <p:cNvPr id="18" name="Text 16"/>
          <p:cNvSpPr/>
          <p:nvPr/>
        </p:nvSpPr>
        <p:spPr>
          <a:xfrm>
            <a:off x="1188720" y="3264408"/>
            <a:ext cx="7315200" cy="274320"/>
          </a:xfrm>
          <a:prstGeom prst="rect">
            <a:avLst/>
          </a:prstGeom>
          <a:noFill/>
          <a:ln/>
        </p:spPr>
        <p:txBody>
          <a:bodyPr wrap="square" lIns="0" tIns="0" rIns="0" bIns="0" rtlCol="0" anchor="ctr"/>
          <a:lstStyle/>
          <a:p>
            <a:pPr indent="0" marL="0">
              <a:buNone/>
            </a:pPr>
            <a:r>
              <a:rPr lang="en-US" sz="1100" dirty="0">
                <a:solidFill>
                  <a:srgbClr val="5B6582"/>
                </a:solidFill>
                <a:latin typeface="Calibri" pitchFamily="34" charset="0"/>
                <a:ea typeface="Calibri" pitchFamily="34" charset="-122"/>
                <a:cs typeface="Calibri" pitchFamily="34" charset="-120"/>
              </a:rPr>
              <a:t>Empty states, 500 errors, slow APIs, pre-release backends — all tested without touching the real server.</a:t>
            </a:r>
            <a:endParaRPr lang="en-US" sz="1100" dirty="0"/>
          </a:p>
        </p:txBody>
      </p:sp>
      <p:sp>
        <p:nvSpPr>
          <p:cNvPr id="19" name="Shape 17"/>
          <p:cNvSpPr/>
          <p:nvPr/>
        </p:nvSpPr>
        <p:spPr>
          <a:xfrm>
            <a:off x="457200" y="3666744"/>
            <a:ext cx="8229600" cy="658368"/>
          </a:xfrm>
          <a:prstGeom prst="rect">
            <a:avLst/>
          </a:prstGeom>
          <a:solidFill>
            <a:srgbClr val="F7F9FC"/>
          </a:solidFill>
          <a:ln w="12700">
            <a:solidFill>
              <a:srgbClr val="F7F9FC"/>
            </a:solidFill>
            <a:prstDash val="solid"/>
          </a:ln>
        </p:spPr>
      </p:sp>
      <p:sp>
        <p:nvSpPr>
          <p:cNvPr id="20" name="Shape 18"/>
          <p:cNvSpPr/>
          <p:nvPr/>
        </p:nvSpPr>
        <p:spPr>
          <a:xfrm>
            <a:off x="640080" y="3813048"/>
            <a:ext cx="384048" cy="384048"/>
          </a:xfrm>
          <a:prstGeom prst="ellipse">
            <a:avLst/>
          </a:prstGeom>
          <a:solidFill>
            <a:srgbClr val="69D3A7"/>
          </a:solidFill>
          <a:ln w="12700">
            <a:solidFill>
              <a:srgbClr val="69D3A7"/>
            </a:solidFill>
            <a:prstDash val="solid"/>
          </a:ln>
        </p:spPr>
      </p:sp>
      <p:sp>
        <p:nvSpPr>
          <p:cNvPr id="21" name="Text 19"/>
          <p:cNvSpPr/>
          <p:nvPr/>
        </p:nvSpPr>
        <p:spPr>
          <a:xfrm>
            <a:off x="640080" y="3813048"/>
            <a:ext cx="384048" cy="384048"/>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4</a:t>
            </a:r>
            <a:endParaRPr lang="en-US" sz="1400" dirty="0"/>
          </a:p>
        </p:txBody>
      </p:sp>
      <p:sp>
        <p:nvSpPr>
          <p:cNvPr id="22" name="Text 20"/>
          <p:cNvSpPr/>
          <p:nvPr/>
        </p:nvSpPr>
        <p:spPr>
          <a:xfrm>
            <a:off x="1188720" y="3739896"/>
            <a:ext cx="73152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Always assert status AND body</a:t>
            </a:r>
            <a:endParaRPr lang="en-US" sz="1300" dirty="0"/>
          </a:p>
        </p:txBody>
      </p:sp>
      <p:sp>
        <p:nvSpPr>
          <p:cNvPr id="23" name="Text 21"/>
          <p:cNvSpPr/>
          <p:nvPr/>
        </p:nvSpPr>
        <p:spPr>
          <a:xfrm>
            <a:off x="1188720" y="4014216"/>
            <a:ext cx="7315200" cy="274320"/>
          </a:xfrm>
          <a:prstGeom prst="rect">
            <a:avLst/>
          </a:prstGeom>
          <a:noFill/>
          <a:ln/>
        </p:spPr>
        <p:txBody>
          <a:bodyPr wrap="square" lIns="0" tIns="0" rIns="0" bIns="0" rtlCol="0" anchor="ctr"/>
          <a:lstStyle/>
          <a:p>
            <a:pPr indent="0" marL="0">
              <a:buNone/>
            </a:pPr>
            <a:r>
              <a:rPr lang="en-US" sz="1100" dirty="0">
                <a:solidFill>
                  <a:srgbClr val="5B6582"/>
                </a:solidFill>
                <a:latin typeface="Calibri" pitchFamily="34" charset="0"/>
                <a:ea typeface="Calibri" pitchFamily="34" charset="-122"/>
                <a:cs typeface="Calibri" pitchFamily="34" charset="-120"/>
              </a:rPr>
              <a:t>200 alone proves nothing. Check the body shape, key fields, and headers — that's the contract you're testing.</a:t>
            </a:r>
            <a:endParaRPr lang="en-US" sz="1100" dirty="0"/>
          </a:p>
        </p:txBody>
      </p:sp>
      <p:sp>
        <p:nvSpPr>
          <p:cNvPr id="24" name="Text 22"/>
          <p:cNvSpPr/>
          <p:nvPr/>
        </p:nvSpPr>
        <p:spPr>
          <a:xfrm>
            <a:off x="365760" y="4800600"/>
            <a:ext cx="6400800" cy="228600"/>
          </a:xfrm>
          <a:prstGeom prst="rect">
            <a:avLst/>
          </a:prstGeom>
          <a:noFill/>
          <a:ln/>
        </p:spPr>
        <p:txBody>
          <a:bodyPr wrap="square" rtlCol="0" anchor="ctr"/>
          <a:lstStyle/>
          <a:p>
            <a:pPr indent="0" marL="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25" name="Text 23"/>
          <p:cNvSpPr/>
          <p:nvPr/>
        </p:nvSpPr>
        <p:spPr>
          <a:xfrm>
            <a:off x="8412480" y="4800600"/>
            <a:ext cx="365760" cy="228600"/>
          </a:xfrm>
          <a:prstGeom prst="rect">
            <a:avLst/>
          </a:prstGeom>
          <a:noFill/>
          <a:ln/>
        </p:spPr>
        <p:txBody>
          <a:bodyPr wrap="square" rtlCol="0" anchor="ctr"/>
          <a:lstStyle/>
          <a:p>
            <a:pPr algn="r" indent="0" marL="0">
              <a:buNone/>
            </a:pPr>
            <a:r>
              <a:rPr lang="en-US" sz="900" dirty="0">
                <a:solidFill>
                  <a:srgbClr val="5B6582"/>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206240" y="2011680"/>
            <a:ext cx="731520" cy="73152"/>
          </a:xfrm>
          <a:prstGeom prst="rect">
            <a:avLst/>
          </a:prstGeom>
          <a:solidFill>
            <a:srgbClr val="69D3A7"/>
          </a:solidFill>
          <a:ln w="12700">
            <a:solidFill>
              <a:srgbClr val="69D3A7"/>
            </a:solidFill>
            <a:prstDash val="solid"/>
          </a:ln>
        </p:spPr>
      </p:sp>
      <p:sp>
        <p:nvSpPr>
          <p:cNvPr id="3" name="Text 1"/>
          <p:cNvSpPr/>
          <p:nvPr/>
        </p:nvSpPr>
        <p:spPr>
          <a:xfrm>
            <a:off x="457200" y="2194560"/>
            <a:ext cx="8229600" cy="914400"/>
          </a:xfrm>
          <a:prstGeom prst="rect">
            <a:avLst/>
          </a:prstGeom>
          <a:noFill/>
          <a:ln/>
        </p:spPr>
        <p:txBody>
          <a:bodyPr wrap="square" lIns="0" tIns="0" rIns="0" bIns="0"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Questions?</a:t>
            </a:r>
            <a:endParaRPr lang="en-US" sz="6000" dirty="0"/>
          </a:p>
        </p:txBody>
      </p:sp>
      <p:sp>
        <p:nvSpPr>
          <p:cNvPr id="4" name="Text 2"/>
          <p:cNvSpPr/>
          <p:nvPr/>
        </p:nvSpPr>
        <p:spPr>
          <a:xfrm>
            <a:off x="457200" y="3200400"/>
            <a:ext cx="8229600" cy="365760"/>
          </a:xfrm>
          <a:prstGeom prst="rect">
            <a:avLst/>
          </a:prstGeom>
          <a:noFill/>
          <a:ln/>
        </p:spPr>
        <p:txBody>
          <a:bodyPr wrap="square" lIns="0" tIns="0" rIns="0" bIns="0" rtlCol="0" anchor="ctr"/>
          <a:lstStyle/>
          <a:p>
            <a:pPr algn="ctr" indent="0" marL="0">
              <a:buNone/>
            </a:pPr>
            <a:r>
              <a:rPr lang="en-US" sz="1400" i="1" dirty="0">
                <a:solidFill>
                  <a:srgbClr val="CADCFC"/>
                </a:solidFill>
                <a:latin typeface="Georgia" pitchFamily="34" charset="0"/>
                <a:ea typeface="Georgia" pitchFamily="34" charset="-122"/>
                <a:cs typeface="Georgia" pitchFamily="34" charset="-120"/>
              </a:rPr>
              <a:t>Next session: hooks, custom commands, and reusable test setup</a:t>
            </a:r>
            <a:endParaRPr lang="en-US" sz="1400" dirty="0"/>
          </a:p>
        </p:txBody>
      </p:sp>
      <p:sp>
        <p:nvSpPr>
          <p:cNvPr id="5" name="Text 3"/>
          <p:cNvSpPr/>
          <p:nvPr/>
        </p:nvSpPr>
        <p:spPr>
          <a:xfrm>
            <a:off x="457200" y="4114800"/>
            <a:ext cx="8229600" cy="320040"/>
          </a:xfrm>
          <a:prstGeom prst="rect">
            <a:avLst/>
          </a:prstGeom>
          <a:noFill/>
          <a:ln/>
        </p:spPr>
        <p:txBody>
          <a:bodyPr wrap="square" lIns="0" tIns="0" rIns="0" bIns="0" rtlCol="0" anchor="ctr"/>
          <a:lstStyle/>
          <a:p>
            <a:pPr algn="ctr" indent="0" marL="0">
              <a:buNone/>
            </a:pPr>
            <a:r>
              <a:rPr lang="en-US" sz="1100" spc="300" kern="0" dirty="0">
                <a:solidFill>
                  <a:srgbClr val="69D3A7"/>
                </a:solidFill>
                <a:latin typeface="Calibri" pitchFamily="34" charset="0"/>
                <a:ea typeface="Calibri" pitchFamily="34" charset="-122"/>
                <a:cs typeface="Calibri" pitchFamily="34" charset="-120"/>
              </a:rPr>
              <a:t>Homework: pick one UI test in your suite — replace the login flow with cy.request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Day 10 - Network Interception &amp; API Testing</dc:title>
  <dc:subject>PptxGenJS Presentation</dc:subject>
  <dc:creator>PptxGenJS</dc:creator>
  <cp:lastModifiedBy>PptxGenJS</cp:lastModifiedBy>
  <cp:revision>1</cp:revision>
  <dcterms:created xsi:type="dcterms:W3CDTF">2026-05-12T17:18:48Z</dcterms:created>
  <dcterms:modified xsi:type="dcterms:W3CDTF">2026-05-12T17:18:48Z</dcterms:modified>
</cp:coreProperties>
</file>