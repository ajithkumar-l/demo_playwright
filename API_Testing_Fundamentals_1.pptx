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4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814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194560"/>
            <a:ext cx="6583680" cy="6583680"/>
          </a:xfrm>
          <a:prstGeom prst="ellipse">
            <a:avLst/>
          </a:prstGeom>
          <a:solidFill>
            <a:srgbClr val="2A10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2A10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3B1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713232" y="2240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0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TESTING · FUNDAMENTALS &amp; AUTH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25146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APIs, HTTP &amp;
</a:t>
            </a:r>
            <a:r>
              <a:rPr lang="en-US" sz="50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13232" y="443484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API is and how it looks, the types you'll meet, how HTTP works,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requests in Playwright, and authenticating with Basic &amp; Bearer.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18120" y="5532120"/>
            <a:ext cx="3657600" cy="658368"/>
          </a:xfrm>
          <a:prstGeom prst="rect">
            <a:avLst/>
          </a:prstGeom>
          <a:solidFill>
            <a:srgbClr val="3B11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818120" y="5532120"/>
            <a:ext cx="73152" cy="658368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955280" y="553212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into Day 12 · HTTP Auth deep-dive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0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</a:t>
            </a:r>
            <a:r>
              <a:rPr lang="en-US" sz="34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394960" cy="457200"/>
          </a:xfrm>
          <a:prstGeom prst="rect">
            <a:avLst/>
          </a:prstGeom>
          <a:solidFill>
            <a:srgbClr val="3B11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82296" cy="45720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86968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 · API Foundations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44768" y="1691640"/>
            <a:ext cx="5394960" cy="457200"/>
          </a:xfrm>
          <a:prstGeom prst="rect">
            <a:avLst/>
          </a:prstGeom>
          <a:solidFill>
            <a:srgbClr val="3B11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144768" y="1691640"/>
            <a:ext cx="82296" cy="45720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373368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 · Authentication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2377440"/>
            <a:ext cx="5394960" cy="585216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9536" y="2532888"/>
            <a:ext cx="274320" cy="274320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59536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98448" y="2377440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API &amp; how it looks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58368" y="3090672"/>
            <a:ext cx="5394960" cy="585216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59536" y="3246120"/>
            <a:ext cx="274320" cy="274320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59536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3090672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APIs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58368" y="3803904"/>
            <a:ext cx="5394960" cy="585216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59536" y="3959352"/>
            <a:ext cx="274320" cy="274320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59536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98448" y="3803904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HTTP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58368" y="4517136"/>
            <a:ext cx="5394960" cy="585216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59536" y="4672584"/>
            <a:ext cx="274320" cy="274320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59536" y="4672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98448" y="4517136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 status codes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58368" y="5230368"/>
            <a:ext cx="5394960" cy="585216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59536" y="5385816"/>
            <a:ext cx="274320" cy="274320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59536" y="5385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98448" y="5230368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requests in Playwright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144768" y="2377440"/>
            <a:ext cx="5394960" cy="585216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345936" y="2532888"/>
            <a:ext cx="274320" cy="274320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45936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84848" y="2377440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vs Authorization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144768" y="3090672"/>
            <a:ext cx="5394960" cy="585216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345936" y="3246120"/>
            <a:ext cx="274320" cy="274320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345936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84848" y="3090672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API authentication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6144768" y="3803904"/>
            <a:ext cx="5394960" cy="585216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345936" y="3959352"/>
            <a:ext cx="274320" cy="274320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345936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84848" y="3803904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Authentication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6144768" y="4517136"/>
            <a:ext cx="5394960" cy="585216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345936" y="4672584"/>
            <a:ext cx="274320" cy="274320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345936" y="4672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84848" y="4517136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Authentication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6144768" y="5230368"/>
            <a:ext cx="5394960" cy="585216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345936" y="5385816"/>
            <a:ext cx="274320" cy="274320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345936" y="5385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84848" y="5230368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auth in Playwright</a:t>
            </a:r>
            <a:endParaRPr lang="en-US" sz="1450" dirty="0"/>
          </a:p>
        </p:txBody>
      </p:sp>
      <p:sp>
        <p:nvSpPr>
          <p:cNvPr id="50" name="Text 48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0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·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</a:t>
            </a:r>
            <a:r>
              <a:rPr lang="en-US" sz="34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10881360" cy="713232"/>
          </a:xfrm>
          <a:prstGeom prst="rect">
            <a:avLst/>
          </a:prstGeom>
          <a:solidFill>
            <a:srgbClr val="241A2A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= Application Programming Interface.  </a:t>
            </a: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contract that lets one program request data or actions from another — without knowing how it works inside.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2743200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24128" y="26334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messenger between systems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24128" y="299923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test sends a request; the server sends back a response — the API is the agreed format for both.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" y="3886200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24128" y="37764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Hides the complexity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24128" y="414223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call an endpoint without needing the database, language or logic behind it.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13232" y="5029200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24128" y="49194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restaurant analogy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24128" y="528523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(client) order from a menu (API). The kitchen (server) cooks. The waiter (API) brings the result.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0" y="2697480"/>
            <a:ext cx="5120640" cy="3246120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0" y="28529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 /  RESPONSE FLOW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3291840"/>
            <a:ext cx="3840480" cy="713232"/>
          </a:xfrm>
          <a:prstGeom prst="rect">
            <a:avLst/>
          </a:prstGeom>
          <a:solidFill>
            <a:srgbClr val="1A0E15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269480" y="3410712"/>
            <a:ext cx="475488" cy="475488"/>
          </a:xfrm>
          <a:prstGeom prst="ellipse">
            <a:avLst/>
          </a:prstGeom>
          <a:solidFill>
            <a:srgbClr val="2A101B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617" y="3543849"/>
            <a:ext cx="209215" cy="20921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909560" y="329184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 ·  your test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040880" y="4343400"/>
            <a:ext cx="3840480" cy="713232"/>
          </a:xfrm>
          <a:prstGeom prst="rect">
            <a:avLst/>
          </a:prstGeom>
          <a:solidFill>
            <a:srgbClr val="1A0E15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7269480" y="4462272"/>
            <a:ext cx="475488" cy="475488"/>
          </a:xfrm>
          <a:prstGeom prst="ellipse">
            <a:avLst/>
          </a:prstGeom>
          <a:solidFill>
            <a:srgbClr val="2A101B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617" y="4595409"/>
            <a:ext cx="209215" cy="20921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909560" y="434340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 ·  endpoint + contract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7040880" y="5394960"/>
            <a:ext cx="3840480" cy="713232"/>
          </a:xfrm>
          <a:prstGeom prst="rect">
            <a:avLst/>
          </a:prstGeom>
          <a:solidFill>
            <a:srgbClr val="1A0E15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7269480" y="5513832"/>
            <a:ext cx="475488" cy="475488"/>
          </a:xfrm>
          <a:prstGeom prst="ellipse">
            <a:avLst/>
          </a:prstGeom>
          <a:solidFill>
            <a:srgbClr val="2A101B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2617" y="5646969"/>
            <a:ext cx="209215" cy="20921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909560" y="539496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 ·  data &amp; logic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932688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 ↓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9326880" y="5074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 ↑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0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· HOW AN API LOOKS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</a:t>
            </a:r>
            <a:r>
              <a:rPr lang="en-US" sz="34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10881360" cy="640080"/>
          </a:xfrm>
          <a:prstGeom prst="rect">
            <a:avLst/>
          </a:prstGeom>
          <a:solidFill>
            <a:srgbClr val="241A2A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57276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has the same shape: </a:t>
            </a: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endpoint URL, a method, headers, and an optional body</a:t>
            </a: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 a structured response coming back.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ENDPOINT ANATOMY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2697480"/>
            <a:ext cx="5486400" cy="685800"/>
          </a:xfrm>
          <a:prstGeom prst="rect">
            <a:avLst/>
          </a:prstGeom>
          <a:solidFill>
            <a:srgbClr val="0C0910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</a:t>
            </a:r>
            <a:r>
              <a:rPr lang="en-US" sz="13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api.shop.com</a:t>
            </a:r>
            <a:r>
              <a:rPr lang="en-US" sz="135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</a:t>
            </a:r>
            <a:r>
              <a:rPr lang="en-US" sz="13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/users/42</a:t>
            </a:r>
            <a:r>
              <a:rPr lang="en-US" sz="13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?active=true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76656" y="3648456"/>
            <a:ext cx="201168" cy="201168"/>
          </a:xfrm>
          <a:prstGeom prst="rect">
            <a:avLst/>
          </a:prstGeom>
          <a:solidFill>
            <a:srgbClr val="94A0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24128" y="36118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  </a:t>
            </a:r>
            <a:r>
              <a:rPr lang="en-US" sz="12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 — secure transport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76656" y="4123944"/>
            <a:ext cx="201168" cy="201168"/>
          </a:xfrm>
          <a:prstGeom prst="rect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24128" y="40873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 / Host   </a:t>
            </a:r>
            <a:r>
              <a:rPr lang="en-US" sz="12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api.shop.com — the server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6656" y="4599432"/>
            <a:ext cx="201168" cy="201168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24128" y="45628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  </a:t>
            </a:r>
            <a:r>
              <a:rPr lang="en-US" sz="12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/v1 — API version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6656" y="5074920"/>
            <a:ext cx="201168" cy="20116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24128" y="50383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/ Path   </a:t>
            </a:r>
            <a:r>
              <a:rPr lang="en-US" sz="12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/users/42 — what you want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6656" y="5550408"/>
            <a:ext cx="201168" cy="201168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24128" y="5513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params   </a:t>
            </a:r>
            <a:r>
              <a:rPr lang="en-US" sz="12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?active=true — filters &amp; options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2377440"/>
            <a:ext cx="5138928" cy="3657600"/>
          </a:xfrm>
          <a:prstGeom prst="rect">
            <a:avLst/>
          </a:prstGeom>
          <a:solidFill>
            <a:srgbClr val="0C0910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83680" y="2487168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— request &amp; response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01968" y="2761488"/>
            <a:ext cx="477316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/v1/users/42  HTTP/1.1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api.shop.com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 application/json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&lt;token&gt;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 OK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42,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"Ada",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"active": true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0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·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</a:t>
            </a:r>
            <a:r>
              <a:rPr lang="en-US" sz="34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2670048" cy="2788920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2670048" cy="82296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609344" y="2103120"/>
            <a:ext cx="768096" cy="768096"/>
          </a:xfrm>
          <a:prstGeom prst="ellipse">
            <a:avLst/>
          </a:prstGeom>
          <a:solidFill>
            <a:srgbClr val="2A101B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411" y="2318187"/>
            <a:ext cx="337962" cy="337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97180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5528" y="3374136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Representational State Transfer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1248" y="3721608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URLs over HTTP, JSON payloads. The most common style for web APIs.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93008" y="1783080"/>
            <a:ext cx="2670048" cy="2788920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493008" y="1783080"/>
            <a:ext cx="2670048" cy="82296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443984" y="2103120"/>
            <a:ext cx="768096" cy="768096"/>
          </a:xfrm>
          <a:prstGeom prst="ellipse">
            <a:avLst/>
          </a:prstGeom>
          <a:solidFill>
            <a:srgbClr val="2A101B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051" y="2318187"/>
            <a:ext cx="337962" cy="3379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93008" y="297180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GraphQL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630168" y="3374136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language for APIs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675888" y="3721608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endpoint; the client asks for exactly the fields it needs in a single request.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327648" y="1783080"/>
            <a:ext cx="2670048" cy="2788920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6327648" y="1783080"/>
            <a:ext cx="2670048" cy="82296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7278624" y="2103120"/>
            <a:ext cx="768096" cy="768096"/>
          </a:xfrm>
          <a:prstGeom prst="ellipse">
            <a:avLst/>
          </a:prstGeom>
          <a:solidFill>
            <a:srgbClr val="2A101B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691" y="2318187"/>
            <a:ext cx="337962" cy="33796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27648" y="297180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SOAP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464808" y="3374136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Object Access Protocol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510528" y="3721608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XML-based contracts (WSDL). Common in legacy &amp; enterprise systems.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9162288" y="1783080"/>
            <a:ext cx="2670048" cy="2788920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9162288" y="1783080"/>
            <a:ext cx="2670048" cy="82296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10113264" y="2103120"/>
            <a:ext cx="768096" cy="768096"/>
          </a:xfrm>
          <a:prstGeom prst="ellipse">
            <a:avLst/>
          </a:prstGeom>
          <a:solidFill>
            <a:srgbClr val="2A101B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8331" y="2318187"/>
            <a:ext cx="337962" cy="33796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62288" y="297180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gRPC</a:t>
            </a:r>
            <a:endParaRPr lang="en-US" sz="2200" dirty="0"/>
          </a:p>
        </p:txBody>
      </p:sp>
      <p:sp>
        <p:nvSpPr>
          <p:cNvPr id="30" name="Text 24"/>
          <p:cNvSpPr/>
          <p:nvPr/>
        </p:nvSpPr>
        <p:spPr>
          <a:xfrm>
            <a:off x="9299448" y="3374136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Remote Procedure Call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345168" y="3721608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binary protocol over HTTP/2 with Protobuf — popular for microservices.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658368" y="4892040"/>
            <a:ext cx="10881360" cy="1234440"/>
          </a:xfrm>
          <a:prstGeom prst="rect">
            <a:avLst/>
          </a:prstGeom>
          <a:solidFill>
            <a:srgbClr val="241A2A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7"/>
          <p:cNvSpPr/>
          <p:nvPr/>
        </p:nvSpPr>
        <p:spPr>
          <a:xfrm>
            <a:off x="868680" y="5029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ACCESS LEVEL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868680" y="5349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Open
</a:t>
            </a:r>
            <a:r>
              <a:rPr lang="en-US" sz="120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any developer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4480560" y="5349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
</a:t>
            </a:r>
            <a:r>
              <a:rPr lang="en-US" sz="120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specific business partners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8092440" y="5349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/ Internal
</a:t>
            </a:r>
            <a:r>
              <a:rPr lang="en-US" sz="120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inside the organization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xmlns:p14="http://schemas.microsoft.com/office/powerpoint/2010/main" spd="slow" p14:dur="9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0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·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 </a:t>
            </a:r>
            <a:r>
              <a:rPr lang="en-US" sz="34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10881360" cy="640080"/>
          </a:xfrm>
          <a:prstGeom prst="rect">
            <a:avLst/>
          </a:prstGeom>
          <a:solidFill>
            <a:srgbClr val="241A2A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</a:t>
            </a: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request/response protocol of the web — every API call is an HTTP message with a clear structure.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2468880"/>
            <a:ext cx="5349240" cy="3383280"/>
          </a:xfrm>
          <a:prstGeom prst="rect">
            <a:avLst/>
          </a:prstGeom>
          <a:solidFill>
            <a:srgbClr val="0C0910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41248" y="25786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— Request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" y="2852928"/>
            <a:ext cx="49834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/api/users  HTTP/1.1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example.com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&lt;token&gt;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"Ada",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"role": "tester"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method · path · headers · body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0488" y="2468880"/>
            <a:ext cx="5349240" cy="3383280"/>
          </a:xfrm>
          <a:prstGeom prst="rect">
            <a:avLst/>
          </a:prstGeom>
          <a:solidFill>
            <a:srgbClr val="0C0910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73368" y="25786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— Response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91656" y="2852928"/>
            <a:ext cx="49834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HTTP/1.1 201 Created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 no-store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42,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"Ada",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"role": "tester"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status · headers · body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xmlns:p14="http://schemas.microsoft.com/office/powerpoint/2010/main" spd="slow" p14:dur="9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0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 · METHODS &amp; STATUS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Methods &amp; </a:t>
            </a:r>
            <a:r>
              <a:rPr lang="en-US" sz="34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Codes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METHODS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103120"/>
            <a:ext cx="1371600" cy="566928"/>
          </a:xfrm>
          <a:prstGeom prst="rect">
            <a:avLst/>
          </a:prstGeom>
          <a:solidFill>
            <a:srgbClr val="3B111F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58368" y="21031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40280" y="210312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resource — safe, no changes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2871216"/>
            <a:ext cx="1371600" cy="566928"/>
          </a:xfrm>
          <a:prstGeom prst="rect">
            <a:avLst/>
          </a:prstGeom>
          <a:solidFill>
            <a:srgbClr val="3B111F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8368" y="28712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40280" y="287121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resource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3639312"/>
            <a:ext cx="1371600" cy="566928"/>
          </a:xfrm>
          <a:prstGeom prst="rect">
            <a:avLst/>
          </a:prstGeom>
          <a:solidFill>
            <a:srgbClr val="3B111F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8368" y="363931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40280" y="36393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resource entirely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" y="4407408"/>
            <a:ext cx="1371600" cy="566928"/>
          </a:xfrm>
          <a:prstGeom prst="rect">
            <a:avLst/>
          </a:prstGeom>
          <a:solidFill>
            <a:srgbClr val="3B111F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8368" y="440740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240280" y="440740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part of a resource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" y="5175504"/>
            <a:ext cx="1371600" cy="566928"/>
          </a:xfrm>
          <a:prstGeom prst="rect">
            <a:avLst/>
          </a:prstGeom>
          <a:solidFill>
            <a:srgbClr val="3B111F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8368" y="517550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40280" y="517550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resource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CODE FAMILIES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2103120"/>
            <a:ext cx="5138928" cy="822960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00800" y="2103120"/>
            <a:ext cx="91440" cy="82296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629400" y="21031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2xx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772400" y="2103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
</a:t>
            </a:r>
            <a:r>
              <a:rPr lang="en-US" sz="1150" dirty="0">
                <a:solidFill>
                  <a:srgbClr val="94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 · 201 Created · 204 No Content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00800" y="3072384"/>
            <a:ext cx="5138928" cy="822960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400800" y="3072384"/>
            <a:ext cx="91440" cy="82296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629400" y="3072384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3xx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772400" y="307238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
</a:t>
            </a:r>
            <a:r>
              <a:rPr lang="en-US" sz="1150" dirty="0">
                <a:solidFill>
                  <a:srgbClr val="94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301 Moved · 304 Not Modified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400800" y="4041648"/>
            <a:ext cx="5138928" cy="822960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400800" y="4041648"/>
            <a:ext cx="91440" cy="822960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629400" y="404164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4xx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772400" y="40416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Error
</a:t>
            </a:r>
            <a:r>
              <a:rPr lang="en-US" sz="1150" dirty="0">
                <a:solidFill>
                  <a:srgbClr val="94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Bad Request · 401 Unauthorized · 404 Not Found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400800" y="5010912"/>
            <a:ext cx="5138928" cy="822960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400800" y="5010912"/>
            <a:ext cx="91440" cy="82296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629400" y="501091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5xx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772400" y="501091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
</a:t>
            </a:r>
            <a:r>
              <a:rPr lang="en-US" sz="1150" dirty="0">
                <a:solidFill>
                  <a:srgbClr val="94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Internal · 502 Bad Gateway · 503 Unavailable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xmlns:p14="http://schemas.microsoft.com/office/powerpoint/2010/main" spd="slow" p14:dur="9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0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·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Requests in </a:t>
            </a:r>
            <a:r>
              <a:rPr lang="en-US" sz="34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10881360" cy="676656"/>
          </a:xfrm>
          <a:prstGeom prst="rect">
            <a:avLst/>
          </a:prstGeom>
          <a:solidFill>
            <a:srgbClr val="241A2A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572768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ships a built-in </a:t>
            </a:r>
            <a:r>
              <a:rPr lang="en-US" sz="14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fixture (APIRequestContext) — call APIs directly, no browser or UI needed.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2432304"/>
            <a:ext cx="5349240" cy="3401568"/>
          </a:xfrm>
          <a:prstGeom prst="rect">
            <a:avLst/>
          </a:prstGeom>
          <a:solidFill>
            <a:srgbClr val="10240F"/>
          </a:solidFill>
          <a:ln w="12700">
            <a:solidFill>
              <a:srgbClr val="274D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58368" y="2432304"/>
            <a:ext cx="91440" cy="3401568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8775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578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86EF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METHODS TO USE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96112" y="2999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request.get(url)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11880" y="29992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Send a GET request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96112" y="34564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request.post(url, { data })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11880" y="34564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Create with a JSON body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96112" y="39136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request.put / patch / delete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11880" y="39136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Update or remove a resource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96112" y="43708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response.status()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11880" y="43708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Read the HTTP status code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96112" y="48280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response.json()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11880" y="48280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Parse the JSON body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96112" y="5285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expect(response).toBeOK()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11880" y="52852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Assert a 2xx response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190488" y="2432304"/>
            <a:ext cx="5349240" cy="3401568"/>
          </a:xfrm>
          <a:prstGeom prst="rect">
            <a:avLst/>
          </a:prstGeom>
          <a:solidFill>
            <a:srgbClr val="0C0910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373368" y="254203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 — GET request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391656" y="2816352"/>
            <a:ext cx="498348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test, expect } from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'@playwright/test';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test('GET a user', async ({ request }) =&gt; {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request.get(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'/api/users/42');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expect(res.status()).toBe(200);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body = await res.json();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expect(body.name).toBe('Ada');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page, no browser — just the API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0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 · IN PRACTICE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Putting It </a:t>
            </a:r>
            <a:r>
              <a:rPr lang="en-US" sz="34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Together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5349240" cy="2788920"/>
          </a:xfrm>
          <a:prstGeom prst="rect">
            <a:avLst/>
          </a:prstGeom>
          <a:solidFill>
            <a:srgbClr val="0C0910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1737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 — POST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9536" y="2011680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test('create user', async ({ request }) =&gt; {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request.post(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'/api/users', {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data: { name: 'Ada',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role: 'tester' },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expect(res.status()).toBe(201);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90488" y="1627632"/>
            <a:ext cx="5349240" cy="2788920"/>
          </a:xfrm>
          <a:prstGeom prst="rect">
            <a:avLst/>
          </a:prstGeom>
          <a:solidFill>
            <a:srgbClr val="0C0910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73368" y="1737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 — Reusable context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91656" y="2011680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api = await request.newContext({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baseURL: 'https://staging.app',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extraHTTPHeaders: {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Accept: 'application/json',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reuse across many requests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api.dispose();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4526280"/>
            <a:ext cx="5349240" cy="1298448"/>
          </a:xfrm>
          <a:prstGeom prst="rect">
            <a:avLst/>
          </a:prstGeom>
          <a:solidFill>
            <a:srgbClr val="0E2614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46268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99262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status AND body content</a:t>
            </a:r>
            <a:endParaRPr lang="en-US" sz="1100" dirty="0"/>
          </a:p>
          <a:p>
            <a:pPr marL="0" indent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an APIRequestContext for setup</a:t>
            </a:r>
            <a:endParaRPr lang="en-US" sz="1100" dirty="0"/>
          </a:p>
          <a:p>
            <a:pPr marL="0" indent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base URLs &amp; data in config / .env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0488" y="4526280"/>
            <a:ext cx="5349240" cy="1298448"/>
          </a:xfrm>
          <a:prstGeom prst="rect">
            <a:avLst/>
          </a:prstGeom>
          <a:solidFill>
            <a:srgbClr val="2A1216"/>
          </a:solidFill>
          <a:ln w="12700">
            <a:solidFill>
              <a:srgbClr val="5B20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0" y="46268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DON'T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499262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a browser just to hit an API</a:t>
            </a:r>
            <a:endParaRPr lang="en-US" sz="1100" dirty="0"/>
          </a:p>
          <a:p>
            <a:pPr marL="0" indent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status alone — verify the payload</a:t>
            </a:r>
            <a:endParaRPr lang="en-US" sz="1100" dirty="0"/>
          </a:p>
          <a:p>
            <a:pPr marL="0" indent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 tokens or secrets in tests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5989320"/>
            <a:ext cx="10881360" cy="566928"/>
          </a:xfrm>
          <a:prstGeom prst="rect">
            <a:avLst/>
          </a:prstGeom>
          <a:solidFill>
            <a:srgbClr val="3B11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58368" y="5989320"/>
            <a:ext cx="91440" cy="566928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00" y="598932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 </a:t>
            </a:r>
            <a:r>
              <a:rPr lang="en-US" sz="13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sending real requests, most APIs need you to prove who you are. Let's talk authentication.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xmlns:p14="http://schemas.microsoft.com/office/powerpoint/2010/main" spd="slow" p14:dur="9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0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· CORE CONCEPTS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</a:t>
            </a:r>
            <a:r>
              <a:rPr lang="en-US" sz="34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Authorization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10881360" cy="640080"/>
          </a:xfrm>
          <a:prstGeom prst="rect">
            <a:avLst/>
          </a:prstGeom>
          <a:solidFill>
            <a:srgbClr val="241A2A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questions: </a:t>
            </a: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proves who you are; authorization decides what you're allowed to 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2468880"/>
            <a:ext cx="5349240" cy="2286000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58368" y="2468880"/>
            <a:ext cx="5349240" cy="82296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78408" y="2697480"/>
            <a:ext cx="731520" cy="731520"/>
          </a:xfrm>
          <a:prstGeom prst="ellipse">
            <a:avLst/>
          </a:prstGeom>
          <a:solidFill>
            <a:srgbClr val="2A101B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234" y="2902306"/>
            <a:ext cx="321869" cy="32186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92808" y="2743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892808" y="3127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are you?”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78408" y="37033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identity — you prove you are who you claim to be, e.g. by logging in or sending a token.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78408" y="4343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first  ·  401 Unauthorized if it fails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90488" y="2468880"/>
            <a:ext cx="5349240" cy="2286000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190488" y="2468880"/>
            <a:ext cx="5349240" cy="82296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510528" y="2697480"/>
            <a:ext cx="731520" cy="731520"/>
          </a:xfrm>
          <a:prstGeom prst="ellipse">
            <a:avLst/>
          </a:prstGeom>
          <a:solidFill>
            <a:srgbClr val="2A101B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4" y="2902306"/>
            <a:ext cx="321869" cy="32186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24928" y="2743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Authorization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7424928" y="3127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can you do?”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510528" y="37033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permissions — whether your verified identity is allowed to access this resource or action.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6510528" y="4343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after  ·  403 Forbidden if denied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8368" y="4983480"/>
            <a:ext cx="10881360" cy="1005840"/>
          </a:xfrm>
          <a:prstGeom prst="rect">
            <a:avLst/>
          </a:prstGeom>
          <a:solidFill>
            <a:srgbClr val="241A2A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868680" y="5102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ANALOGY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868680" y="53949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= </a:t>
            </a:r>
            <a:r>
              <a:rPr lang="en-US" sz="14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your ID badge at the door.    </a:t>
            </a: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= </a:t>
            </a:r>
            <a:r>
              <a:rPr lang="en-US" sz="14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rooms that badge actually unlocks.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0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SECURITY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API </a:t>
            </a:r>
            <a:r>
              <a:rPr lang="en-US" sz="34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10881360" cy="640080"/>
          </a:xfrm>
          <a:prstGeom prst="rect">
            <a:avLst/>
          </a:prstGeom>
          <a:solidFill>
            <a:srgbClr val="241A2A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57276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APIs prove identity in different ways. </a:t>
            </a: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focus on Basic and Bearer</a:t>
            </a: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two you'll meet most in API testing.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2423160"/>
            <a:ext cx="3584448" cy="1783080"/>
          </a:xfrm>
          <a:prstGeom prst="rect">
            <a:avLst/>
          </a:prstGeom>
          <a:solidFill>
            <a:srgbClr val="47131F"/>
          </a:solidFill>
          <a:ln w="19050">
            <a:solidFill>
              <a:srgbClr val="F43F5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58368" y="2423160"/>
            <a:ext cx="82296" cy="178308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32688" y="2697480"/>
            <a:ext cx="640080" cy="640080"/>
          </a:xfrm>
          <a:prstGeom prst="ellipse">
            <a:avLst/>
          </a:prstGeom>
          <a:solidFill>
            <a:srgbClr val="2A101B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" y="2876702"/>
            <a:ext cx="281635" cy="2816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09928" y="2715768"/>
            <a:ext cx="2395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 Auth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50976" y="3410712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password, Base64-encoded in the Authorization header.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82696" y="25694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07408" y="2423160"/>
            <a:ext cx="3584448" cy="1783080"/>
          </a:xfrm>
          <a:prstGeom prst="rect">
            <a:avLst/>
          </a:prstGeom>
          <a:solidFill>
            <a:srgbClr val="47131F"/>
          </a:solidFill>
          <a:ln w="19050">
            <a:solidFill>
              <a:srgbClr val="F43F5E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407408" y="2423160"/>
            <a:ext cx="82296" cy="178308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681728" y="2697480"/>
            <a:ext cx="640080" cy="640080"/>
          </a:xfrm>
          <a:prstGeom prst="ellipse">
            <a:avLst/>
          </a:prstGeom>
          <a:solidFill>
            <a:srgbClr val="2A101B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950" y="2876702"/>
            <a:ext cx="281635" cy="28163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58968" y="2715768"/>
            <a:ext cx="2395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Bearer Token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700016" y="3410712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(often a JWT) sent in the Authorization header on each request.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7031736" y="25694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156448" y="2423160"/>
            <a:ext cx="3584448" cy="1783080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8156448" y="2423160"/>
            <a:ext cx="82296" cy="1783080"/>
          </a:xfrm>
          <a:prstGeom prst="rect">
            <a:avLst/>
          </a:prstGeom>
          <a:solidFill>
            <a:srgbClr val="9F45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8430768" y="2697480"/>
            <a:ext cx="640080" cy="640080"/>
          </a:xfrm>
          <a:prstGeom prst="ellipse">
            <a:avLst/>
          </a:prstGeom>
          <a:solidFill>
            <a:srgbClr val="2A101B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9990" y="2876702"/>
            <a:ext cx="281635" cy="28163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208008" y="2715768"/>
            <a:ext cx="2395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Key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449056" y="3410712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 key passed in a header or query string to identify the caller.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58368" y="4389120"/>
            <a:ext cx="3584448" cy="1783080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658368" y="4389120"/>
            <a:ext cx="82296" cy="1783080"/>
          </a:xfrm>
          <a:prstGeom prst="rect">
            <a:avLst/>
          </a:prstGeom>
          <a:solidFill>
            <a:srgbClr val="9F45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932688" y="4663440"/>
            <a:ext cx="640080" cy="640080"/>
          </a:xfrm>
          <a:prstGeom prst="ellipse">
            <a:avLst/>
          </a:prstGeom>
          <a:solidFill>
            <a:srgbClr val="2A101B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1910" y="4842662"/>
            <a:ext cx="281635" cy="28163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709928" y="4681728"/>
            <a:ext cx="2395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OAuth 2.0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950976" y="5376672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access — third-party login issues scoped access tokens.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4407408" y="4389120"/>
            <a:ext cx="3584448" cy="1783080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4407408" y="4389120"/>
            <a:ext cx="82296" cy="1783080"/>
          </a:xfrm>
          <a:prstGeom prst="rect">
            <a:avLst/>
          </a:prstGeom>
          <a:solidFill>
            <a:srgbClr val="9F45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4681728" y="4663440"/>
            <a:ext cx="640080" cy="640080"/>
          </a:xfrm>
          <a:prstGeom prst="ellipse">
            <a:avLst/>
          </a:prstGeom>
          <a:solidFill>
            <a:srgbClr val="2A101B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0950" y="4842662"/>
            <a:ext cx="281635" cy="28163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458968" y="4681728"/>
            <a:ext cx="2395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/ Cookie</a:t>
            </a:r>
            <a:endParaRPr lang="en-US" sz="1700" dirty="0"/>
          </a:p>
        </p:txBody>
      </p:sp>
      <p:sp>
        <p:nvSpPr>
          <p:cNvPr id="37" name="Text 30"/>
          <p:cNvSpPr/>
          <p:nvPr/>
        </p:nvSpPr>
        <p:spPr>
          <a:xfrm>
            <a:off x="4700016" y="5376672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creates a session; the browser returns its cookie automatically.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8156448" y="4389120"/>
            <a:ext cx="3584448" cy="1783080"/>
          </a:xfrm>
          <a:prstGeom prst="rect">
            <a:avLst/>
          </a:prstGeom>
          <a:solidFill>
            <a:srgbClr val="3B111F"/>
          </a:solidFill>
          <a:ln w="12700">
            <a:solidFill>
              <a:srgbClr val="3A243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2"/>
          <p:cNvSpPr/>
          <p:nvPr/>
        </p:nvSpPr>
        <p:spPr>
          <a:xfrm>
            <a:off x="8156448" y="4389120"/>
            <a:ext cx="82296" cy="1783080"/>
          </a:xfrm>
          <a:prstGeom prst="rect">
            <a:avLst/>
          </a:prstGeom>
          <a:solidFill>
            <a:srgbClr val="9F45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3"/>
          <p:cNvSpPr/>
          <p:nvPr/>
        </p:nvSpPr>
        <p:spPr>
          <a:xfrm>
            <a:off x="8430768" y="4663440"/>
            <a:ext cx="640080" cy="640080"/>
          </a:xfrm>
          <a:prstGeom prst="ellipse">
            <a:avLst/>
          </a:prstGeom>
          <a:solidFill>
            <a:srgbClr val="2A101B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9990" y="4842662"/>
            <a:ext cx="281635" cy="281635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208008" y="4681728"/>
            <a:ext cx="2395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Digest / Others</a:t>
            </a:r>
            <a:endParaRPr lang="en-US" sz="1700" dirty="0"/>
          </a:p>
        </p:txBody>
      </p:sp>
      <p:sp>
        <p:nvSpPr>
          <p:cNvPr id="43" name="Text 35"/>
          <p:cNvSpPr/>
          <p:nvPr/>
        </p:nvSpPr>
        <p:spPr>
          <a:xfrm>
            <a:off x="8449056" y="5376672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challenge-response and other scheme variants.</a:t>
            </a:r>
            <a:endParaRPr lang="en-US" sz="1250" dirty="0"/>
          </a:p>
        </p:txBody>
      </p:sp>
      <p:sp>
        <p:nvSpPr>
          <p:cNvPr id="44" name="Text 36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xmlns:p14="http://schemas.microsoft.com/office/powerpoint/2010/main" spd="slow" p14:dur="9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0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· BASIC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 </a:t>
            </a:r>
            <a:r>
              <a:rPr lang="en-US" sz="34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10881360" cy="640080"/>
          </a:xfrm>
          <a:prstGeom prst="rect">
            <a:avLst/>
          </a:prstGeom>
          <a:solidFill>
            <a:srgbClr val="241A2A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57276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 </a:t>
            </a: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your username and password (Base64-encoded) in the Authorization header of every request.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2743200"/>
            <a:ext cx="457200" cy="457200"/>
          </a:xfrm>
          <a:prstGeom prst="ellipse">
            <a:avLst/>
          </a:prstGeom>
          <a:solidFill>
            <a:srgbClr val="3B111F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8368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743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credentials as username:password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3456432"/>
            <a:ext cx="457200" cy="457200"/>
          </a:xfrm>
          <a:prstGeom prst="ellipse">
            <a:avLst/>
          </a:prstGeom>
          <a:solidFill>
            <a:srgbClr val="3B111F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4564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Base64-encode that string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4169664"/>
            <a:ext cx="457200" cy="457200"/>
          </a:xfrm>
          <a:prstGeom prst="ellipse">
            <a:avLst/>
          </a:prstGeom>
          <a:solidFill>
            <a:srgbClr val="3B111F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8368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1696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 as  Authorization: Basic &lt;encoded&gt;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" y="4882896"/>
            <a:ext cx="457200" cy="457200"/>
          </a:xfrm>
          <a:prstGeom prst="ellipse">
            <a:avLst/>
          </a:prstGeom>
          <a:solidFill>
            <a:srgbClr val="3B111F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8368" y="4882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88289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decodes, verifies, and responds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" y="5669280"/>
            <a:ext cx="5349240" cy="566928"/>
          </a:xfrm>
          <a:prstGeom prst="rect">
            <a:avLst/>
          </a:prstGeom>
          <a:solidFill>
            <a:srgbClr val="2A1216"/>
          </a:solidFill>
          <a:ln w="12700">
            <a:solidFill>
              <a:srgbClr val="5B20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68680" y="56692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Base64 is encoding, not encryption — </a:t>
            </a:r>
            <a:r>
              <a:rPr lang="en-US" sz="12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HTTPS.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90488" y="2377440"/>
            <a:ext cx="5349240" cy="3858768"/>
          </a:xfrm>
          <a:prstGeom prst="rect">
            <a:avLst/>
          </a:prstGeom>
          <a:solidFill>
            <a:srgbClr val="0C0910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73368" y="248716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 Auth — the header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91656" y="2761488"/>
            <a:ext cx="4983480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raw credentials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admin:staging123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Base64-encoded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YWRtaW46c3RhZ2luZzEyMw==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sent on the request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/admin  HTTP/1.1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Basic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YWRtaW46c3RhZ2luZzEyMw==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browser shows a login popup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Basic Auth challenges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0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· BEARER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Bearer Token </a:t>
            </a:r>
            <a:r>
              <a:rPr lang="en-US" sz="34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10881360" cy="640080"/>
          </a:xfrm>
          <a:prstGeom prst="rect">
            <a:avLst/>
          </a:prstGeom>
          <a:solidFill>
            <a:srgbClr val="241A2A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57276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bearer token is a credential string — </a:t>
            </a: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“whoever bears (holds) this token gets access.”</a:t>
            </a: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Often a JWT issued after login.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2743200"/>
            <a:ext cx="438912" cy="438912"/>
          </a:xfrm>
          <a:prstGeom prst="ellipse">
            <a:avLst/>
          </a:prstGeom>
          <a:solidFill>
            <a:srgbClr val="3B111F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8368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272491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logs in / requests a token from the auth server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3401568"/>
            <a:ext cx="438912" cy="438912"/>
          </a:xfrm>
          <a:prstGeom prst="ellipse">
            <a:avLst/>
          </a:prstGeom>
          <a:solidFill>
            <a:srgbClr val="3B111F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" y="3401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61872" y="3383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 and issues a token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" y="4059936"/>
            <a:ext cx="438912" cy="438912"/>
          </a:xfrm>
          <a:prstGeom prst="ellipse">
            <a:avLst/>
          </a:prstGeom>
          <a:solidFill>
            <a:srgbClr val="3B111F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8368" y="4059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61872" y="404164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 Authorization: Bearer &lt;token&gt;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8368" y="4718304"/>
            <a:ext cx="438912" cy="438912"/>
          </a:xfrm>
          <a:prstGeom prst="ellipse">
            <a:avLst/>
          </a:prstGeom>
          <a:solidFill>
            <a:srgbClr val="3B111F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8368" y="4718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61872" y="4700016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 the token on every request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" y="5440680"/>
            <a:ext cx="5349240" cy="804672"/>
          </a:xfrm>
          <a:prstGeom prst="rect">
            <a:avLst/>
          </a:prstGeom>
          <a:solidFill>
            <a:srgbClr val="241A2A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41248" y="5532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JWT HAS 3 PARTS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" y="58064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r>
              <a:rPr lang="en-US" sz="1400" b="1" dirty="0">
                <a:solidFill>
                  <a:srgbClr val="94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 </a:t>
            </a: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r>
              <a:rPr lang="en-US" sz="1400" b="1" dirty="0">
                <a:solidFill>
                  <a:srgbClr val="94A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 </a:t>
            </a:r>
            <a:r>
              <a:rPr lang="en-US" sz="14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90488" y="2377440"/>
            <a:ext cx="5349240" cy="3858768"/>
          </a:xfrm>
          <a:prstGeom prst="rect">
            <a:avLst/>
          </a:prstGeom>
          <a:solidFill>
            <a:srgbClr val="0C0910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373368" y="248716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Bearer Token — the header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91656" y="2761488"/>
            <a:ext cx="4983480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obtain a token (after login)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 -&gt; 200 OK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"token": "eyJhbGciOiJIUzI1..." }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send it on every request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/api/dashboard  HTTP/1.1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eyJhbGciOiJIUzI1NiIsInR5c...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popup — header on each call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token expires -&gt; request a new one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xmlns:p14="http://schemas.microsoft.com/office/powerpoint/2010/main" spd="slow" p14:dur="9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0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 · AUTHENTICATION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Handling Auth in </a:t>
            </a:r>
            <a:r>
              <a:rPr lang="en-US" sz="34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10881360" cy="676656"/>
          </a:xfrm>
          <a:prstGeom prst="rect">
            <a:avLst/>
          </a:prstGeom>
          <a:solidFill>
            <a:srgbClr val="241A2A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572768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credentials in the context — </a:t>
            </a:r>
            <a:r>
              <a:rPr lang="en-US" sz="14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httpCredentials</a:t>
            </a: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Basic, </a:t>
            </a:r>
            <a:r>
              <a:rPr lang="en-US" sz="14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extraHTTPHeaders</a:t>
            </a: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Bearer. No manual popup handling.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2432304"/>
            <a:ext cx="5349240" cy="2788920"/>
          </a:xfrm>
          <a:prstGeom prst="rect">
            <a:avLst/>
          </a:prstGeom>
          <a:solidFill>
            <a:srgbClr val="0C0910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41248" y="254203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 — Basic Auth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" y="2816352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test('staging site', async ({ browser }) =&gt; {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ctx = await browser.newContext({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httpCredentials: {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username: 'admin',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password: 'staging123',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page = await ctx.newPage();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page.goto('https://staging.app');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auto-authenticated, no popup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0488" y="2432304"/>
            <a:ext cx="5349240" cy="2788920"/>
          </a:xfrm>
          <a:prstGeom prst="rect">
            <a:avLst/>
          </a:prstGeom>
          <a:solidFill>
            <a:srgbClr val="0C0910"/>
          </a:solidFill>
          <a:ln w="12700">
            <a:solidFill>
              <a:srgbClr val="3A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73368" y="254203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 — Bearer Token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91656" y="2816352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test('API with token', async ({ playwright }) =&gt; {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api = await playwright.request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.newContext({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extraHTTPHeaders: {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Authorization: `Bearer ${TOKEN}`,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api.get('/api/dashboard');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expect(res.status()).toBe(200);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token on every request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5394960"/>
            <a:ext cx="5349240" cy="868680"/>
          </a:xfrm>
          <a:prstGeom prst="rect">
            <a:avLst/>
          </a:prstGeom>
          <a:solidFill>
            <a:srgbClr val="0E2614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" y="5468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7424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httpCredentials for Basic; headers for Bearer</a:t>
            </a:r>
            <a:endParaRPr lang="en-US" sz="1100" dirty="0"/>
          </a:p>
          <a:p>
            <a:pPr marL="0" indent="0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tokens &amp; secrets from .env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0488" y="5394960"/>
            <a:ext cx="5349240" cy="868680"/>
          </a:xfrm>
          <a:prstGeom prst="rect">
            <a:avLst/>
          </a:prstGeom>
          <a:solidFill>
            <a:srgbClr val="2A1216"/>
          </a:solidFill>
          <a:ln w="12700">
            <a:solidFill>
              <a:srgbClr val="5B20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0" y="5468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DON'T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57424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Basic Auth popups manually</a:t>
            </a:r>
            <a:endParaRPr lang="en-US" sz="1100" dirty="0"/>
          </a:p>
          <a:p>
            <a:pPr marL="0" indent="0">
              <a:lnSpc>
                <a:spcPct val="9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 credentials or commit them to git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xmlns:p14="http://schemas.microsoft.com/office/powerpoint/2010/main" spd="slow" p14:dur="9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6035040" cy="6035040"/>
          </a:xfrm>
          <a:prstGeom prst="ellipse">
            <a:avLst/>
          </a:prstGeom>
          <a:solidFill>
            <a:srgbClr val="2A10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4754880"/>
            <a:ext cx="3108960" cy="3108960"/>
          </a:xfrm>
          <a:prstGeom prst="ellipse">
            <a:avLst/>
          </a:prstGeom>
          <a:solidFill>
            <a:srgbClr val="2A10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58368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0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6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 &amp; </a:t>
            </a:r>
            <a:r>
              <a:rPr lang="en-US" sz="34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13232" y="1828800"/>
            <a:ext cx="457200" cy="457200"/>
          </a:xfrm>
          <a:prstGeom prst="ellipse">
            <a:avLst/>
          </a:prstGeom>
          <a:solidFill>
            <a:srgbClr val="2A101B"/>
          </a:solidFill>
          <a:ln w="15875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5681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API is &amp; how its structure looks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99632" y="1828800"/>
            <a:ext cx="457200" cy="457200"/>
          </a:xfrm>
          <a:prstGeom prst="ellipse">
            <a:avLst/>
          </a:prstGeom>
          <a:solidFill>
            <a:srgbClr val="2A101B"/>
          </a:solidFill>
          <a:ln w="15875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95681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39712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REST, SOAP, GraphQL &amp; gRPC — and access levels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13232" y="2578608"/>
            <a:ext cx="457200" cy="457200"/>
          </a:xfrm>
          <a:prstGeom prst="ellipse">
            <a:avLst/>
          </a:prstGeom>
          <a:solidFill>
            <a:srgbClr val="2A101B"/>
          </a:solidFill>
          <a:ln w="15875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706624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53312" y="2578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requests, responses, methods &amp; status codes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199632" y="2578608"/>
            <a:ext cx="457200" cy="457200"/>
          </a:xfrm>
          <a:prstGeom prst="ellipse">
            <a:avLst/>
          </a:prstGeom>
          <a:solidFill>
            <a:srgbClr val="2A101B"/>
          </a:solidFill>
          <a:ln w="15875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706624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39712" y="2578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API requests with Playwright's request fixture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713232" y="3328416"/>
            <a:ext cx="457200" cy="457200"/>
          </a:xfrm>
          <a:prstGeom prst="ellipse">
            <a:avLst/>
          </a:prstGeom>
          <a:solidFill>
            <a:srgbClr val="2A101B"/>
          </a:solidFill>
          <a:ln w="15875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456432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53312" y="332841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vs Authorization &amp; common auth types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6199632" y="3328416"/>
            <a:ext cx="457200" cy="457200"/>
          </a:xfrm>
          <a:prstGeom prst="ellipse">
            <a:avLst/>
          </a:prstGeom>
          <a:solidFill>
            <a:srgbClr val="2A101B"/>
          </a:solidFill>
          <a:ln w="15875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3456432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39712" y="332841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&amp; Bearer auth — and handling both in Playwright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658368" y="4480560"/>
            <a:ext cx="10881360" cy="1417320"/>
          </a:xfrm>
          <a:prstGeom prst="rect">
            <a:avLst/>
          </a:prstGeom>
          <a:solidFill>
            <a:srgbClr val="3B111F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7"/>
          <p:cNvSpPr/>
          <p:nvPr/>
        </p:nvSpPr>
        <p:spPr>
          <a:xfrm>
            <a:off x="658368" y="4480560"/>
            <a:ext cx="109728" cy="141732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18"/>
          <p:cNvSpPr/>
          <p:nvPr/>
        </p:nvSpPr>
        <p:spPr>
          <a:xfrm>
            <a:off x="1005840" y="4892040"/>
            <a:ext cx="603504" cy="603504"/>
          </a:xfrm>
          <a:prstGeom prst="ellipse">
            <a:avLst/>
          </a:prstGeom>
          <a:solidFill>
            <a:srgbClr val="2A101B"/>
          </a:solidFill>
          <a:ln w="1587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821" y="5061021"/>
            <a:ext cx="265542" cy="26554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828800" y="46634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next — Day 12: Handling HTTP Authentication</a:t>
            </a:r>
            <a:endParaRPr lang="en-US" sz="2000" dirty="0"/>
          </a:p>
        </p:txBody>
      </p:sp>
      <p:sp>
        <p:nvSpPr>
          <p:cNvPr id="29" name="Text 20"/>
          <p:cNvSpPr/>
          <p:nvPr/>
        </p:nvSpPr>
        <p:spPr>
          <a:xfrm>
            <a:off x="1828800" y="51663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C7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deep-dive: Basic Auth popups, Bearer tokens in headers and custom auth headers — all configured in the Playwright context.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1945</Words>
  <Application>Microsoft Office PowerPoint</Application>
  <PresentationFormat>Widescreen</PresentationFormat>
  <Paragraphs>348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Testing Fundamentals &amp; Authentication</dc:title>
  <dc:subject>PptxGenJS Presentation</dc:subject>
  <dc:creator>Automation Training Team</dc:creator>
  <cp:lastModifiedBy>Lakshmanan, Ajithkumar (Cognizant)</cp:lastModifiedBy>
  <cp:revision>1</cp:revision>
  <dcterms:created xsi:type="dcterms:W3CDTF">2026-06-10T04:21:46Z</dcterms:created>
  <dcterms:modified xsi:type="dcterms:W3CDTF">2026-06-10T04:43:39Z</dcterms:modified>
</cp:coreProperties>
</file>