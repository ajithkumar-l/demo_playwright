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63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4389120" cy="329184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TRAINING — SESSION 2–7 · TYPESCRIPT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Mastering </a:t>
            </a:r>
            <a:r>
              <a:rPr lang="en-US" sz="4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Locators &amp; Selectors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· XPath · Playwright Built-in Locators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Locators · Filtering · Chaining · Shadow DOM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" cy="10972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2–7 Deep Dive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3749040"/>
            <a:ext cx="109728" cy="10972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8328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37490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Intermediate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0" y="4114800"/>
            <a:ext cx="1828800" cy="1828800"/>
          </a:xfrm>
          <a:prstGeom prst="ellipse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DOM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Automation Testing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Hero  |  A Beginner-Friendly Guide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DOM?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0" cy="32004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64008" cy="32004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this way...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20116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a building from outside — that's the webpage.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is the blueprint that shows every room, wall, and door inside.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automate, you use this blueprint to find the exact button or textbox you need.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1371600"/>
          </a:xfrm>
          <a:prstGeom prst="rect">
            <a:avLst/>
          </a:prstGeom>
          <a:solidFill>
            <a:srgbClr val="0B1D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Document Object 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1920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tree-like structure that the browser creates from HTML. Every element on the page becomes a "node" in this tree.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9067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reads HTML and builds the DOM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29000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03520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live, interactive representation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76732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3739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tools navigate this tree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105656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4078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button, link, textbox is a node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DOM is a Tree Structure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79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id="login"&gt;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&lt;h1&gt;Welcome&lt;/h1&gt;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 name="user"&gt;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&lt;button&gt;Login&lt;/button&gt;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1AF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560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60520" y="30632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37760" y="1188720"/>
            <a:ext cx="3931920" cy="347472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93776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Tree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6364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2011680"/>
            <a:ext cx="0" cy="228600"/>
          </a:xfrm>
          <a:prstGeom prst="line">
            <a:avLst/>
          </a:prstGeom>
          <a:noFill/>
          <a:ln w="19050">
            <a:solidFill>
              <a:srgbClr val="5A71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263640" y="224028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26364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2560320"/>
            <a:ext cx="0" cy="228600"/>
          </a:xfrm>
          <a:prstGeom prst="line">
            <a:avLst/>
          </a:prstGeom>
          <a:noFill/>
          <a:ln w="19050">
            <a:solidFill>
              <a:srgbClr val="5A71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263640" y="278892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86500" y="27660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div#login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3108960"/>
            <a:ext cx="0" cy="320040"/>
          </a:xfrm>
          <a:prstGeom prst="line">
            <a:avLst/>
          </a:prstGeom>
          <a:noFill/>
          <a:ln w="19050">
            <a:solidFill>
              <a:srgbClr val="5A71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858000" y="3108960"/>
            <a:ext cx="0" cy="320040"/>
          </a:xfrm>
          <a:prstGeom prst="line">
            <a:avLst/>
          </a:prstGeom>
          <a:noFill/>
          <a:ln w="19050">
            <a:solidFill>
              <a:srgbClr val="5A71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955280" y="3108960"/>
            <a:ext cx="0" cy="320040"/>
          </a:xfrm>
          <a:prstGeom prst="line">
            <a:avLst/>
          </a:prstGeom>
          <a:noFill/>
          <a:ln w="19050">
            <a:solidFill>
              <a:srgbClr val="5A71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760720" y="3180296"/>
            <a:ext cx="2194560" cy="0"/>
          </a:xfrm>
          <a:prstGeom prst="line">
            <a:avLst/>
          </a:prstGeom>
          <a:noFill/>
          <a:ln w="19050">
            <a:solidFill>
              <a:srgbClr val="5A718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212080" y="342900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212080" y="34290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355080" y="342900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D1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355080" y="34290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498080" y="342900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7498080" y="342900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212080" y="3794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"Welcome"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98080" y="3794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1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"Login"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HTML Tag?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0B1D3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tells the browser </a:t>
            </a: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element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&lt;button&gt;Click Me&lt;/button&gt;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Tag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100" b="1" dirty="0">
                <a:solidFill>
                  <a:srgbClr val="98C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100" b="1" dirty="0">
                <a:solidFill>
                  <a:srgbClr val="61AF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Tag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Tags You'll See in Testing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boxes, checkboxes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30632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06040" y="30632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69748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buttons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632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&lt;a&gt;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30632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903720" y="30632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995160" y="3154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&lt;div&gt;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wrapper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4416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06040" y="39776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606040" y="39776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697480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2697480" y="4416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9776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9776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46320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&lt;form&gt;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846320" y="4416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inputs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3977640"/>
            <a:ext cx="1965960" cy="77724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903720" y="397764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95160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995160" y="4416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Attributes?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extra information attached to a tag. They are the key to finding elements!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="text"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="email"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="email" </a:t>
            </a:r>
            <a:r>
              <a:rPr lang="en-US" sz="14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="form-input"</a:t>
            </a:r>
            <a:r>
              <a:rPr lang="en-US" sz="1400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1965960" cy="18288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965960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691640" y="2670048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691640" y="267004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the element. Best for locating!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560320"/>
            <a:ext cx="1965960" cy="18288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06040" y="2560320"/>
            <a:ext cx="196596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0" y="2670048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40480" y="267004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3063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form field. Very reliable for inputs.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1965960" cy="18288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1965960" cy="36576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89320" y="2670048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89320" y="267004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3063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group name. Can be shared by many elements.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2560320"/>
            <a:ext cx="1965960" cy="18288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903720" y="2560320"/>
            <a:ext cx="1965960" cy="36576"/>
          </a:xfrm>
          <a:prstGeom prst="rect">
            <a:avLst/>
          </a:prstGeom>
          <a:solidFill>
            <a:srgbClr val="5A71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138160" y="2670048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5A718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138160" y="2670048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40880" y="2670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40880" y="306324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kind of input (text, password, etc.)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0D4A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626864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0584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Ask developers to add  data-testid  attributes — these are made specifically for testing and are the most reliable!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Locator vs Selector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confuses almost everyone — let's clear it up!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2763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SELECTOR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WHAT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or expression that </a:t>
            </a: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which element 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find.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an address: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red house on 5th street"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3840480"/>
            <a:ext cx="347472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6868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#login-btn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//button[@id='login-btn']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27632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554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LOCATOR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9834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98348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or method 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 uses to find the element.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 saying: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it by address" vs "by color"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98348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Strategies: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83480" y="3840480"/>
            <a:ext cx="347472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5166360" y="3886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ID  |  By Name  |  By Class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CSS  |  By XPath  |  By Text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6517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28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Mastering
</a:t>
            </a: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Selectors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web element targeting. CSS selectors are fast, concise, and readable — the building blocks before Playwright locators.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solidFill>
            <a:srgbClr val="0891B2">
              <a:alpha val="18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CSS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· Basics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Selector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Element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elements of specified type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.btn-primary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elements with specified class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element with specific 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&lt;p&gt; inside &lt;div&gt; (any depth)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&gt; 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♫ &lt;p&gt; that are direct children of &lt;div&gt;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+ 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Sibling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immediately after &lt;h2&gt;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~ 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Sibling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&lt;p&gt; siblings after &lt;h2&gt;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3776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.btn.secondary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with BOTH classes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· Attributes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Attribute Selectors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68580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[type="submit"]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— Attribute equals exact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0" cy="68580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947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[href^="https://"]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21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— Value begins with string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114800" cy="68580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724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[src$=".jpg"]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— Value ends with string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4114800" cy="68580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502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[class*="btn"]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— Value contains substring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69549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Pseudo-Classes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09468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input:disabled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109468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:disabled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387294"/>
            <a:ext cx="393192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0" y="147873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button:enabled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23760" y="147873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:enabled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771342"/>
            <a:ext cx="393192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186278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input:checked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186278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:checked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2155390"/>
            <a:ext cx="393192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224683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li:nth-child(3)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23760" y="224683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:nth-child(n)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539438"/>
            <a:ext cx="393192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46320" y="263087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p:first-child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263087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:first-child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923486"/>
            <a:ext cx="393192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46320" y="301492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div:last-child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23760" y="301492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:last-child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307534"/>
            <a:ext cx="393192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46320" y="339897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tr:nth-child(odd)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0" y="339897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:nth-child(odd)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691582"/>
            <a:ext cx="393192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378302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div:nth-of-type(odd)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23760" y="378302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:nth-of-type(odd)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28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SELECTORS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XPath
</a:t>
            </a: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Selectors Deep Dive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XML path language for navigating DOM trees. XPath provides axes, text search, and logical operators that CSS cannot.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solidFill>
            <a:srgbClr val="0891B2">
              <a:alpha val="18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XPath Mastery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· Basics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XPath Selector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/html/body/div[1]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XPath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path from root — fragile, avoid!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//a[@href='url']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Match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path with attribute selector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//input[@id='name']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id attribute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//tag[@a1='v1'][@a2='v2']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340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Attributes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on 2+ attributes at once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//a[contains(@href,'val')]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attribute match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//input[starts-with(@id,'pre')]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starts-with()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prefix match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//*[text()='Visible Text']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Search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visible text match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3776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//*[contains(text(),'partial')]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4169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Contains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text match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· Axes Methods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XPath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Axes </a:t>
            </a: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Navigating DOM Relationships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//input[@id='']/following::input[1]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element after current node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152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//input[@id='']/preceding::input[1]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element before current node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066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//*[text()='X']//ancestor::div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ancestor elements (parent, grandparent...)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0116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20116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20665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286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//*[@id='x']//child::li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child elements of current node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2980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following-sibling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//*[@type='submit']//following-sibling::input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 at same level AFTER current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2980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//*[@id='x']//parent::div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3776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parent of current node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" y="384048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" y="3895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//*[@type='password']//self::input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node itself (always 1 result)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754880" y="384048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37760" y="3895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//*[@id='x']//descendant::a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37760" y="4370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descendant elements at any depth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· Logical Operators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XPath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/ AND </a:t>
            </a: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0A2218"/>
          </a:solidFill>
          <a:ln w="6350">
            <a:solidFill>
              <a:srgbClr val="164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Expression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//*[@type='submit' or @name='btnReset']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condition can be true to match. Use when element has alternate identifiers.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1097280"/>
          </a:xfrm>
          <a:prstGeom prst="rect">
            <a:avLst/>
          </a:prstGeom>
          <a:solidFill>
            <a:srgbClr val="221A0A"/>
          </a:solidFill>
          <a:ln w="6350">
            <a:solidFill>
              <a:srgbClr val="4D3B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//input[@type='submit' and @name='btnLogin']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true. Use for precise matching when attributes overlap.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vs XPath — When to Use Which?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20482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7E8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7E8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Selectors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7E8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Faster (native browser)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slower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Cleaner syntax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Verbose but powerful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search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Cannot search by 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text() and contains()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Traverse 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Cannot go to parent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parent/ancestor axes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Traverse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Descendant combinator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child/descendant axes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 OR/AND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✔ or / and expressions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 rec.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CSS preferred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Use for text/parent needs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28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LOCATORS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
</a:t>
            </a: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Locators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of the show. Playwright provides powerful, auto-waiting, user-facing locators that make CSS/XPath feel like legacy tools.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solidFill>
            <a:srgbClr val="0891B2">
              <a:alpha val="18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4–5 · Core Locators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User-Facing Locators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6 —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User-Facing Locators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17043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07008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2688" y="1170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getByRole()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page.getByRole('button', { name: 'Submit' })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66928" y="1810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by ARIA role + accessible name. #1 recommended. Resilient to CSS/class changes.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114800" cy="117043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2070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0368" y="1170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getByText()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64608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page.getByText('Welcome back!')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4864608" y="18105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by visible text content. Supports exact and regex match.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2359152"/>
            <a:ext cx="4114800" cy="117043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4688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688" y="2432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getByLabel()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66928" y="2770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page.getByLabel('Username')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66928" y="30723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form inputs by their &lt;label&gt; text. Perfect for forms.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54880" y="2359152"/>
            <a:ext cx="4114800" cy="117043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246888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30368" y="2432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getByPlaceholder()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864608" y="2770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page.getByPlaceholder('Enter email...')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4864608" y="30723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by placeholder attribute text. Great for inputs without labels.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57200" y="3621024"/>
            <a:ext cx="4114800" cy="117043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730752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2688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getByAltText()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66928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page.getByAltText('Company Logo')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566928" y="43342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images/elements by alt text. Essential for accessibility.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754880" y="3621024"/>
            <a:ext cx="4114800" cy="1170432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730752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30368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getByTitle()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864608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page.getByTitle('Close dialog')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4864608" y="43342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by title attribute. Useful for tooltips and icon-only elements.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629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getByRole()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11301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getByRole() </a:t>
            </a: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King of Locators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47083" y="1188720"/>
            <a:ext cx="4114800" cy="3474720"/>
          </a:xfrm>
          <a:prstGeom prst="rect">
            <a:avLst/>
          </a:prstGeom>
          <a:solidFill>
            <a:srgbClr val="010409"/>
          </a:solidFill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370955" y="125750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8404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Button by accessible name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page.getByRole('button',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'Submit' }).click();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Link with exact text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page.getByRole('link',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'Get started',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exact: true }).click();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Checkbox (checked state)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page.getByRole('checkbox',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'Remember me',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checked: false }).check();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Heading level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page.getByRole('heading',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'Welcome', level: 1 });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Textbox (input/textarea)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page.getByRole('textbox',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'Email' }).fill('a@b.com');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800600" y="7726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ARIA Roles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12008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63640" y="1120083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&lt;button&gt;, role='button'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376115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41269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63640" y="141269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href&gt;, role='link'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0600" y="1668723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0600" y="170529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textbox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63640" y="170529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type='text'&gt;, &lt;textarea&gt;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00600" y="1961331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199790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1997907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type='checkbox'&gt;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2253939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00600" y="229051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2290515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&lt;input type='radio'&gt;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546547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258312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combobox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2583123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&lt;select&gt;, role='combobox'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839155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287573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287573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&lt;h1&gt;–&lt;h6&gt;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3131763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316833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/ listitem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63640" y="3168339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&lt;ul&gt;, &lt;li&gt;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3424371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00600" y="346094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dialog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3460947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&lt;dialog&gt;, role='dialog'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716979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375355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3753555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&lt;nav&gt;, role='navigation'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4009587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00600" y="4046163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/ tabpanel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4046163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role='tab', role='tabpanel'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4302195"/>
            <a:ext cx="3931920" cy="0"/>
          </a:xfrm>
          <a:prstGeom prst="line">
            <a:avLst/>
          </a:prstGeom>
          <a:noFill/>
          <a:ln w="508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00600" y="433877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63640" y="4338771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&lt;img&gt;, role='img'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599" y="4746270"/>
            <a:ext cx="4161817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45736" y="4757166"/>
            <a:ext cx="54864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75827" y="4729798"/>
            <a:ext cx="43913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getByRole() is the FIRST locator to try. It mirrors how users perceive elements.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Other Locators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CSS, XPath, TestId &amp;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 Locators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152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page.locator()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page.locator('css=button.primary')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page.locator('xpath=//button[@id="sub"]')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General-purpose. Accepts CSS (default) or XPath with prefix. Fallback when user-facing locators won’t work.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1122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page.getByTestId()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350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page.getByTestId('submit-button')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HTML: &lt;button data-testid="submit-button"&gt;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by data-testid attribute. A contract between dev and QA. Resilient to UI changes.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0723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page.locator('id=')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3101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page.locator('id=username')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Shorthand for [id="username"]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31089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ID targeting. Quick but fragile if IDs are auto-generated.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0325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page.frameLocator()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270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page.frameLocator('#iframe')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.getByRole('button', { name: 'OK' })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40690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elements inside iFrames. Chain with any locator method after entering the frame.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Best Practice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37947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 </a:t>
            </a:r>
            <a:r>
              <a:rPr lang="en-US" sz="2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Hierarchy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38395"/>
            <a:ext cx="8229600" cy="438912"/>
          </a:xfrm>
          <a:prstGeom prst="rect">
            <a:avLst/>
          </a:prstGeom>
          <a:solidFill>
            <a:srgbClr val="0A2218"/>
          </a:solidFill>
          <a:ln w="6350">
            <a:solidFill>
              <a:srgbClr val="164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66928" y="929835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9298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874971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getByRole()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874971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User-facing, accessible, most resilient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68747"/>
            <a:ext cx="8229600" cy="438912"/>
          </a:xfrm>
          <a:prstGeom prst="rect">
            <a:avLst/>
          </a:prstGeom>
          <a:solidFill>
            <a:srgbClr val="0A2218"/>
          </a:solidFill>
          <a:ln w="6350">
            <a:solidFill>
              <a:srgbClr val="164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66928" y="1460187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460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405323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getByText()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405323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text — good for buttons, links, labels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99099"/>
            <a:ext cx="8229600" cy="438912"/>
          </a:xfrm>
          <a:prstGeom prst="rect">
            <a:avLst/>
          </a:prstGeom>
          <a:solidFill>
            <a:srgbClr val="0A1C2E"/>
          </a:solidFill>
          <a:ln w="6350">
            <a:solidFill>
              <a:srgbClr val="0D3B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66928" y="1990539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199053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017971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getByLabel()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93567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inputs by label — standard for forms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29451"/>
            <a:ext cx="8229600" cy="438912"/>
          </a:xfrm>
          <a:prstGeom prst="rect">
            <a:avLst/>
          </a:prstGeom>
          <a:solidFill>
            <a:srgbClr val="0A1C2E"/>
          </a:solidFill>
          <a:ln w="6350">
            <a:solidFill>
              <a:srgbClr val="0D3B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66928" y="2520891"/>
            <a:ext cx="256032" cy="25603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6928" y="25208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566611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getByPlaceholder()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466027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without labels — placeholder text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59803"/>
            <a:ext cx="8229600" cy="438912"/>
          </a:xfrm>
          <a:prstGeom prst="rect">
            <a:avLst/>
          </a:prstGeom>
          <a:solidFill>
            <a:srgbClr val="221A0A"/>
          </a:solidFill>
          <a:ln w="6350">
            <a:solidFill>
              <a:srgbClr val="4D3B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66928" y="3051243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" y="30512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3096963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getByTestId()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2996379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QA contract — data-testid attribute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90155"/>
            <a:ext cx="8229600" cy="438912"/>
          </a:xfrm>
          <a:prstGeom prst="rect">
            <a:avLst/>
          </a:prstGeom>
          <a:solidFill>
            <a:srgbClr val="221A0A"/>
          </a:solidFill>
          <a:ln w="6350">
            <a:solidFill>
              <a:srgbClr val="4D3B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66928" y="3581595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66928" y="358159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3609027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page.locator(css)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83280" y="3526731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 — when user-facing won’t work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022128"/>
            <a:ext cx="8229600" cy="438912"/>
          </a:xfrm>
          <a:prstGeom prst="rect">
            <a:avLst/>
          </a:prstGeom>
          <a:solidFill>
            <a:srgbClr val="220A0A"/>
          </a:solidFill>
          <a:ln w="6350">
            <a:solidFill>
              <a:srgbClr val="4D14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66928" y="4111947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66928" y="411194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4166811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page.locator(xpath)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83280" y="4075371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XPath — last resort for complex DOM navigation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7200" y="4572000"/>
            <a:ext cx="54864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9436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Start from the top. Only go lower when the locator above it genuinely cannot work for your element.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28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CHAINING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Filtering &amp;
</a:t>
            </a: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Chaining Locators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locator returns multiple matches, use Playwright’s filtering and chaining to narrow down to the exact element.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solidFill>
            <a:srgbClr val="0891B2">
              <a:alpha val="18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5–6 · Advanced Locators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Filtering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Filtering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Locators</a:t>
            </a: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Narrowing 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749040"/>
          </a:xfrm>
          <a:prstGeom prst="rect">
            <a:avLst/>
          </a:prstGeom>
          <a:solidFill>
            <a:srgbClr val="010409"/>
          </a:solidFill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0" y="1152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84048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by text content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page.getByRole('listitem')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.filter({ hasText: 'Product A' })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by NOT having text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page.getByRole('listitem')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.filter({ hasNotText: 'Sold out' });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by child locator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page.getByRole('listitem')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.filter({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has: page.getByRole('heading',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name: 'Featured' })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Filter by NOT having child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page.getByRole('listitem')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.filter({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hasNot: page.getByText('Archived')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2344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21808" y="1170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hasText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21808" y="14447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visible text inside element. Accepts string or regex.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46320" y="2011680"/>
            <a:ext cx="393192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148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084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hasNotText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21808" y="2359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elements containing specified text.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46320" y="2926080"/>
            <a:ext cx="393192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063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1808" y="29992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321808" y="3273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presence of a child locator inside element.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846320" y="3840480"/>
            <a:ext cx="3931920" cy="82296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9776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21808" y="3913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hasNot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321808" y="41879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elements that contain a specific child locator.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Chaining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Chaining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Locators</a:t>
            </a: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Scoped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solidFill>
            <a:srgbClr val="010409"/>
          </a:solidFill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0" y="1152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389888"/>
            <a:ext cx="38404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 narrows scope step by step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productCard = page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.locator('.product-card')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.filter({ hasText: 'iPhone 15' });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Now interact within this card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productCard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.getByRole('button',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'Add to Cart' })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.click();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productCard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.getByText('$999')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.isVisible();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2286000"/>
          </a:xfrm>
          <a:prstGeom prst="rect">
            <a:avLst/>
          </a:prstGeom>
          <a:solidFill>
            <a:srgbClr val="010409"/>
          </a:solidFill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766560" y="11521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83480" y="1389888"/>
            <a:ext cx="36576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Chaining = scoped selectors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→ Child → Grandchild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sidebar = page.locator('nav.sidebar');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menuItem = sidebar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.getByRole('link', { name: 'Settings' });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menuItem.click();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Table row → specific cell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row = page.getByRole('row')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.filter({ hasText: 'John Doe' });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row.getByRole('button',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name: 'Edit' }).click();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Chaining Works — Narrowing Scope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1828800" cy="457200"/>
          </a:xfrm>
          <a:prstGeom prst="rect">
            <a:avLst/>
          </a:prstGeom>
          <a:solidFill>
            <a:srgbClr val="0891B2">
              <a:alpha val="22000"/>
            </a:srgbClr>
          </a:solidFill>
          <a:ln w="9525">
            <a:solidFill>
              <a:srgbClr val="0891B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(entire DOM)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3977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51760" y="3977640"/>
            <a:ext cx="1828800" cy="457200"/>
          </a:xfrm>
          <a:prstGeom prst="rect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5176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.locator('.card')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977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3977640"/>
            <a:ext cx="1828800" cy="457200"/>
          </a:xfrm>
          <a:prstGeom prst="rect">
            <a:avLst/>
          </a:prstGeom>
          <a:solidFill>
            <a:srgbClr val="10B981">
              <a:alpha val="22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.filter({hasText: 'X'})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39776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75120" y="3977640"/>
            <a:ext cx="1828800" cy="457200"/>
          </a:xfrm>
          <a:prstGeom prst="rect">
            <a:avLst/>
          </a:prstGeom>
          <a:solidFill>
            <a:srgbClr val="F59E0B">
              <a:alpha val="22000"/>
            </a:srgbClr>
          </a:solidFill>
          <a:ln w="9525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7512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.getByRole('button')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DOM Traversal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Child, Parent &amp;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Sibling </a:t>
            </a: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86200" cy="1645920"/>
          </a:xfrm>
          <a:prstGeom prst="rect">
            <a:avLst/>
          </a:prstGeom>
          <a:solidFill>
            <a:srgbClr val="0A1C2E"/>
          </a:solidFill>
          <a:ln w="6350">
            <a:solidFill>
              <a:srgbClr val="0D3B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Child Elements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627632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Direct child by locator chain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card = page.locator('.product');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card.getByRole('button').click();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child combinator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page.locator('.card &gt; .title');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nth() for index-based selection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page.locator('.item').nth(2);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480560" y="1298315"/>
            <a:ext cx="4297680" cy="2005714"/>
          </a:xfrm>
          <a:prstGeom prst="rect">
            <a:avLst/>
          </a:prstGeom>
          <a:solidFill>
            <a:srgbClr val="150A2A"/>
          </a:solidFill>
          <a:ln w="6350">
            <a:solidFill>
              <a:srgbClr val="2E1450"/>
            </a:solidFill>
            <a:prstDash val="solid"/>
          </a:ln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1704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28032" y="11780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Parent Elements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90288" y="1607431"/>
            <a:ext cx="40965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locator() with xpath parent axis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page.locator('//button[@id="del"]/..');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Chained filter from parent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page.locator('.card').filter({</a:t>
            </a:r>
            <a:r>
              <a:rPr lang="en-US" sz="850" dirty="0"/>
              <a:t> 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has: page.getByText('Target')});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XPath ancestor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('//span[text()="Price"]/ancestor::div');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3886200" cy="1943100"/>
          </a:xfrm>
          <a:prstGeom prst="rect">
            <a:avLst/>
          </a:prstGeom>
          <a:solidFill>
            <a:srgbClr val="0A2218"/>
          </a:solidFill>
          <a:ln w="6350">
            <a:solidFill>
              <a:srgbClr val="164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9992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Elements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94360" y="3456432"/>
            <a:ext cx="37490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adjacent sibling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page.locator('h2.title + p.desc');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general sibling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page.locator('h2.title ~ p');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XPath following-sibling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('//label[@for="email"]/following-sibling::input');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480560" y="3177702"/>
            <a:ext cx="4297680" cy="1691478"/>
          </a:xfrm>
          <a:prstGeom prst="rect">
            <a:avLst/>
          </a:prstGeom>
          <a:solidFill>
            <a:srgbClr val="221A0A"/>
          </a:solidFill>
          <a:ln w="6350">
            <a:solidFill>
              <a:srgbClr val="4D3B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283961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19472" y="328253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Locators (Variables)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90288" y="3625434"/>
            <a:ext cx="3749040" cy="1138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 locator in a variable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r>
              <a:rPr lang="en-US" sz="8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emailInput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r>
              <a:rPr lang="en-US" sz="850" dirty="0"/>
              <a:t> </a:t>
            </a:r>
            <a:r>
              <a:rPr lang="en-US" sz="8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page.getByLabel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('Email');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Reuse throughout the test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emailInput.fill('a@b.com');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emailInput.press('Tab');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expect(</a:t>
            </a:r>
            <a:r>
              <a:rPr lang="en-US" sz="8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emailInput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).toHaveValue('a@b.com');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891B2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D28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Handling
</a:t>
            </a:r>
            <a:r>
              <a:rPr lang="en-US" sz="3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 DOM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Components encapsulate their DOM in Shadow roots. Playwright pierces through them automatically — but you need to know how.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solidFill>
            <a:srgbClr val="0891B2">
              <a:alpha val="18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· Advanced Topics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· Handling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Playwright &amp;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Shadow DOM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97280"/>
          </a:xfrm>
          <a:prstGeom prst="rect">
            <a:avLst/>
          </a:prstGeom>
          <a:solidFill>
            <a:srgbClr val="111D35"/>
          </a:solidFill>
          <a:ln w="635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Shadow DOM?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447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Components create isolated DOM trees (shadow roots) that are hidden from the main document. Elements inside a shadow root are invisible to normal CSS selectors and XPath queries.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931920" cy="1097280"/>
          </a:xfrm>
          <a:prstGeom prst="rect">
            <a:avLst/>
          </a:prstGeom>
          <a:solidFill>
            <a:srgbClr val="0A2218"/>
          </a:solidFill>
          <a:ln w="6350">
            <a:solidFill>
              <a:srgbClr val="164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83480" y="1143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Playwright Auto-Pierces!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4447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Playwright’s locators automatically pierce shadow DOM boundaries. getByRole, getByText, and other built-in locators work inside shadow roots with zero extra configuration.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258766" cy="2377440"/>
          </a:xfrm>
          <a:prstGeom prst="rect">
            <a:avLst/>
          </a:prstGeom>
          <a:solidFill>
            <a:srgbClr val="010409"/>
          </a:solidFill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83081" y="24140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 HTML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384048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 with Shadow DOM --&gt;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&lt;custom-dropdown&gt;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#shadow-root (open)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class="dropdown"&gt;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&lt;button&gt;Select option&lt;/button&gt;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&lt;ul class="options"&gt;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&lt;li&gt;Option A&lt;/li&gt;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&lt;li&gt;Option B&lt;/li&gt;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&lt;/ul&gt;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&lt;/custom-dropdown&gt;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53126" y="2315185"/>
            <a:ext cx="4925114" cy="2439695"/>
          </a:xfrm>
          <a:prstGeom prst="rect">
            <a:avLst/>
          </a:prstGeom>
          <a:solidFill>
            <a:srgbClr val="010409"/>
          </a:solidFill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66560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944242" y="2633472"/>
            <a:ext cx="477303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Playwright auto-pierces shadow DOM!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special APIs needed.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Click button inside shadow root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page.getByRole('button',{ name: 'Select option' }).click();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an option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page.getByText('Option A').click();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CSS with &gt;&gt; for explicit pierce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</a:t>
            </a:r>
            <a:r>
              <a:rPr lang="en-US" sz="8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page.locator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('custom-dropdown &gt;&gt; .</a:t>
            </a:r>
            <a:r>
              <a:rPr lang="en-US" sz="85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optionsli</a:t>
            </a: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').first().click();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8229600" cy="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54864" cy="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4846320"/>
            <a:ext cx="8046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Wrap-Up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Locators 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Cheat Sheet</a:t>
            </a:r>
            <a:r>
              <a:rPr lang="en-US" sz="2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— Quick Reference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7E8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7E8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7E8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getByRole('button',{name:'X'})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accessible role +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Best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getByText('visible text')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visible 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Great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getByLabel('Email')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input by label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 Great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getByTestId('submit')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data-testid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getByPlaceholder('Enter...')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placeholder 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.filter({hasText: 'X'})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by text 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.filter({has: locator})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by child locator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locator().nth(0)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Index-based (0-indexed)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locator('css=.class')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selector fallback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locator('xpath=//...')</a:t>
                      </a:r>
                      <a:endParaRPr lang="en-US" sz="8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XPath fallback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resort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57200" y="4160520"/>
            <a:ext cx="54864" cy="320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Remember: User-facing locators first → Filter when needed → CSS/XPath only as last resort.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0" y="457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743200" y="1234440"/>
            <a:ext cx="3657600" cy="329184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2–7 COMPLETE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Locator Mastery!
</a:t>
            </a: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Any Element with Confidence 🚀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Use the Playwright Inspector to explore locators on your app!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playwright codegen &lt;your-app-url&gt;  —  watch locators auto-generate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886200"/>
            <a:ext cx="1220724" cy="320040"/>
          </a:xfrm>
          <a:prstGeom prst="rect">
            <a:avLst/>
          </a:prstGeom>
          <a:solidFill>
            <a:srgbClr val="0891B2">
              <a:alpha val="20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122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3886200"/>
            <a:ext cx="1220724" cy="320040"/>
          </a:xfrm>
          <a:prstGeom prst="rect">
            <a:avLst/>
          </a:prstGeom>
          <a:solidFill>
            <a:srgbClr val="0891B2">
              <a:alpha val="20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17520" y="3886200"/>
            <a:ext cx="1220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getByText()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886200"/>
            <a:ext cx="987552" cy="320040"/>
          </a:xfrm>
          <a:prstGeom prst="rect">
            <a:avLst/>
          </a:prstGeom>
          <a:solidFill>
            <a:srgbClr val="0891B2">
              <a:alpha val="20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886200"/>
            <a:ext cx="987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886200"/>
            <a:ext cx="1143000" cy="320040"/>
          </a:xfrm>
          <a:prstGeom prst="rect">
            <a:avLst/>
          </a:prstGeom>
          <a:solidFill>
            <a:srgbClr val="0891B2">
              <a:alpha val="20000"/>
            </a:srgbClr>
          </a:solidFill>
          <a:ln w="9525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0" y="388620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4626</TotalTime>
  <Words>3010</Words>
  <Application>Microsoft Office PowerPoint</Application>
  <PresentationFormat>On-screen Show (16:9)</PresentationFormat>
  <Paragraphs>590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Consolas</vt:lpstr>
      <vt:lpstr>Courier New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Locators &amp; Selectors – Session 2-7</dc:title>
  <dc:subject>PptxGenJS Presentation</dc:subject>
  <dc:creator>PptxGenJS</dc:creator>
  <cp:lastModifiedBy>Lakshmanan, Ajithkumar (Cognizant)</cp:lastModifiedBy>
  <cp:revision>3</cp:revision>
  <dcterms:created xsi:type="dcterms:W3CDTF">2026-03-31T12:07:38Z</dcterms:created>
  <dcterms:modified xsi:type="dcterms:W3CDTF">2026-04-06T16:57:14Z</dcterms:modified>
</cp:coreProperties>
</file>