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5" r:id="rId21"/>
    <p:sldId id="296" r:id="rId22"/>
    <p:sldId id="298" r:id="rId23"/>
    <p:sldId id="299" r:id="rId24"/>
    <p:sldId id="289" r:id="rId25"/>
    <p:sldId id="290" r:id="rId26"/>
    <p:sldId id="291" r:id="rId27"/>
    <p:sldId id="292" r:id="rId28"/>
    <p:sldId id="275" r:id="rId29"/>
    <p:sldId id="297" r:id="rId30"/>
    <p:sldId id="276" r:id="rId31"/>
    <p:sldId id="293" r:id="rId32"/>
    <p:sldId id="294" r:id="rId33"/>
    <p:sldId id="277" r:id="rId34"/>
    <p:sldId id="278" r:id="rId35"/>
    <p:sldId id="279" r:id="rId36"/>
    <p:sldId id="280" r:id="rId37"/>
    <p:sldId id="281" r:id="rId38"/>
    <p:sldId id="282" r:id="rId39"/>
    <p:sldId id="285" r:id="rId40"/>
    <p:sldId id="286" r:id="rId41"/>
    <p:sldId id="287" r:id="rId42"/>
    <p:sldId id="288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92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SESSION  ·  DAY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Cypress Concepts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Environment variables, retries, multi-browser, and CI/CD with GitHub Actions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657600" cy="777240"/>
          </a:xfrm>
          <a:prstGeom prst="rect">
            <a:avLst/>
          </a:prstGeom>
          <a:solidFill>
            <a:srgbClr val="1E2761"/>
          </a:solidFill>
          <a:ln w="19050">
            <a:solidFill>
              <a:srgbClr val="69D3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40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 vars · browsers · retries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3246120"/>
            <a:ext cx="3657600" cy="777240"/>
          </a:xfrm>
          <a:prstGeom prst="rect">
            <a:avLst/>
          </a:prstGeom>
          <a:solidFill>
            <a:srgbClr val="1E2761"/>
          </a:solidFill>
          <a:ln w="1905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45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with GitHub Actions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scripts you run manually to tests that run on every push —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Hour Runs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tests beyond happy-path scripts and into a robust, CI-ready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40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Cypress Features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— why and how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env vars inside tests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tests in different browsers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for flaky tests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mode for CI runs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73152" cy="32004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45 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with GitHub Actions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83480" y="23774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CI/CD is, why it matters, CI vs CD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Git, GitHub account, push project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anatomy, matrix, triggering, monitoring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CI/CD + best practices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Advanced Cypress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548640" cy="73152"/>
          </a:xfrm>
          <a:prstGeom prst="rect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 for Real-World Tests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happy-path scripts — environments, browsers, retries, and headless runs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40 minutes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 Variables — Why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URLs and credentials for dev, staging, prod — one codebase, no surprises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089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3108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Hardcoded values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657600" cy="178308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orders.cy.js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cy.visit(</a:t>
            </a:r>
            <a:r>
              <a:rPr lang="en-US" sz="10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"https://stg.app.com"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cy.login(</a:t>
            </a:r>
            <a:r>
              <a:rPr lang="en-US" sz="10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"qa@team.dev"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"P@ss123");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products.cy.js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cy.visit(</a:t>
            </a:r>
            <a:r>
              <a:rPr lang="en-US" sz="10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"https://stg.app.com"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cy.login(</a:t>
            </a:r>
            <a:r>
              <a:rPr lang="en-US" sz="10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"qa@team.dev"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"P@ss123");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 against prod? edit 30 files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environment? Edit 30 files.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023360" cy="31089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73152" cy="3108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Environment variables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920240"/>
            <a:ext cx="3657600" cy="178308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83480" y="20116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cypress.config.js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.exports = {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e2e: { baseUrl: </a:t>
            </a:r>
            <a:r>
              <a:rPr lang="en-US" sz="10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Cypress.env("BASE_URL")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env: { USER, PWD 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injected at runtime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any test — clean: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cy.visit("/orders");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cy.login(</a:t>
            </a:r>
            <a:r>
              <a:rPr lang="en-US" sz="10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Cypress.env("USER")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environment? Change one var.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Advanced Cypress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 Env Vars — Three Ways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most-static to most-dynamic — pick the right tool for each value</a:t>
            </a:r>
            <a:endParaRPr lang="en-US" sz="1300" dirty="0"/>
          </a:p>
        </p:txBody>
      </p:sp>
      <p:sp>
        <p:nvSpPr>
          <p:cNvPr id="4" name="Shape 4"/>
          <p:cNvSpPr/>
          <p:nvPr/>
        </p:nvSpPr>
        <p:spPr>
          <a:xfrm>
            <a:off x="457200" y="1508760"/>
            <a:ext cx="2682240" cy="502920"/>
          </a:xfrm>
          <a:prstGeom prst="rect">
            <a:avLst/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5"/>
          <p:cNvSpPr/>
          <p:nvPr/>
        </p:nvSpPr>
        <p:spPr>
          <a:xfrm>
            <a:off x="594360" y="160020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6"/>
          <p:cNvSpPr/>
          <p:nvPr/>
        </p:nvSpPr>
        <p:spPr>
          <a:xfrm>
            <a:off x="59436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7"/>
          <p:cNvSpPr/>
          <p:nvPr/>
        </p:nvSpPr>
        <p:spPr>
          <a:xfrm>
            <a:off x="1005840" y="1508760"/>
            <a:ext cx="20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cypress.env.json</a:t>
            </a:r>
            <a:endParaRPr lang="en-US" sz="1600" dirty="0"/>
          </a:p>
        </p:txBody>
      </p:sp>
      <p:sp>
        <p:nvSpPr>
          <p:cNvPr id="8" name="Text 8"/>
          <p:cNvSpPr/>
          <p:nvPr/>
        </p:nvSpPr>
        <p:spPr>
          <a:xfrm>
            <a:off x="457200" y="2103120"/>
            <a:ext cx="2682240" cy="502920"/>
          </a:xfrm>
          <a:prstGeom prst="rect">
            <a:avLst/>
          </a:prstGeom>
          <a:noFill/>
          <a:ln/>
        </p:spPr>
        <p:txBody>
          <a:bodyPr wrap="square" lIns="137160" tIns="45720" rIns="13716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values for the project — checked in (or gitignored if sensitive)</a:t>
            </a:r>
            <a:endParaRPr lang="en-US" sz="1000" dirty="0"/>
          </a:p>
        </p:txBody>
      </p:sp>
      <p:sp>
        <p:nvSpPr>
          <p:cNvPr id="9" name="Shape 9"/>
          <p:cNvSpPr/>
          <p:nvPr/>
        </p:nvSpPr>
        <p:spPr>
          <a:xfrm>
            <a:off x="457200" y="2651760"/>
            <a:ext cx="2682240" cy="1965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10"/>
          <p:cNvSpPr/>
          <p:nvPr/>
        </p:nvSpPr>
        <p:spPr>
          <a:xfrm>
            <a:off x="640080" y="2743200"/>
            <a:ext cx="2316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"BASE_URL"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"https://..."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</a:t>
            </a: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"qa@x.co"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"PWD"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</a:t>
            </a: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"P@ss123"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committed if non-secret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else: in .gitignore</a:t>
            </a:r>
            <a:endParaRPr lang="en-US" sz="850" dirty="0"/>
          </a:p>
        </p:txBody>
      </p:sp>
      <p:sp>
        <p:nvSpPr>
          <p:cNvPr id="11" name="Shape 11"/>
          <p:cNvSpPr/>
          <p:nvPr/>
        </p:nvSpPr>
        <p:spPr>
          <a:xfrm>
            <a:off x="3276600" y="1508760"/>
            <a:ext cx="2682240" cy="502920"/>
          </a:xfrm>
          <a:prstGeom prst="rect">
            <a:avLst/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2"/>
          <p:cNvSpPr/>
          <p:nvPr/>
        </p:nvSpPr>
        <p:spPr>
          <a:xfrm>
            <a:off x="3413760" y="160020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3"/>
          <p:cNvSpPr/>
          <p:nvPr/>
        </p:nvSpPr>
        <p:spPr>
          <a:xfrm>
            <a:off x="341376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4"/>
          <p:cNvSpPr/>
          <p:nvPr/>
        </p:nvSpPr>
        <p:spPr>
          <a:xfrm>
            <a:off x="3825240" y="1508760"/>
            <a:ext cx="20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cypress.config.js</a:t>
            </a:r>
            <a:endParaRPr lang="en-US" sz="1600" dirty="0"/>
          </a:p>
        </p:txBody>
      </p:sp>
      <p:sp>
        <p:nvSpPr>
          <p:cNvPr id="15" name="Text 15"/>
          <p:cNvSpPr/>
          <p:nvPr/>
        </p:nvSpPr>
        <p:spPr>
          <a:xfrm>
            <a:off x="3276600" y="2103120"/>
            <a:ext cx="2682240" cy="502920"/>
          </a:xfrm>
          <a:prstGeom prst="rect">
            <a:avLst/>
          </a:prstGeom>
          <a:noFill/>
          <a:ln/>
        </p:spPr>
        <p:txBody>
          <a:bodyPr wrap="square" lIns="137160" tIns="45720" rIns="13716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Per-environment values resolved when Cypress boots</a:t>
            </a:r>
            <a:endParaRPr lang="en-US" sz="1000" dirty="0"/>
          </a:p>
        </p:txBody>
      </p:sp>
      <p:sp>
        <p:nvSpPr>
          <p:cNvPr id="16" name="Shape 16"/>
          <p:cNvSpPr/>
          <p:nvPr/>
        </p:nvSpPr>
        <p:spPr>
          <a:xfrm>
            <a:off x="3276600" y="2651760"/>
            <a:ext cx="2682240" cy="1965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7"/>
          <p:cNvSpPr/>
          <p:nvPr/>
        </p:nvSpPr>
        <p:spPr>
          <a:xfrm>
            <a:off x="3459480" y="2743200"/>
            <a:ext cx="2316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.exports = {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e2e: {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env: {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BASE_URL: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"https://..."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USER: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"qa@x.co"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</p:txBody>
      </p:sp>
      <p:sp>
        <p:nvSpPr>
          <p:cNvPr id="18" name="Shape 18"/>
          <p:cNvSpPr/>
          <p:nvPr/>
        </p:nvSpPr>
        <p:spPr>
          <a:xfrm>
            <a:off x="6096000" y="1508760"/>
            <a:ext cx="2682240" cy="502920"/>
          </a:xfrm>
          <a:prstGeom prst="rect">
            <a:avLst/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9"/>
          <p:cNvSpPr/>
          <p:nvPr/>
        </p:nvSpPr>
        <p:spPr>
          <a:xfrm>
            <a:off x="6233160" y="160020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20"/>
          <p:cNvSpPr/>
          <p:nvPr/>
        </p:nvSpPr>
        <p:spPr>
          <a:xfrm>
            <a:off x="623316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21"/>
          <p:cNvSpPr/>
          <p:nvPr/>
        </p:nvSpPr>
        <p:spPr>
          <a:xfrm>
            <a:off x="6644640" y="1508760"/>
            <a:ext cx="20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--env on the CLI</a:t>
            </a:r>
            <a:endParaRPr lang="en-US" sz="1600" dirty="0"/>
          </a:p>
        </p:txBody>
      </p:sp>
      <p:sp>
        <p:nvSpPr>
          <p:cNvPr id="22" name="Text 22"/>
          <p:cNvSpPr/>
          <p:nvPr/>
        </p:nvSpPr>
        <p:spPr>
          <a:xfrm>
            <a:off x="6096000" y="2103120"/>
            <a:ext cx="2682240" cy="502920"/>
          </a:xfrm>
          <a:prstGeom prst="rect">
            <a:avLst/>
          </a:prstGeom>
          <a:noFill/>
          <a:ln/>
        </p:spPr>
        <p:txBody>
          <a:bodyPr wrap="square" lIns="137160" tIns="45720" rIns="13716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anything from the command line — perfect for one-off runs</a:t>
            </a:r>
            <a:endParaRPr lang="en-US" sz="1000" dirty="0"/>
          </a:p>
        </p:txBody>
      </p:sp>
      <p:sp>
        <p:nvSpPr>
          <p:cNvPr id="23" name="Shape 23"/>
          <p:cNvSpPr/>
          <p:nvPr/>
        </p:nvSpPr>
        <p:spPr>
          <a:xfrm>
            <a:off x="6096000" y="2651760"/>
            <a:ext cx="2682240" cy="1965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4"/>
          <p:cNvSpPr/>
          <p:nvPr/>
        </p:nvSpPr>
        <p:spPr>
          <a:xfrm>
            <a:off x="6278880" y="2743200"/>
            <a:ext cx="2316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cypress run \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--browser chrome \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--env \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BASE_URL=https://...,\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USER=admin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beats CI env vars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beats cypress.config.js</a:t>
            </a:r>
            <a:endParaRPr lang="en-US" sz="8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wins every conflict</a:t>
            </a:r>
            <a:endParaRPr lang="en-US" sz="850" dirty="0"/>
          </a:p>
        </p:txBody>
      </p:sp>
      <p:sp>
        <p:nvSpPr>
          <p:cNvPr id="25" name="Text 25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Advanced Cypress</a:t>
            </a:r>
            <a:endParaRPr lang="en-US" sz="900" dirty="0"/>
          </a:p>
        </p:txBody>
      </p:sp>
      <p:sp>
        <p:nvSpPr>
          <p:cNvPr id="26" name="Text 26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Env Vars Inside Tests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Cypress.env("NAME") works anywhere — config, support files, page objects, specs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CYPRESS.CONFIG.JS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6"/>
          <p:cNvSpPr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.exports = {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e2e: {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baseUrl: </a:t>
            </a: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process.env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.BASE_URL,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env: {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USER: </a:t>
            </a: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process.env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.QA_USER,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PWD:  </a:t>
            </a: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process.env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.QA_PWD,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apiUrl: 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"https://api.app.com"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CYPRESS_&lt;NAME&gt; env vars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from the shell also land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Cypress.env — no wiring.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CI: add secret CYPRESS_QA_PWD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read as Cypress.env('QA_PWD')</a:t>
            </a:r>
            <a:endParaRPr lang="en-US" sz="900" dirty="0"/>
          </a:p>
        </p:txBody>
      </p:sp>
      <p:sp>
        <p:nvSpPr>
          <p:cNvPr id="7" name="Text 7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E2E/LOGIN.CY.JS  —  READING VALUES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4663440" y="1508760"/>
            <a:ext cx="411552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4846320" y="1600200"/>
            <a:ext cx="3749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login </a:t>
            </a: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"../pages/LoginPage"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"Auth"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() =&gt; {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"admin signs in"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() =&gt; {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 = </a:t>
            </a: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Cypress.env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 = </a:t>
            </a: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Cypress.env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"PWD"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login.visit()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.loginAs(u, p);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cy.url().should(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"include"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"/home"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BASE_URL flips per env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secrets stay out of git</a:t>
            </a:r>
            <a:endParaRPr lang="en-US" sz="900" dirty="0"/>
          </a:p>
        </p:txBody>
      </p:sp>
      <p:sp>
        <p:nvSpPr>
          <p:cNvPr id="10" name="Text 10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Advanced Cypress</a:t>
            </a:r>
            <a:endParaRPr lang="en-US" sz="900" dirty="0"/>
          </a:p>
        </p:txBody>
      </p:sp>
      <p:sp>
        <p:nvSpPr>
          <p:cNvPr id="11" name="Text 11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Tests in Different Browsers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runs in Chrome, Edge, Firefox, and Electron — same tests, real cross-browser coverage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COMMAND LINE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6"/>
          <p:cNvSpPr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default — Electron, headless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cypress run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pick a browser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cypress run \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--browser chrome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cypress run \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--browser firefox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cypress run \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--browser edge \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--headed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browser binaries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cypress install</a:t>
            </a:r>
            <a:endParaRPr lang="en-US" sz="950" dirty="0"/>
          </a:p>
        </p:txBody>
      </p:sp>
      <p:sp>
        <p:nvSpPr>
          <p:cNvPr id="7" name="Text 7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 IN TESTS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4663440" y="1508760"/>
            <a:ext cx="411552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4846320" y="1600200"/>
            <a:ext cx="3749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any spec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"works across browsers"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() =&gt; {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cy.visit(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"/home"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(Cypress.isBrowser(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"firefox"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skip in FF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cy.get(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"[data-cy=cta]"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.should(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"be.visible"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Cypress.isBrowser also accepts: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"chrome", "edge", "electron"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{ family: "chromium" }</a:t>
            </a:r>
            <a:endParaRPr lang="en-US" sz="950" dirty="0"/>
          </a:p>
        </p:txBody>
      </p:sp>
      <p:sp>
        <p:nvSpPr>
          <p:cNvPr id="10" name="Text 10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Advanced Cypress</a:t>
            </a:r>
            <a:endParaRPr lang="en-US" sz="900" dirty="0"/>
          </a:p>
        </p:txBody>
      </p:sp>
      <p:sp>
        <p:nvSpPr>
          <p:cNvPr id="11" name="Text 11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Retries for Flaky Tests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failing tests automatically — absorb transient blips while you investigate the real cause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CYPRESS.CONFIG.JS  —  GLOBAL RETRIES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6"/>
          <p:cNvSpPr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.exports = {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retries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runMode:  </a:t>
            </a:r>
            <a:r>
              <a:rPr lang="en-US" sz="95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CI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openMode: </a:t>
            </a:r>
            <a:r>
              <a:rPr lang="en-US" sz="95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local dev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runMode → cypress run (CI)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openMode → cypress open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 locally keeps flake visible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while you write tests — it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won't silently hide bugs.</a:t>
            </a:r>
            <a:endParaRPr lang="en-US" sz="950" dirty="0"/>
          </a:p>
        </p:txBody>
      </p:sp>
      <p:sp>
        <p:nvSpPr>
          <p:cNvPr id="7" name="Text 7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PER-TEST OVERRIDE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4663440" y="1508760"/>
            <a:ext cx="411552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4846320" y="1600200"/>
            <a:ext cx="3749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any spec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"Flaky dashboard"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() =&gt; {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"loads slowly"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retries: </a:t>
            </a:r>
            <a:r>
              <a:rPr lang="en-US" sz="95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() =&gt; {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cy.visit(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"/dash"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cy.contains(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"Welcome"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.should(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"be.visible"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suite-wide override: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retries: { runMode: 4 }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rule of thumb: 2 — enough to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absorb network blips, not enough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 mask a real regression.</a:t>
            </a:r>
            <a:endParaRPr lang="en-US" sz="950" dirty="0"/>
          </a:p>
        </p:txBody>
      </p:sp>
      <p:sp>
        <p:nvSpPr>
          <p:cNvPr id="10" name="Text 10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Advanced Cypress</a:t>
            </a:r>
            <a:endParaRPr lang="en-US" sz="900" dirty="0"/>
          </a:p>
        </p:txBody>
      </p:sp>
      <p:sp>
        <p:nvSpPr>
          <p:cNvPr id="11" name="Text 11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Env Vars Live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places Cypress reads env vars from — and which wins when they conflict</a:t>
            </a:r>
            <a:endParaRPr lang="en-US" sz="1300" dirty="0"/>
          </a:p>
        </p:txBody>
      </p:sp>
      <p:sp>
        <p:nvSpPr>
          <p:cNvPr id="4" name="Shape 4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5"/>
          <p:cNvSpPr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cypress/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├── e2e/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│     └── *.cy.js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└── support/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└── commands.js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cypress.env.json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</a:t>
            </a: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committed defaults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(via dotenv)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</a:t>
            </a: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local-machine override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cypress.config.js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</a:t>
            </a: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env: { … } block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shell / CI runtime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CYPRESS_&lt;NAME&gt;=…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--env NAME=…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highest priority</a:t>
            </a:r>
            <a:endParaRPr lang="en-US" sz="950" dirty="0"/>
          </a:p>
        </p:txBody>
      </p:sp>
      <p:sp>
        <p:nvSpPr>
          <p:cNvPr id="6" name="Shape 6"/>
          <p:cNvSpPr/>
          <p:nvPr/>
        </p:nvSpPr>
        <p:spPr>
          <a:xfrm>
            <a:off x="4663440" y="1508760"/>
            <a:ext cx="4115520" cy="540360"/>
          </a:xfrm>
          <a:prstGeom prst="rect">
            <a:avLst/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7"/>
          <p:cNvSpPr/>
          <p:nvPr/>
        </p:nvSpPr>
        <p:spPr>
          <a:xfrm>
            <a:off x="4663440" y="1508760"/>
            <a:ext cx="60960" cy="540360"/>
          </a:xfrm>
          <a:prstGeom prst="rect">
            <a:avLst/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8"/>
          <p:cNvSpPr/>
          <p:nvPr/>
        </p:nvSpPr>
        <p:spPr>
          <a:xfrm>
            <a:off x="4815840" y="1569720"/>
            <a:ext cx="390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cypress.env.json</a:t>
            </a:r>
            <a:endParaRPr lang="en-US" sz="1200" dirty="0"/>
          </a:p>
        </p:txBody>
      </p:sp>
      <p:sp>
        <p:nvSpPr>
          <p:cNvPr id="9" name="Text 9"/>
          <p:cNvSpPr/>
          <p:nvPr/>
        </p:nvSpPr>
        <p:spPr>
          <a:xfrm>
            <a:off x="4815840" y="1783080"/>
            <a:ext cx="390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Project-wide defaults — keep secrets out</a:t>
            </a:r>
            <a:endParaRPr lang="en-US" sz="1000" dirty="0"/>
          </a:p>
        </p:txBody>
      </p:sp>
      <p:sp>
        <p:nvSpPr>
          <p:cNvPr id="10" name="Shape 10"/>
          <p:cNvSpPr/>
          <p:nvPr/>
        </p:nvSpPr>
        <p:spPr>
          <a:xfrm>
            <a:off x="4663440" y="2140560"/>
            <a:ext cx="4115520" cy="540360"/>
          </a:xfrm>
          <a:prstGeom prst="rect">
            <a:avLst/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11"/>
          <p:cNvSpPr/>
          <p:nvPr/>
        </p:nvSpPr>
        <p:spPr>
          <a:xfrm>
            <a:off x="4663440" y="2140560"/>
            <a:ext cx="60960" cy="540360"/>
          </a:xfrm>
          <a:prstGeom prst="rect">
            <a:avLst/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2"/>
          <p:cNvSpPr/>
          <p:nvPr/>
        </p:nvSpPr>
        <p:spPr>
          <a:xfrm>
            <a:off x="4815840" y="2201520"/>
            <a:ext cx="390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 (via dotenv)</a:t>
            </a:r>
            <a:endParaRPr lang="en-US" sz="1200" dirty="0"/>
          </a:p>
        </p:txBody>
      </p:sp>
      <p:sp>
        <p:nvSpPr>
          <p:cNvPr id="13" name="Text 13"/>
          <p:cNvSpPr/>
          <p:nvPr/>
        </p:nvSpPr>
        <p:spPr>
          <a:xfrm>
            <a:off x="4815840" y="2414880"/>
            <a:ext cx="390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Local-machine overrides — gitignored</a:t>
            </a:r>
            <a:endParaRPr lang="en-US" sz="1000" dirty="0"/>
          </a:p>
        </p:txBody>
      </p:sp>
      <p:sp>
        <p:nvSpPr>
          <p:cNvPr id="14" name="Shape 14"/>
          <p:cNvSpPr/>
          <p:nvPr/>
        </p:nvSpPr>
        <p:spPr>
          <a:xfrm>
            <a:off x="4663440" y="2772360"/>
            <a:ext cx="4115520" cy="540360"/>
          </a:xfrm>
          <a:prstGeom prst="rect">
            <a:avLst/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5"/>
          <p:cNvSpPr/>
          <p:nvPr/>
        </p:nvSpPr>
        <p:spPr>
          <a:xfrm>
            <a:off x="4663440" y="2772360"/>
            <a:ext cx="60960" cy="540360"/>
          </a:xfrm>
          <a:prstGeom prst="rect">
            <a:avLst/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6"/>
          <p:cNvSpPr/>
          <p:nvPr/>
        </p:nvSpPr>
        <p:spPr>
          <a:xfrm>
            <a:off x="4815840" y="2833320"/>
            <a:ext cx="390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cypress.config.js</a:t>
            </a:r>
            <a:endParaRPr lang="en-US" sz="1200" dirty="0"/>
          </a:p>
        </p:txBody>
      </p:sp>
      <p:sp>
        <p:nvSpPr>
          <p:cNvPr id="17" name="Text 17"/>
          <p:cNvSpPr/>
          <p:nvPr/>
        </p:nvSpPr>
        <p:spPr>
          <a:xfrm>
            <a:off x="4815840" y="3046680"/>
            <a:ext cx="390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env: { … } block in the config</a:t>
            </a:r>
            <a:endParaRPr lang="en-US" sz="1000" dirty="0"/>
          </a:p>
        </p:txBody>
      </p:sp>
      <p:sp>
        <p:nvSpPr>
          <p:cNvPr id="18" name="Shape 18"/>
          <p:cNvSpPr/>
          <p:nvPr/>
        </p:nvSpPr>
        <p:spPr>
          <a:xfrm>
            <a:off x="4663440" y="3404160"/>
            <a:ext cx="4115520" cy="540360"/>
          </a:xfrm>
          <a:prstGeom prst="rect">
            <a:avLst/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9"/>
          <p:cNvSpPr/>
          <p:nvPr/>
        </p:nvSpPr>
        <p:spPr>
          <a:xfrm>
            <a:off x="4663440" y="3404160"/>
            <a:ext cx="60960" cy="540360"/>
          </a:xfrm>
          <a:prstGeom prst="rect">
            <a:avLst/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20"/>
          <p:cNvSpPr/>
          <p:nvPr/>
        </p:nvSpPr>
        <p:spPr>
          <a:xfrm>
            <a:off x="4815840" y="3465120"/>
            <a:ext cx="390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CYPRESS_&lt;NAME&gt;</a:t>
            </a:r>
            <a:endParaRPr lang="en-US" sz="1200" dirty="0"/>
          </a:p>
        </p:txBody>
      </p:sp>
      <p:sp>
        <p:nvSpPr>
          <p:cNvPr id="21" name="Text 21"/>
          <p:cNvSpPr/>
          <p:nvPr/>
        </p:nvSpPr>
        <p:spPr>
          <a:xfrm>
            <a:off x="4815840" y="3678480"/>
            <a:ext cx="390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or CI env var — beats config</a:t>
            </a:r>
            <a:endParaRPr lang="en-US" sz="1000" dirty="0"/>
          </a:p>
        </p:txBody>
      </p:sp>
      <p:sp>
        <p:nvSpPr>
          <p:cNvPr id="22" name="Shape 22"/>
          <p:cNvSpPr/>
          <p:nvPr/>
        </p:nvSpPr>
        <p:spPr>
          <a:xfrm>
            <a:off x="4663440" y="4035960"/>
            <a:ext cx="4115520" cy="540360"/>
          </a:xfrm>
          <a:prstGeom prst="rect">
            <a:avLst/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3"/>
          <p:cNvSpPr/>
          <p:nvPr/>
        </p:nvSpPr>
        <p:spPr>
          <a:xfrm>
            <a:off x="4663440" y="4035960"/>
            <a:ext cx="60960" cy="540360"/>
          </a:xfrm>
          <a:prstGeom prst="rect">
            <a:avLst/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4"/>
          <p:cNvSpPr/>
          <p:nvPr/>
        </p:nvSpPr>
        <p:spPr>
          <a:xfrm>
            <a:off x="4815840" y="4096920"/>
            <a:ext cx="390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--env on the CLI</a:t>
            </a:r>
            <a:endParaRPr lang="en-US" sz="1200" dirty="0"/>
          </a:p>
        </p:txBody>
      </p:sp>
      <p:sp>
        <p:nvSpPr>
          <p:cNvPr id="25" name="Text 25"/>
          <p:cNvSpPr/>
          <p:nvPr/>
        </p:nvSpPr>
        <p:spPr>
          <a:xfrm>
            <a:off x="4815840" y="4310280"/>
            <a:ext cx="390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 — last word wins</a:t>
            </a:r>
            <a:endParaRPr lang="en-US" sz="1000" dirty="0"/>
          </a:p>
        </p:txBody>
      </p:sp>
      <p:sp>
        <p:nvSpPr>
          <p:cNvPr id="26" name="Text 26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Advanced Cypress</a:t>
            </a:r>
            <a:endParaRPr lang="en-US" sz="900" dirty="0"/>
          </a:p>
        </p:txBody>
      </p:sp>
      <p:sp>
        <p:nvSpPr>
          <p:cNvPr id="27" name="Text 27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Headed vs Headless Mode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browser for debugging  ·  headless for CI speed and parallelisation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DB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HEADED: OPEN THE GUI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57200" y="1508760"/>
            <a:ext cx="4023360" cy="224028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6"/>
          <p:cNvSpPr/>
          <p:nvPr/>
        </p:nvSpPr>
        <p:spPr>
          <a:xfrm>
            <a:off x="640080" y="1600200"/>
            <a:ext cx="3657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cypress open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✨ Cypress App opens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✨ pick a spec to run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✨ DevTools available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✨ time-travel debugger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✨ live-reload on change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✨ great for writing tests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--browser chrome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 pick a browser engine</a:t>
            </a:r>
            <a:endParaRPr lang="en-US" sz="950" dirty="0"/>
          </a:p>
        </p:txBody>
      </p:sp>
      <p:sp>
        <p:nvSpPr>
          <p:cNvPr id="7" name="Text 7"/>
          <p:cNvSpPr/>
          <p:nvPr/>
        </p:nvSpPr>
        <p:spPr>
          <a:xfrm>
            <a:off x="457200" y="3840480"/>
            <a:ext cx="4023360" cy="320040"/>
          </a:xfrm>
          <a:prstGeom prst="rect">
            <a:avLst/>
          </a:prstGeom>
          <a:noFill/>
          <a:ln/>
        </p:spPr>
        <p:txBody>
          <a:bodyPr wrap="square" lIns="9144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DB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local development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C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one browser at a time</a:t>
            </a:r>
            <a:endParaRPr lang="en-US" sz="1100" dirty="0"/>
          </a:p>
        </p:txBody>
      </p:sp>
      <p:sp>
        <p:nvSpPr>
          <p:cNvPr id="8" name="Text 8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HEADLESS: CYPRESS RUN</a:t>
            </a:r>
            <a:endParaRPr lang="en-US" sz="1100" dirty="0"/>
          </a:p>
        </p:txBody>
      </p:sp>
      <p:sp>
        <p:nvSpPr>
          <p:cNvPr id="9" name="Shape 9"/>
          <p:cNvSpPr/>
          <p:nvPr/>
        </p:nvSpPr>
        <p:spPr>
          <a:xfrm>
            <a:off x="4663440" y="1508760"/>
            <a:ext cx="4115520" cy="224028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10"/>
          <p:cNvSpPr/>
          <p:nvPr/>
        </p:nvSpPr>
        <p:spPr>
          <a:xfrm>
            <a:off x="4846320" y="1600200"/>
            <a:ext cx="3749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cypress run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Login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✓ admin signs in (1.2s)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✓ user redirects (0.9s)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Checkout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✓ places order (2.1s)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 passing  ·  4.2s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exits non-zero on failure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CI fails the build</a:t>
            </a:r>
            <a:endParaRPr lang="en-US" sz="950" dirty="0"/>
          </a:p>
        </p:txBody>
      </p:sp>
      <p:sp>
        <p:nvSpPr>
          <p:cNvPr id="11" name="Text 11"/>
          <p:cNvSpPr/>
          <p:nvPr/>
        </p:nvSpPr>
        <p:spPr>
          <a:xfrm>
            <a:off x="4663440" y="3840480"/>
            <a:ext cx="4115520" cy="320040"/>
          </a:xfrm>
          <a:prstGeom prst="rect">
            <a:avLst/>
          </a:prstGeom>
          <a:noFill/>
          <a:ln/>
        </p:spPr>
        <p:txBody>
          <a:bodyPr wrap="square" lIns="9144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DB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cypress run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3DB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scriptable, CI-ready</a:t>
            </a:r>
            <a:endParaRPr lang="en-US" sz="1100" dirty="0"/>
          </a:p>
        </p:txBody>
      </p:sp>
      <p:sp>
        <p:nvSpPr>
          <p:cNvPr id="12" name="Shape 12"/>
          <p:cNvSpPr/>
          <p:nvPr/>
        </p:nvSpPr>
        <p:spPr>
          <a:xfrm>
            <a:off x="457200" y="4480560"/>
            <a:ext cx="8321040" cy="228600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3"/>
          <p:cNvSpPr/>
          <p:nvPr/>
        </p:nvSpPr>
        <p:spPr>
          <a:xfrm>
            <a:off x="457200" y="4480560"/>
            <a:ext cx="60960" cy="228600"/>
          </a:xfrm>
          <a:prstGeom prst="rect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4"/>
          <p:cNvSpPr/>
          <p:nvPr/>
        </p:nvSpPr>
        <p:spPr>
          <a:xfrm>
            <a:off x="609600" y="4480560"/>
            <a:ext cx="8168640" cy="22860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flags:  </a:t>
            </a: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--headed  ·  --browser &lt;name&gt;  ·  --spec &lt;glob&gt;  ·  --record  ·  --parallel  ·  --no-exit</a:t>
            </a:r>
            <a:endParaRPr lang="en-US" sz="950" dirty="0"/>
          </a:p>
        </p:txBody>
      </p:sp>
      <p:sp>
        <p:nvSpPr>
          <p:cNvPr id="15" name="Text 15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Advanced Cypress</a:t>
            </a:r>
            <a:endParaRPr lang="en-US" sz="900" dirty="0"/>
          </a:p>
        </p:txBody>
      </p:sp>
      <p:sp>
        <p:nvSpPr>
          <p:cNvPr id="16" name="Text 16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Cypress Cheat Sheet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from Day 12 — when to reach for each one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9456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USE 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12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FRAGMENT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 lookup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417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config from CI / .env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12080" y="1417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Cypress.env("BASE_URL")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801368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18013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from shell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18013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values from CI secrets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12080" y="18013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CYPRESS_USER=qa npx cypress run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185416"/>
            <a:ext cx="8229600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18541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override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21854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One-off, beats config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12080" y="21854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cypress run --env USER=admin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569464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25694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flag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25694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coverage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12080" y="25694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cypress run --browser firefox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953512"/>
            <a:ext cx="8229600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2953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in browser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29535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Browser-specific test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12080" y="29535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(Cypress.isBrowser("edge")) { … }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" y="3337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retries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94560" y="3337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CI flake noise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12080" y="3337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retries: { runMode: 2 }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721608"/>
            <a:ext cx="8229600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" y="37216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Per-test retry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94560" y="37216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known-flaky test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12080" y="37216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it("…", { retries: 3 }, …)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4105656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48640" y="41056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run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94560" y="41056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CI, headless by default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12080" y="41056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40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cypress run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Advanced Cypress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548640" cy="73152"/>
          </a:xfrm>
          <a:prstGeom prst="rect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Questions — Advanced Cypress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Shout out your answers — click to reveal.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more questions after Part 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need a different BASE_URL per environment. Where should it live?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in every spec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fixture file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cypress.config.js + read via Cypress.env("BASE_URL")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comment, so the team knows what to change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answer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Quick Check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need a different BASE_URL per environment. Where should it live?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in every spec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fixture file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cypress.config.js + read via Cypress.env("BASE_URL")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288036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comment, so the team knows what to change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73152" cy="64008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Centralising in cypress.config.js (or cypress.env.json) lets one CI variable swap the whole environment — no code changes, no per-spec edits, no surprises in production.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Quick Check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want retries in CI but NOT when running locally with cypress open. How?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cy.retry() to every test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retries: { runMode: 2, openMode: 0 } in cypress.config.js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try/catch around every assertion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doesn't support split retries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answer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Quick Check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want retries in CI but NOT when running locally with cypress open. How?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cy.retry() to every test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retries: { runMode: 2, openMode: 0 } in cypress.config.js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10312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try/catch around every assertion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doesn't support split retries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73152" cy="64008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runMode controls cypress run (CI); openMode controls cypress open (local). Setting openMode to 0 keeps flake visible while you write tests; runMode of 2 hides transient blips in CI.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Quick Check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command runs every spec headlessly in Firefox?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cypress open --browser firefox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cypress run --browser firefox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FIREFOX=true npx cypress test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cypress firefox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answer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Quick Check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command runs every spec headlessly in Firefox?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cypress open --browser firefox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cypress run --browser firefox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10312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FIREFOX=true npx cypress test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cypress firefox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73152" cy="64008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run is the headless command (it's headless by default unless you add --headed); --browser picks the engine. cypress open always launches the GUI, regardless of which browser you select.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Quick Check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548640" cy="7315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with GitHub Actions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337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every spec on every push — and attach the report to the PR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45 minutes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CI/CD?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practice — not just a tool — where every code change is automatically built, tested, and prepared for release</a:t>
            </a:r>
            <a:endParaRPr lang="en-US" sz="1300" dirty="0"/>
          </a:p>
        </p:txBody>
      </p:sp>
      <p:sp>
        <p:nvSpPr>
          <p:cNvPr id="4" name="Shape 4"/>
          <p:cNvSpPr/>
          <p:nvPr/>
        </p:nvSpPr>
        <p:spPr>
          <a:xfrm>
            <a:off x="609600" y="1597444"/>
            <a:ext cx="1417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5"/>
          <p:cNvSpPr/>
          <p:nvPr/>
        </p:nvSpPr>
        <p:spPr>
          <a:xfrm>
            <a:off x="563880" y="1597444"/>
            <a:ext cx="1463040" cy="9144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6"/>
          <p:cNvSpPr/>
          <p:nvPr/>
        </p:nvSpPr>
        <p:spPr>
          <a:xfrm>
            <a:off x="563880" y="17346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100" dirty="0"/>
          </a:p>
        </p:txBody>
      </p:sp>
      <p:sp>
        <p:nvSpPr>
          <p:cNvPr id="7" name="Text 7"/>
          <p:cNvSpPr/>
          <p:nvPr/>
        </p:nvSpPr>
        <p:spPr>
          <a:xfrm>
            <a:off x="563880" y="20089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locally</a:t>
            </a:r>
            <a:endParaRPr lang="en-US" sz="950" dirty="0"/>
          </a:p>
        </p:txBody>
      </p:sp>
      <p:sp>
        <p:nvSpPr>
          <p:cNvPr id="8" name="Text 8"/>
          <p:cNvSpPr/>
          <p:nvPr/>
        </p:nvSpPr>
        <p:spPr>
          <a:xfrm>
            <a:off x="2072640" y="1902244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9"/>
          <p:cNvSpPr/>
          <p:nvPr/>
        </p:nvSpPr>
        <p:spPr>
          <a:xfrm>
            <a:off x="2225040" y="1597444"/>
            <a:ext cx="1417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B65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10"/>
          <p:cNvSpPr/>
          <p:nvPr/>
        </p:nvSpPr>
        <p:spPr>
          <a:xfrm>
            <a:off x="2179320" y="1597444"/>
            <a:ext cx="1463040" cy="91440"/>
          </a:xfrm>
          <a:prstGeom prst="rect">
            <a:avLst/>
          </a:prstGeom>
          <a:solidFill>
            <a:srgbClr val="5B6582"/>
          </a:solidFill>
          <a:ln w="12700">
            <a:solidFill>
              <a:srgbClr val="5B65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11"/>
          <p:cNvSpPr/>
          <p:nvPr/>
        </p:nvSpPr>
        <p:spPr>
          <a:xfrm>
            <a:off x="2179320" y="17346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100" dirty="0"/>
          </a:p>
        </p:txBody>
      </p:sp>
      <p:sp>
        <p:nvSpPr>
          <p:cNvPr id="12" name="Text 12"/>
          <p:cNvSpPr/>
          <p:nvPr/>
        </p:nvSpPr>
        <p:spPr>
          <a:xfrm>
            <a:off x="2179320" y="20089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origin</a:t>
            </a:r>
            <a:endParaRPr lang="en-US" sz="950" dirty="0"/>
          </a:p>
        </p:txBody>
      </p:sp>
      <p:sp>
        <p:nvSpPr>
          <p:cNvPr id="13" name="Text 13"/>
          <p:cNvSpPr/>
          <p:nvPr/>
        </p:nvSpPr>
        <p:spPr>
          <a:xfrm>
            <a:off x="3688080" y="1902244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3840480" y="1597444"/>
            <a:ext cx="1417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5"/>
          <p:cNvSpPr/>
          <p:nvPr/>
        </p:nvSpPr>
        <p:spPr>
          <a:xfrm>
            <a:off x="3794760" y="1597444"/>
            <a:ext cx="1463040" cy="91440"/>
          </a:xfrm>
          <a:prstGeom prst="rect">
            <a:avLst/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6"/>
          <p:cNvSpPr/>
          <p:nvPr/>
        </p:nvSpPr>
        <p:spPr>
          <a:xfrm>
            <a:off x="3794760" y="17346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3DB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100" dirty="0"/>
          </a:p>
        </p:txBody>
      </p:sp>
      <p:sp>
        <p:nvSpPr>
          <p:cNvPr id="17" name="Text 17"/>
          <p:cNvSpPr/>
          <p:nvPr/>
        </p:nvSpPr>
        <p:spPr>
          <a:xfrm>
            <a:off x="3794760" y="20089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✓</a:t>
            </a:r>
            <a:endParaRPr lang="en-US" sz="950" dirty="0"/>
          </a:p>
        </p:txBody>
      </p:sp>
      <p:sp>
        <p:nvSpPr>
          <p:cNvPr id="18" name="Text 18"/>
          <p:cNvSpPr/>
          <p:nvPr/>
        </p:nvSpPr>
        <p:spPr>
          <a:xfrm>
            <a:off x="5303520" y="1902244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9"/>
          <p:cNvSpPr/>
          <p:nvPr/>
        </p:nvSpPr>
        <p:spPr>
          <a:xfrm>
            <a:off x="5455920" y="1597444"/>
            <a:ext cx="1417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20"/>
          <p:cNvSpPr/>
          <p:nvPr/>
        </p:nvSpPr>
        <p:spPr>
          <a:xfrm>
            <a:off x="5410200" y="1597444"/>
            <a:ext cx="1463040" cy="91440"/>
          </a:xfrm>
          <a:prstGeom prst="rect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21"/>
          <p:cNvSpPr/>
          <p:nvPr/>
        </p:nvSpPr>
        <p:spPr>
          <a:xfrm>
            <a:off x="5410200" y="17346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100" dirty="0"/>
          </a:p>
        </p:txBody>
      </p:sp>
      <p:sp>
        <p:nvSpPr>
          <p:cNvPr id="22" name="Text 22"/>
          <p:cNvSpPr/>
          <p:nvPr/>
        </p:nvSpPr>
        <p:spPr>
          <a:xfrm>
            <a:off x="5410200" y="20089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Release-ready build</a:t>
            </a:r>
            <a:endParaRPr lang="en-US" sz="950" dirty="0"/>
          </a:p>
        </p:txBody>
      </p:sp>
      <p:sp>
        <p:nvSpPr>
          <p:cNvPr id="23" name="Text 23"/>
          <p:cNvSpPr/>
          <p:nvPr/>
        </p:nvSpPr>
        <p:spPr>
          <a:xfrm>
            <a:off x="6918960" y="1902244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4"/>
          <p:cNvSpPr/>
          <p:nvPr/>
        </p:nvSpPr>
        <p:spPr>
          <a:xfrm>
            <a:off x="7071360" y="1597444"/>
            <a:ext cx="1417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5"/>
          <p:cNvSpPr/>
          <p:nvPr/>
        </p:nvSpPr>
        <p:spPr>
          <a:xfrm>
            <a:off x="7025640" y="1597444"/>
            <a:ext cx="1463040" cy="914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6"/>
          <p:cNvSpPr/>
          <p:nvPr/>
        </p:nvSpPr>
        <p:spPr>
          <a:xfrm>
            <a:off x="7025640" y="17346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27" name="Text 27"/>
          <p:cNvSpPr/>
          <p:nvPr/>
        </p:nvSpPr>
        <p:spPr>
          <a:xfrm>
            <a:off x="7025640" y="20089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 users</a:t>
            </a:r>
            <a:endParaRPr lang="en-US" sz="950" dirty="0"/>
          </a:p>
        </p:txBody>
      </p:sp>
      <p:sp>
        <p:nvSpPr>
          <p:cNvPr id="28" name="Shape 28"/>
          <p:cNvSpPr/>
          <p:nvPr/>
        </p:nvSpPr>
        <p:spPr>
          <a:xfrm>
            <a:off x="548640" y="2743200"/>
            <a:ext cx="3977640" cy="1097280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9"/>
          <p:cNvSpPr/>
          <p:nvPr/>
        </p:nvSpPr>
        <p:spPr>
          <a:xfrm>
            <a:off x="640080" y="28346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30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800" dirty="0"/>
          </a:p>
        </p:txBody>
      </p:sp>
      <p:sp>
        <p:nvSpPr>
          <p:cNvPr id="31" name="Text 31"/>
          <p:cNvSpPr/>
          <p:nvPr/>
        </p:nvSpPr>
        <p:spPr>
          <a:xfrm>
            <a:off x="1248640" y="2804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Integration</a:t>
            </a:r>
            <a:endParaRPr lang="en-US" sz="1200" dirty="0"/>
          </a:p>
        </p:txBody>
      </p:sp>
      <p:sp>
        <p:nvSpPr>
          <p:cNvPr id="32" name="Text 32"/>
          <p:cNvSpPr/>
          <p:nvPr/>
        </p:nvSpPr>
        <p:spPr>
          <a:xfrm>
            <a:off x="1248640" y="30632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triggers an automatic build + full test suite on a clean runner. Catch regressions before code merges.</a:t>
            </a:r>
            <a:endParaRPr lang="en-US" sz="1000" dirty="0"/>
          </a:p>
        </p:txBody>
      </p:sp>
      <p:sp>
        <p:nvSpPr>
          <p:cNvPr id="33" name="Shape 33"/>
          <p:cNvSpPr/>
          <p:nvPr/>
        </p:nvSpPr>
        <p:spPr>
          <a:xfrm>
            <a:off x="4800600" y="2743200"/>
            <a:ext cx="3977640" cy="1097280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4"/>
          <p:cNvSpPr/>
          <p:nvPr/>
        </p:nvSpPr>
        <p:spPr>
          <a:xfrm>
            <a:off x="4892040" y="28346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5"/>
          <p:cNvSpPr/>
          <p:nvPr/>
        </p:nvSpPr>
        <p:spPr>
          <a:xfrm>
            <a:off x="48920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800" dirty="0"/>
          </a:p>
        </p:txBody>
      </p:sp>
      <p:sp>
        <p:nvSpPr>
          <p:cNvPr id="36" name="Text 36"/>
          <p:cNvSpPr/>
          <p:nvPr/>
        </p:nvSpPr>
        <p:spPr>
          <a:xfrm>
            <a:off x="5500600" y="2804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Delivery / Deployment</a:t>
            </a:r>
            <a:endParaRPr lang="en-US" sz="1200" dirty="0"/>
          </a:p>
        </p:txBody>
      </p:sp>
      <p:sp>
        <p:nvSpPr>
          <p:cNvPr id="37" name="Text 37"/>
          <p:cNvSpPr/>
          <p:nvPr/>
        </p:nvSpPr>
        <p:spPr>
          <a:xfrm>
            <a:off x="5500600" y="30632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passing build is release-ready. Ship with one click (Delivery) or auto-deploy every green commit (Deployment).</a:t>
            </a:r>
            <a:endParaRPr lang="en-US" sz="1000" dirty="0"/>
          </a:p>
        </p:txBody>
      </p:sp>
      <p:sp>
        <p:nvSpPr>
          <p:cNvPr id="38" name="Text 38"/>
          <p:cNvSpPr/>
          <p:nvPr/>
        </p:nvSpPr>
        <p:spPr>
          <a:xfrm>
            <a:off x="54864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problems fast  ·  ship safely  ·  release repeatedly</a:t>
            </a:r>
            <a:endParaRPr lang="en-US" sz="1200" dirty="0"/>
          </a:p>
        </p:txBody>
      </p:sp>
      <p:sp>
        <p:nvSpPr>
          <p:cNvPr id="39" name="Text 39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CI/CD</a:t>
            </a:r>
            <a:endParaRPr lang="en-US" sz="900" dirty="0"/>
          </a:p>
        </p:txBody>
      </p:sp>
      <p:sp>
        <p:nvSpPr>
          <p:cNvPr id="40" name="Text 40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CI/CD?  —  The Pain Without It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automated checks on every change, every push is a roll of the dice</a:t>
            </a:r>
            <a:endParaRPr lang="en-US" sz="1300" dirty="0"/>
          </a:p>
        </p:txBody>
      </p:sp>
      <p:sp>
        <p:nvSpPr>
          <p:cNvPr id="4" name="Shape 4"/>
          <p:cNvSpPr/>
          <p:nvPr/>
        </p:nvSpPr>
        <p:spPr>
          <a:xfrm>
            <a:off x="457200" y="1188720"/>
            <a:ext cx="4038600" cy="320040"/>
          </a:xfrm>
          <a:prstGeom prst="roundRect">
            <a:avLst>
              <a:gd name="adj" fmla="val 8000"/>
            </a:avLst>
          </a:prstGeom>
          <a:solidFill>
            <a:srgbClr val="FEEBE9"/>
          </a:solidFill>
          <a:ln w="635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5"/>
          <p:cNvSpPr/>
          <p:nvPr/>
        </p:nvSpPr>
        <p:spPr>
          <a:xfrm>
            <a:off x="457200" y="1188720"/>
            <a:ext cx="403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Without CI/CD</a:t>
            </a:r>
            <a:endParaRPr lang="en-US" sz="1300" dirty="0"/>
          </a:p>
        </p:txBody>
      </p:sp>
      <p:sp>
        <p:nvSpPr>
          <p:cNvPr id="6" name="Shape 6"/>
          <p:cNvSpPr/>
          <p:nvPr/>
        </p:nvSpPr>
        <p:spPr>
          <a:xfrm>
            <a:off x="4648200" y="1188720"/>
            <a:ext cx="4038600" cy="320040"/>
          </a:xfrm>
          <a:prstGeom prst="roundRect">
            <a:avLst>
              <a:gd name="adj" fmla="val 8000"/>
            </a:avLst>
          </a:prstGeom>
          <a:solidFill>
            <a:srgbClr val="DAFBE1"/>
          </a:solidFill>
          <a:ln w="6350">
            <a:solidFill>
              <a:srgbClr val="1F88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7"/>
          <p:cNvSpPr/>
          <p:nvPr/>
        </p:nvSpPr>
        <p:spPr>
          <a:xfrm>
            <a:off x="4648200" y="1188720"/>
            <a:ext cx="403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CI/CD</a:t>
            </a:r>
            <a:endParaRPr lang="en-US" sz="1300" dirty="0"/>
          </a:p>
        </p:txBody>
      </p:sp>
      <p:sp>
        <p:nvSpPr>
          <p:cNvPr id="8" name="Shape 8"/>
          <p:cNvSpPr/>
          <p:nvPr/>
        </p:nvSpPr>
        <p:spPr>
          <a:xfrm>
            <a:off x="457200" y="1661160"/>
            <a:ext cx="4038600" cy="411480"/>
          </a:xfrm>
          <a:prstGeom prst="roundRect">
            <a:avLst>
              <a:gd name="adj" fmla="val 8000"/>
            </a:avLst>
          </a:prstGeom>
          <a:solidFill>
            <a:srgbClr val="FCFAFA"/>
          </a:solidFill>
          <a:ln w="6350">
            <a:solidFill>
              <a:srgbClr val="FE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9"/>
          <p:cNvSpPr/>
          <p:nvPr/>
        </p:nvSpPr>
        <p:spPr>
          <a:xfrm>
            <a:off x="457200" y="1661160"/>
            <a:ext cx="60960" cy="411480"/>
          </a:xfrm>
          <a:prstGeom prst="rect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10"/>
          <p:cNvSpPr/>
          <p:nvPr/>
        </p:nvSpPr>
        <p:spPr>
          <a:xfrm>
            <a:off x="594360" y="1661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"Works on my machine" surprises in production</a:t>
            </a:r>
            <a:endParaRPr lang="en-US" sz="1050" dirty="0"/>
          </a:p>
        </p:txBody>
      </p:sp>
      <p:sp>
        <p:nvSpPr>
          <p:cNvPr id="11" name="Shape 11"/>
          <p:cNvSpPr/>
          <p:nvPr/>
        </p:nvSpPr>
        <p:spPr>
          <a:xfrm>
            <a:off x="4648200" y="1661160"/>
            <a:ext cx="4038600" cy="411480"/>
          </a:xfrm>
          <a:prstGeom prst="roundRect">
            <a:avLst>
              <a:gd name="adj" fmla="val 8000"/>
            </a:avLst>
          </a:prstGeom>
          <a:solidFill>
            <a:srgbClr val="F6FDF8"/>
          </a:solidFill>
          <a:ln w="6350">
            <a:solidFill>
              <a:srgbClr val="DAFB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2"/>
          <p:cNvSpPr/>
          <p:nvPr/>
        </p:nvSpPr>
        <p:spPr>
          <a:xfrm>
            <a:off x="4648200" y="1661160"/>
            <a:ext cx="60960" cy="411480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3"/>
          <p:cNvSpPr/>
          <p:nvPr/>
        </p:nvSpPr>
        <p:spPr>
          <a:xfrm>
            <a:off x="4785360" y="1661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runner runs the full suite on every push</a:t>
            </a:r>
            <a:endParaRPr lang="en-US" sz="1050" dirty="0"/>
          </a:p>
        </p:txBody>
      </p:sp>
      <p:sp>
        <p:nvSpPr>
          <p:cNvPr id="14" name="Shape 14"/>
          <p:cNvSpPr/>
          <p:nvPr/>
        </p:nvSpPr>
        <p:spPr>
          <a:xfrm>
            <a:off x="457200" y="2133600"/>
            <a:ext cx="4038600" cy="411480"/>
          </a:xfrm>
          <a:prstGeom prst="roundRect">
            <a:avLst>
              <a:gd name="adj" fmla="val 8000"/>
            </a:avLst>
          </a:prstGeom>
          <a:solidFill>
            <a:srgbClr val="FCFAFA"/>
          </a:solidFill>
          <a:ln w="6350">
            <a:solidFill>
              <a:srgbClr val="FE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5"/>
          <p:cNvSpPr/>
          <p:nvPr/>
        </p:nvSpPr>
        <p:spPr>
          <a:xfrm>
            <a:off x="457200" y="2133600"/>
            <a:ext cx="60960" cy="411480"/>
          </a:xfrm>
          <a:prstGeom prst="rect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6"/>
          <p:cNvSpPr/>
          <p:nvPr/>
        </p:nvSpPr>
        <p:spPr>
          <a:xfrm>
            <a:off x="594360" y="21336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Regressions discovered by users, not the team</a:t>
            </a:r>
            <a:endParaRPr lang="en-US" sz="1050" dirty="0"/>
          </a:p>
        </p:txBody>
      </p:sp>
      <p:sp>
        <p:nvSpPr>
          <p:cNvPr id="17" name="Shape 17"/>
          <p:cNvSpPr/>
          <p:nvPr/>
        </p:nvSpPr>
        <p:spPr>
          <a:xfrm>
            <a:off x="4648200" y="2133600"/>
            <a:ext cx="4038600" cy="411480"/>
          </a:xfrm>
          <a:prstGeom prst="roundRect">
            <a:avLst>
              <a:gd name="adj" fmla="val 8000"/>
            </a:avLst>
          </a:prstGeom>
          <a:solidFill>
            <a:srgbClr val="F6FDF8"/>
          </a:solidFill>
          <a:ln w="6350">
            <a:solidFill>
              <a:srgbClr val="DAFB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8"/>
          <p:cNvSpPr/>
          <p:nvPr/>
        </p:nvSpPr>
        <p:spPr>
          <a:xfrm>
            <a:off x="4648200" y="2133600"/>
            <a:ext cx="60960" cy="411480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9"/>
          <p:cNvSpPr/>
          <p:nvPr/>
        </p:nvSpPr>
        <p:spPr>
          <a:xfrm>
            <a:off x="4785360" y="21336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Regressions caught at PR time — before merge</a:t>
            </a:r>
            <a:endParaRPr lang="en-US" sz="1050" dirty="0"/>
          </a:p>
        </p:txBody>
      </p:sp>
      <p:sp>
        <p:nvSpPr>
          <p:cNvPr id="20" name="Shape 20"/>
          <p:cNvSpPr/>
          <p:nvPr/>
        </p:nvSpPr>
        <p:spPr>
          <a:xfrm>
            <a:off x="457200" y="2606040"/>
            <a:ext cx="4038600" cy="411480"/>
          </a:xfrm>
          <a:prstGeom prst="roundRect">
            <a:avLst>
              <a:gd name="adj" fmla="val 8000"/>
            </a:avLst>
          </a:prstGeom>
          <a:solidFill>
            <a:srgbClr val="FCFAFA"/>
          </a:solidFill>
          <a:ln w="6350">
            <a:solidFill>
              <a:srgbClr val="FE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21"/>
          <p:cNvSpPr/>
          <p:nvPr/>
        </p:nvSpPr>
        <p:spPr>
          <a:xfrm>
            <a:off x="457200" y="2606040"/>
            <a:ext cx="60960" cy="411480"/>
          </a:xfrm>
          <a:prstGeom prst="rect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2"/>
          <p:cNvSpPr/>
          <p:nvPr/>
        </p:nvSpPr>
        <p:spPr>
          <a:xfrm>
            <a:off x="594360" y="26060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 runs (often skipped under deadlines)</a:t>
            </a:r>
            <a:endParaRPr lang="en-US" sz="1050" dirty="0"/>
          </a:p>
        </p:txBody>
      </p:sp>
      <p:sp>
        <p:nvSpPr>
          <p:cNvPr id="23" name="Shape 23"/>
          <p:cNvSpPr/>
          <p:nvPr/>
        </p:nvSpPr>
        <p:spPr>
          <a:xfrm>
            <a:off x="4648200" y="2606040"/>
            <a:ext cx="4038600" cy="411480"/>
          </a:xfrm>
          <a:prstGeom prst="roundRect">
            <a:avLst>
              <a:gd name="adj" fmla="val 8000"/>
            </a:avLst>
          </a:prstGeom>
          <a:solidFill>
            <a:srgbClr val="F6FDF8"/>
          </a:solidFill>
          <a:ln w="6350">
            <a:solidFill>
              <a:srgbClr val="DAFB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4"/>
          <p:cNvSpPr/>
          <p:nvPr/>
        </p:nvSpPr>
        <p:spPr>
          <a:xfrm>
            <a:off x="4648200" y="2606040"/>
            <a:ext cx="60960" cy="411480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5"/>
          <p:cNvSpPr/>
          <p:nvPr/>
        </p:nvSpPr>
        <p:spPr>
          <a:xfrm>
            <a:off x="4785360" y="26060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auto-runs the full Cypress suite</a:t>
            </a:r>
            <a:endParaRPr lang="en-US" sz="1050" dirty="0"/>
          </a:p>
        </p:txBody>
      </p:sp>
      <p:sp>
        <p:nvSpPr>
          <p:cNvPr id="26" name="Shape 26"/>
          <p:cNvSpPr/>
          <p:nvPr/>
        </p:nvSpPr>
        <p:spPr>
          <a:xfrm>
            <a:off x="457200" y="3078480"/>
            <a:ext cx="4038600" cy="411480"/>
          </a:xfrm>
          <a:prstGeom prst="roundRect">
            <a:avLst>
              <a:gd name="adj" fmla="val 8000"/>
            </a:avLst>
          </a:prstGeom>
          <a:solidFill>
            <a:srgbClr val="FCFAFA"/>
          </a:solidFill>
          <a:ln w="6350">
            <a:solidFill>
              <a:srgbClr val="FE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7"/>
          <p:cNvSpPr/>
          <p:nvPr/>
        </p:nvSpPr>
        <p:spPr>
          <a:xfrm>
            <a:off x="457200" y="3078480"/>
            <a:ext cx="60960" cy="411480"/>
          </a:xfrm>
          <a:prstGeom prst="rect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8"/>
          <p:cNvSpPr/>
          <p:nvPr/>
        </p:nvSpPr>
        <p:spPr>
          <a:xfrm>
            <a:off x="594360" y="30784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 release ceremonies, fingers crossed</a:t>
            </a:r>
            <a:endParaRPr lang="en-US" sz="1050" dirty="0"/>
          </a:p>
        </p:txBody>
      </p:sp>
      <p:sp>
        <p:nvSpPr>
          <p:cNvPr id="29" name="Shape 29"/>
          <p:cNvSpPr/>
          <p:nvPr/>
        </p:nvSpPr>
        <p:spPr>
          <a:xfrm>
            <a:off x="4648200" y="3078480"/>
            <a:ext cx="4038600" cy="411480"/>
          </a:xfrm>
          <a:prstGeom prst="roundRect">
            <a:avLst>
              <a:gd name="adj" fmla="val 8000"/>
            </a:avLst>
          </a:prstGeom>
          <a:solidFill>
            <a:srgbClr val="F6FDF8"/>
          </a:solidFill>
          <a:ln w="6350">
            <a:solidFill>
              <a:srgbClr val="DAFB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30"/>
          <p:cNvSpPr/>
          <p:nvPr/>
        </p:nvSpPr>
        <p:spPr>
          <a:xfrm>
            <a:off x="4648200" y="3078480"/>
            <a:ext cx="60960" cy="411480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31"/>
          <p:cNvSpPr/>
          <p:nvPr/>
        </p:nvSpPr>
        <p:spPr>
          <a:xfrm>
            <a:off x="4785360" y="30784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deploy with automated smoke tests</a:t>
            </a:r>
            <a:endParaRPr lang="en-US" sz="1050" dirty="0"/>
          </a:p>
        </p:txBody>
      </p:sp>
      <p:sp>
        <p:nvSpPr>
          <p:cNvPr id="32" name="Shape 32"/>
          <p:cNvSpPr/>
          <p:nvPr/>
        </p:nvSpPr>
        <p:spPr>
          <a:xfrm>
            <a:off x="457200" y="3550920"/>
            <a:ext cx="4038600" cy="411480"/>
          </a:xfrm>
          <a:prstGeom prst="roundRect">
            <a:avLst>
              <a:gd name="adj" fmla="val 8000"/>
            </a:avLst>
          </a:prstGeom>
          <a:solidFill>
            <a:srgbClr val="FCFAFA"/>
          </a:solidFill>
          <a:ln w="6350">
            <a:solidFill>
              <a:srgbClr val="FE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3"/>
          <p:cNvSpPr/>
          <p:nvPr/>
        </p:nvSpPr>
        <p:spPr>
          <a:xfrm>
            <a:off x="457200" y="3550920"/>
            <a:ext cx="60960" cy="411480"/>
          </a:xfrm>
          <a:prstGeom prst="rect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4"/>
          <p:cNvSpPr/>
          <p:nvPr/>
        </p:nvSpPr>
        <p:spPr>
          <a:xfrm>
            <a:off x="594360" y="35509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weeks later, hard to trace</a:t>
            </a:r>
            <a:endParaRPr lang="en-US" sz="1050" dirty="0"/>
          </a:p>
        </p:txBody>
      </p:sp>
      <p:sp>
        <p:nvSpPr>
          <p:cNvPr id="35" name="Shape 35"/>
          <p:cNvSpPr/>
          <p:nvPr/>
        </p:nvSpPr>
        <p:spPr>
          <a:xfrm>
            <a:off x="4648200" y="3550920"/>
            <a:ext cx="4038600" cy="411480"/>
          </a:xfrm>
          <a:prstGeom prst="roundRect">
            <a:avLst>
              <a:gd name="adj" fmla="val 8000"/>
            </a:avLst>
          </a:prstGeom>
          <a:solidFill>
            <a:srgbClr val="F6FDF8"/>
          </a:solidFill>
          <a:ln w="6350">
            <a:solidFill>
              <a:srgbClr val="DAFB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6"/>
          <p:cNvSpPr/>
          <p:nvPr/>
        </p:nvSpPr>
        <p:spPr>
          <a:xfrm>
            <a:off x="4648200" y="3550920"/>
            <a:ext cx="60960" cy="411480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7"/>
          <p:cNvSpPr/>
          <p:nvPr/>
        </p:nvSpPr>
        <p:spPr>
          <a:xfrm>
            <a:off x="4785360" y="35509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point at the exact commit that broke it</a:t>
            </a:r>
            <a:endParaRPr lang="en-US" sz="1050" dirty="0"/>
          </a:p>
        </p:txBody>
      </p:sp>
      <p:sp>
        <p:nvSpPr>
          <p:cNvPr id="38" name="Shape 38"/>
          <p:cNvSpPr/>
          <p:nvPr/>
        </p:nvSpPr>
        <p:spPr>
          <a:xfrm>
            <a:off x="457200" y="4480560"/>
            <a:ext cx="8229600" cy="27432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635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9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research:  </a:t>
            </a: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teams deploy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200× more often</a:t>
            </a: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low performers — and recover from failures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 faster</a:t>
            </a: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40" name="Text 40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CI/CD</a:t>
            </a:r>
            <a:endParaRPr lang="en-US" sz="900" dirty="0"/>
          </a:p>
        </p:txBody>
      </p:sp>
      <p:sp>
        <p:nvSpPr>
          <p:cNvPr id="41" name="Text 41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vs CD  —  Three Practices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adds automation: integration → release-ready build → automatic deploy</a:t>
            </a:r>
            <a:endParaRPr lang="en-US" sz="1300" dirty="0"/>
          </a:p>
        </p:txBody>
      </p:sp>
      <p:sp>
        <p:nvSpPr>
          <p:cNvPr id="4" name="Shape 4"/>
          <p:cNvSpPr/>
          <p:nvPr/>
        </p:nvSpPr>
        <p:spPr>
          <a:xfrm>
            <a:off x="457200" y="118872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5"/>
          <p:cNvSpPr/>
          <p:nvPr/>
        </p:nvSpPr>
        <p:spPr>
          <a:xfrm>
            <a:off x="457200" y="1280160"/>
            <a:ext cx="2651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100" dirty="0"/>
          </a:p>
        </p:txBody>
      </p:sp>
      <p:sp>
        <p:nvSpPr>
          <p:cNvPr id="6" name="Text 6"/>
          <p:cNvSpPr/>
          <p:nvPr/>
        </p:nvSpPr>
        <p:spPr>
          <a:xfrm>
            <a:off x="457200" y="1463040"/>
            <a:ext cx="2651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Integration</a:t>
            </a:r>
            <a:endParaRPr lang="en-US" sz="1400" dirty="0"/>
          </a:p>
        </p:txBody>
      </p:sp>
      <p:sp>
        <p:nvSpPr>
          <p:cNvPr id="7" name="Shape 7"/>
          <p:cNvSpPr/>
          <p:nvPr/>
        </p:nvSpPr>
        <p:spPr>
          <a:xfrm>
            <a:off x="457200" y="1722120"/>
            <a:ext cx="2651760" cy="2575560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8"/>
          <p:cNvSpPr/>
          <p:nvPr/>
        </p:nvSpPr>
        <p:spPr>
          <a:xfrm>
            <a:off x="594360" y="1783080"/>
            <a:ext cx="23774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800" dirty="0"/>
          </a:p>
        </p:txBody>
      </p:sp>
      <p:sp>
        <p:nvSpPr>
          <p:cNvPr id="9" name="Text 9"/>
          <p:cNvSpPr/>
          <p:nvPr/>
        </p:nvSpPr>
        <p:spPr>
          <a:xfrm>
            <a:off x="594360" y="1996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code frequently. Auto-build and auto-test every push.</a:t>
            </a:r>
            <a:endParaRPr lang="en-US" sz="1000" dirty="0"/>
          </a:p>
        </p:txBody>
      </p:sp>
      <p:sp>
        <p:nvSpPr>
          <p:cNvPr id="10" name="Text 10"/>
          <p:cNvSpPr/>
          <p:nvPr/>
        </p:nvSpPr>
        <p:spPr>
          <a:xfrm>
            <a:off x="594360" y="2560320"/>
            <a:ext cx="23774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1" name="Text 11"/>
          <p:cNvSpPr/>
          <p:nvPr/>
        </p:nvSpPr>
        <p:spPr>
          <a:xfrm>
            <a:off x="594360" y="27736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DB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 every push &amp; PR</a:t>
            </a:r>
            <a:endParaRPr lang="en-US" sz="9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DB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test suite</a:t>
            </a:r>
            <a:endParaRPr lang="en-US" sz="9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DB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regressions at PR time</a:t>
            </a:r>
            <a:endParaRPr lang="en-US" sz="9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DB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check on the PR</a:t>
            </a:r>
            <a:endParaRPr lang="en-US" sz="950" dirty="0"/>
          </a:p>
        </p:txBody>
      </p:sp>
      <p:sp>
        <p:nvSpPr>
          <p:cNvPr id="12" name="Text 12"/>
          <p:cNvSpPr/>
          <p:nvPr/>
        </p:nvSpPr>
        <p:spPr>
          <a:xfrm>
            <a:off x="594360" y="3566160"/>
            <a:ext cx="23774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00" dirty="0"/>
          </a:p>
        </p:txBody>
      </p:sp>
      <p:sp>
        <p:nvSpPr>
          <p:cNvPr id="13" name="Text 13"/>
          <p:cNvSpPr/>
          <p:nvPr/>
        </p:nvSpPr>
        <p:spPr>
          <a:xfrm>
            <a:off x="59436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runs on every commit —  what you're building today</a:t>
            </a:r>
            <a:endParaRPr lang="en-US" sz="950" dirty="0"/>
          </a:p>
        </p:txBody>
      </p:sp>
      <p:sp>
        <p:nvSpPr>
          <p:cNvPr id="14" name="Shape 14"/>
          <p:cNvSpPr/>
          <p:nvPr/>
        </p:nvSpPr>
        <p:spPr>
          <a:xfrm>
            <a:off x="1143000" y="4389120"/>
            <a:ext cx="1280160" cy="27432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635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5"/>
          <p:cNvSpPr/>
          <p:nvPr/>
        </p:nvSpPr>
        <p:spPr>
          <a:xfrm>
            <a:off x="1143000" y="4358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You're starting here</a:t>
            </a:r>
            <a:endParaRPr lang="en-US" sz="950" dirty="0"/>
          </a:p>
        </p:txBody>
      </p:sp>
      <p:sp>
        <p:nvSpPr>
          <p:cNvPr id="16" name="Shape 16"/>
          <p:cNvSpPr/>
          <p:nvPr/>
        </p:nvSpPr>
        <p:spPr>
          <a:xfrm>
            <a:off x="3246120" y="118872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7"/>
          <p:cNvSpPr/>
          <p:nvPr/>
        </p:nvSpPr>
        <p:spPr>
          <a:xfrm>
            <a:off x="3246120" y="1280160"/>
            <a:ext cx="2651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100" dirty="0"/>
          </a:p>
        </p:txBody>
      </p:sp>
      <p:sp>
        <p:nvSpPr>
          <p:cNvPr id="18" name="Text 18"/>
          <p:cNvSpPr/>
          <p:nvPr/>
        </p:nvSpPr>
        <p:spPr>
          <a:xfrm>
            <a:off x="3246120" y="1463040"/>
            <a:ext cx="2651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Delivery</a:t>
            </a:r>
            <a:endParaRPr lang="en-US" sz="1400" dirty="0"/>
          </a:p>
        </p:txBody>
      </p:sp>
      <p:sp>
        <p:nvSpPr>
          <p:cNvPr id="19" name="Shape 19"/>
          <p:cNvSpPr/>
          <p:nvPr/>
        </p:nvSpPr>
        <p:spPr>
          <a:xfrm>
            <a:off x="3246120" y="1722120"/>
            <a:ext cx="2651760" cy="2575560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20"/>
          <p:cNvSpPr/>
          <p:nvPr/>
        </p:nvSpPr>
        <p:spPr>
          <a:xfrm>
            <a:off x="3383280" y="1783080"/>
            <a:ext cx="23774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800" dirty="0"/>
          </a:p>
        </p:txBody>
      </p:sp>
      <p:sp>
        <p:nvSpPr>
          <p:cNvPr id="21" name="Text 21"/>
          <p:cNvSpPr/>
          <p:nvPr/>
        </p:nvSpPr>
        <p:spPr>
          <a:xfrm>
            <a:off x="3383280" y="1996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passing build is release-ready. Humans click to ship.</a:t>
            </a:r>
            <a:endParaRPr lang="en-US" sz="1000" dirty="0"/>
          </a:p>
        </p:txBody>
      </p:sp>
      <p:sp>
        <p:nvSpPr>
          <p:cNvPr id="22" name="Text 22"/>
          <p:cNvSpPr/>
          <p:nvPr/>
        </p:nvSpPr>
        <p:spPr>
          <a:xfrm>
            <a:off x="3383280" y="2560320"/>
            <a:ext cx="23774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23" name="Text 23"/>
          <p:cNvSpPr/>
          <p:nvPr/>
        </p:nvSpPr>
        <p:spPr>
          <a:xfrm>
            <a:off x="3383280" y="27736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artifact published</a:t>
            </a:r>
            <a:endParaRPr lang="en-US" sz="9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in pre-prod automatically</a:t>
            </a:r>
            <a:endParaRPr lang="en-US" sz="9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approval to deploy</a:t>
            </a:r>
            <a:endParaRPr lang="en-US" sz="9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regulated industries</a:t>
            </a:r>
            <a:endParaRPr lang="en-US" sz="950" dirty="0"/>
          </a:p>
        </p:txBody>
      </p:sp>
      <p:sp>
        <p:nvSpPr>
          <p:cNvPr id="24" name="Text 24"/>
          <p:cNvSpPr/>
          <p:nvPr/>
        </p:nvSpPr>
        <p:spPr>
          <a:xfrm>
            <a:off x="3383280" y="3566160"/>
            <a:ext cx="23774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00" dirty="0"/>
          </a:p>
        </p:txBody>
      </p:sp>
      <p:sp>
        <p:nvSpPr>
          <p:cNvPr id="25" name="Text 25"/>
          <p:cNvSpPr/>
          <p:nvPr/>
        </p:nvSpPr>
        <p:spPr>
          <a:xfrm>
            <a:off x="338328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.zip uploaded; ops clicks Deploy when ready</a:t>
            </a:r>
            <a:endParaRPr lang="en-US" sz="950" dirty="0"/>
          </a:p>
        </p:txBody>
      </p:sp>
      <p:sp>
        <p:nvSpPr>
          <p:cNvPr id="26" name="Shape 26"/>
          <p:cNvSpPr/>
          <p:nvPr/>
        </p:nvSpPr>
        <p:spPr>
          <a:xfrm>
            <a:off x="6035040" y="118872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7"/>
          <p:cNvSpPr/>
          <p:nvPr/>
        </p:nvSpPr>
        <p:spPr>
          <a:xfrm>
            <a:off x="6035040" y="1280160"/>
            <a:ext cx="2651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100" dirty="0"/>
          </a:p>
        </p:txBody>
      </p:sp>
      <p:sp>
        <p:nvSpPr>
          <p:cNvPr id="28" name="Text 28"/>
          <p:cNvSpPr/>
          <p:nvPr/>
        </p:nvSpPr>
        <p:spPr>
          <a:xfrm>
            <a:off x="6035040" y="1463040"/>
            <a:ext cx="2651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Deployment</a:t>
            </a:r>
            <a:endParaRPr lang="en-US" sz="1400" dirty="0"/>
          </a:p>
        </p:txBody>
      </p:sp>
      <p:sp>
        <p:nvSpPr>
          <p:cNvPr id="29" name="Shape 29"/>
          <p:cNvSpPr/>
          <p:nvPr/>
        </p:nvSpPr>
        <p:spPr>
          <a:xfrm>
            <a:off x="6035040" y="1722120"/>
            <a:ext cx="2651760" cy="2575560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30"/>
          <p:cNvSpPr/>
          <p:nvPr/>
        </p:nvSpPr>
        <p:spPr>
          <a:xfrm>
            <a:off x="6172200" y="1783080"/>
            <a:ext cx="23774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800" dirty="0"/>
          </a:p>
        </p:txBody>
      </p:sp>
      <p:sp>
        <p:nvSpPr>
          <p:cNvPr id="31" name="Text 31"/>
          <p:cNvSpPr/>
          <p:nvPr/>
        </p:nvSpPr>
        <p:spPr>
          <a:xfrm>
            <a:off x="6172200" y="1996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green build auto-deploys to production. No human gate.</a:t>
            </a:r>
            <a:endParaRPr lang="en-US" sz="1000" dirty="0"/>
          </a:p>
        </p:txBody>
      </p:sp>
      <p:sp>
        <p:nvSpPr>
          <p:cNvPr id="32" name="Text 32"/>
          <p:cNvSpPr/>
          <p:nvPr/>
        </p:nvSpPr>
        <p:spPr>
          <a:xfrm>
            <a:off x="6172200" y="2560320"/>
            <a:ext cx="23774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33" name="Text 33"/>
          <p:cNvSpPr/>
          <p:nvPr/>
        </p:nvSpPr>
        <p:spPr>
          <a:xfrm>
            <a:off x="6172200" y="27736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Demands deep test coverage</a:t>
            </a:r>
            <a:endParaRPr lang="en-US" sz="9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 for risky changes</a:t>
            </a:r>
            <a:endParaRPr lang="en-US" sz="9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automated rollback</a:t>
            </a:r>
            <a:endParaRPr lang="en-US" sz="9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modern web teams</a:t>
            </a:r>
            <a:endParaRPr lang="en-US" sz="950" dirty="0"/>
          </a:p>
        </p:txBody>
      </p:sp>
      <p:sp>
        <p:nvSpPr>
          <p:cNvPr id="34" name="Text 34"/>
          <p:cNvSpPr/>
          <p:nvPr/>
        </p:nvSpPr>
        <p:spPr>
          <a:xfrm>
            <a:off x="6172200" y="3566160"/>
            <a:ext cx="23774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00" dirty="0"/>
          </a:p>
        </p:txBody>
      </p:sp>
      <p:sp>
        <p:nvSpPr>
          <p:cNvPr id="35" name="Text 35"/>
          <p:cNvSpPr/>
          <p:nvPr/>
        </p:nvSpPr>
        <p:spPr>
          <a:xfrm>
            <a:off x="617220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→ prod in 10 minutes, no human in the loop</a:t>
            </a:r>
            <a:endParaRPr lang="en-US" sz="950" dirty="0"/>
          </a:p>
        </p:txBody>
      </p:sp>
      <p:sp>
        <p:nvSpPr>
          <p:cNvPr id="36" name="Text 36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CI/CD</a:t>
            </a:r>
            <a:endParaRPr lang="en-US" sz="900" dirty="0"/>
          </a:p>
        </p:txBody>
      </p:sp>
      <p:sp>
        <p:nvSpPr>
          <p:cNvPr id="37" name="Text 37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 for CI/CD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workflows, debug failed runs, and explain unfamiliar YAML — without leaving your editor</a:t>
            </a:r>
            <a:endParaRPr lang="en-US" sz="1300" dirty="0"/>
          </a:p>
        </p:txBody>
      </p:sp>
      <p:sp>
        <p:nvSpPr>
          <p:cNvPr id="4" name="Shape 4"/>
          <p:cNvSpPr/>
          <p:nvPr/>
        </p:nvSpPr>
        <p:spPr>
          <a:xfrm>
            <a:off x="457200" y="1188719"/>
            <a:ext cx="2651760" cy="1672509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5"/>
          <p:cNvSpPr/>
          <p:nvPr/>
        </p:nvSpPr>
        <p:spPr>
          <a:xfrm>
            <a:off x="457200" y="1188720"/>
            <a:ext cx="60960" cy="14859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6"/>
          <p:cNvSpPr/>
          <p:nvPr/>
        </p:nvSpPr>
        <p:spPr>
          <a:xfrm>
            <a:off x="594360" y="1325880"/>
            <a:ext cx="365760" cy="365760"/>
          </a:xfrm>
          <a:prstGeom prst="roundRect">
            <a:avLst>
              <a:gd name="adj" fmla="val 8000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7"/>
          <p:cNvSpPr/>
          <p:nvPr/>
        </p:nvSpPr>
        <p:spPr>
          <a:xfrm>
            <a:off x="59436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500" dirty="0"/>
          </a:p>
        </p:txBody>
      </p:sp>
      <p:sp>
        <p:nvSpPr>
          <p:cNvPr id="8" name="Text 8"/>
          <p:cNvSpPr/>
          <p:nvPr/>
        </p:nvSpPr>
        <p:spPr>
          <a:xfrm>
            <a:off x="1051560" y="1325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workflow YAML</a:t>
            </a:r>
            <a:endParaRPr lang="en-US" sz="1300" dirty="0"/>
          </a:p>
        </p:txBody>
      </p:sp>
      <p:sp>
        <p:nvSpPr>
          <p:cNvPr id="9" name="Text 9"/>
          <p:cNvSpPr/>
          <p:nvPr/>
        </p:nvSpPr>
        <p:spPr>
          <a:xfrm>
            <a:off x="594360" y="176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want in agent mode — get a full .yml ready to commit.</a:t>
            </a:r>
            <a:endParaRPr lang="en-US" sz="950" dirty="0"/>
          </a:p>
        </p:txBody>
      </p:sp>
      <p:sp>
        <p:nvSpPr>
          <p:cNvPr id="10" name="Shape 10"/>
          <p:cNvSpPr/>
          <p:nvPr/>
        </p:nvSpPr>
        <p:spPr>
          <a:xfrm>
            <a:off x="594360" y="2240279"/>
            <a:ext cx="2377440" cy="48378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11"/>
          <p:cNvSpPr/>
          <p:nvPr/>
        </p:nvSpPr>
        <p:spPr>
          <a:xfrm>
            <a:off x="670560" y="2286000"/>
            <a:ext cx="2225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00" dirty="0"/>
          </a:p>
        </p:txBody>
      </p:sp>
      <p:sp>
        <p:nvSpPr>
          <p:cNvPr id="12" name="Text 12"/>
          <p:cNvSpPr/>
          <p:nvPr/>
        </p:nvSpPr>
        <p:spPr>
          <a:xfrm>
            <a:off x="670560" y="2438400"/>
            <a:ext cx="222504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a workflow that runs Cypress on push, matrix chrome + firefox”</a:t>
            </a:r>
            <a:endParaRPr lang="en-US" sz="850" dirty="0"/>
          </a:p>
        </p:txBody>
      </p:sp>
      <p:sp>
        <p:nvSpPr>
          <p:cNvPr id="13" name="Shape 13"/>
          <p:cNvSpPr/>
          <p:nvPr/>
        </p:nvSpPr>
        <p:spPr>
          <a:xfrm>
            <a:off x="3246120" y="1188720"/>
            <a:ext cx="2651760" cy="1672508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4"/>
          <p:cNvSpPr/>
          <p:nvPr/>
        </p:nvSpPr>
        <p:spPr>
          <a:xfrm>
            <a:off x="3246120" y="1188720"/>
            <a:ext cx="60960" cy="1485900"/>
          </a:xfrm>
          <a:prstGeom prst="rect">
            <a:avLst/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5"/>
          <p:cNvSpPr/>
          <p:nvPr/>
        </p:nvSpPr>
        <p:spPr>
          <a:xfrm>
            <a:off x="3383280" y="1325880"/>
            <a:ext cx="365760" cy="365760"/>
          </a:xfrm>
          <a:prstGeom prst="roundRect">
            <a:avLst>
              <a:gd name="adj" fmla="val 8000"/>
            </a:avLst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6"/>
          <p:cNvSpPr/>
          <p:nvPr/>
        </p:nvSpPr>
        <p:spPr>
          <a:xfrm>
            <a:off x="338328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500" dirty="0"/>
          </a:p>
        </p:txBody>
      </p:sp>
      <p:sp>
        <p:nvSpPr>
          <p:cNvPr id="17" name="Text 17"/>
          <p:cNvSpPr/>
          <p:nvPr/>
        </p:nvSpPr>
        <p:spPr>
          <a:xfrm>
            <a:off x="3840480" y="1325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Inline autocomplete</a:t>
            </a:r>
            <a:endParaRPr lang="en-US" sz="1300" dirty="0"/>
          </a:p>
        </p:txBody>
      </p:sp>
      <p:sp>
        <p:nvSpPr>
          <p:cNvPr id="18" name="Text 18"/>
          <p:cNvSpPr/>
          <p:nvPr/>
        </p:nvSpPr>
        <p:spPr>
          <a:xfrm>
            <a:off x="3383280" y="176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any .yml — Copilot suggests matrix, caching, action versions.</a:t>
            </a:r>
            <a:endParaRPr lang="en-US" sz="950" dirty="0"/>
          </a:p>
        </p:txBody>
      </p:sp>
      <p:sp>
        <p:nvSpPr>
          <p:cNvPr id="19" name="Shape 19"/>
          <p:cNvSpPr/>
          <p:nvPr/>
        </p:nvSpPr>
        <p:spPr>
          <a:xfrm>
            <a:off x="3383280" y="2240280"/>
            <a:ext cx="2377440" cy="4763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20"/>
          <p:cNvSpPr/>
          <p:nvPr/>
        </p:nvSpPr>
        <p:spPr>
          <a:xfrm>
            <a:off x="3459480" y="2286000"/>
            <a:ext cx="2225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3DB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00" dirty="0"/>
          </a:p>
        </p:txBody>
      </p:sp>
      <p:sp>
        <p:nvSpPr>
          <p:cNvPr id="21" name="Text 21"/>
          <p:cNvSpPr/>
          <p:nvPr/>
        </p:nvSpPr>
        <p:spPr>
          <a:xfrm>
            <a:off x="3459480" y="2438400"/>
            <a:ext cx="222504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“type 'strategy:' → Copilot writes the whole matrix block”</a:t>
            </a:r>
            <a:endParaRPr lang="en-US" sz="850" dirty="0"/>
          </a:p>
        </p:txBody>
      </p:sp>
      <p:sp>
        <p:nvSpPr>
          <p:cNvPr id="22" name="Shape 22"/>
          <p:cNvSpPr/>
          <p:nvPr/>
        </p:nvSpPr>
        <p:spPr>
          <a:xfrm>
            <a:off x="6035040" y="1188720"/>
            <a:ext cx="2651760" cy="1672508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3"/>
          <p:cNvSpPr/>
          <p:nvPr/>
        </p:nvSpPr>
        <p:spPr>
          <a:xfrm>
            <a:off x="6035040" y="1188720"/>
            <a:ext cx="60960" cy="14859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4"/>
          <p:cNvSpPr/>
          <p:nvPr/>
        </p:nvSpPr>
        <p:spPr>
          <a:xfrm>
            <a:off x="6172200" y="1325880"/>
            <a:ext cx="365760" cy="365760"/>
          </a:xfrm>
          <a:prstGeom prst="roundRect">
            <a:avLst>
              <a:gd name="adj" fmla="val 8000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5"/>
          <p:cNvSpPr/>
          <p:nvPr/>
        </p:nvSpPr>
        <p:spPr>
          <a:xfrm>
            <a:off x="61722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26" name="Text 26"/>
          <p:cNvSpPr/>
          <p:nvPr/>
        </p:nvSpPr>
        <p:spPr>
          <a:xfrm>
            <a:off x="6629400" y="1325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unfamiliar YAML</a:t>
            </a:r>
            <a:endParaRPr lang="en-US" sz="1300" dirty="0"/>
          </a:p>
        </p:txBody>
      </p:sp>
      <p:sp>
        <p:nvSpPr>
          <p:cNvPr id="27" name="Text 27"/>
          <p:cNvSpPr/>
          <p:nvPr/>
        </p:nvSpPr>
        <p:spPr>
          <a:xfrm>
            <a:off x="6172200" y="176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a block, run /explain — Copilot walks through each line.</a:t>
            </a:r>
            <a:endParaRPr lang="en-US" sz="950" dirty="0"/>
          </a:p>
        </p:txBody>
      </p:sp>
      <p:sp>
        <p:nvSpPr>
          <p:cNvPr id="28" name="Shape 28"/>
          <p:cNvSpPr/>
          <p:nvPr/>
        </p:nvSpPr>
        <p:spPr>
          <a:xfrm>
            <a:off x="6172200" y="2240279"/>
            <a:ext cx="2377440" cy="41147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9"/>
          <p:cNvSpPr/>
          <p:nvPr/>
        </p:nvSpPr>
        <p:spPr>
          <a:xfrm>
            <a:off x="6248400" y="2286000"/>
            <a:ext cx="2225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00" dirty="0"/>
          </a:p>
        </p:txBody>
      </p:sp>
      <p:sp>
        <p:nvSpPr>
          <p:cNvPr id="30" name="Text 30"/>
          <p:cNvSpPr/>
          <p:nvPr/>
        </p:nvSpPr>
        <p:spPr>
          <a:xfrm>
            <a:off x="6248400" y="2438400"/>
            <a:ext cx="222504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“/explain what does fail-fast: false do here?”</a:t>
            </a:r>
            <a:endParaRPr lang="en-US" sz="850" dirty="0"/>
          </a:p>
        </p:txBody>
      </p:sp>
      <p:sp>
        <p:nvSpPr>
          <p:cNvPr id="31" name="Shape 31"/>
          <p:cNvSpPr/>
          <p:nvPr/>
        </p:nvSpPr>
        <p:spPr>
          <a:xfrm>
            <a:off x="518160" y="2998389"/>
            <a:ext cx="2651760" cy="1672508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2"/>
          <p:cNvSpPr/>
          <p:nvPr/>
        </p:nvSpPr>
        <p:spPr>
          <a:xfrm>
            <a:off x="518160" y="2998389"/>
            <a:ext cx="60960" cy="1485900"/>
          </a:xfrm>
          <a:prstGeom prst="rect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3"/>
          <p:cNvSpPr/>
          <p:nvPr/>
        </p:nvSpPr>
        <p:spPr>
          <a:xfrm>
            <a:off x="655320" y="3135549"/>
            <a:ext cx="365760" cy="365760"/>
          </a:xfrm>
          <a:prstGeom prst="roundRect">
            <a:avLst>
              <a:gd name="adj" fmla="val 8000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4"/>
          <p:cNvSpPr/>
          <p:nvPr/>
        </p:nvSpPr>
        <p:spPr>
          <a:xfrm>
            <a:off x="655320" y="313554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35" name="Text 35"/>
          <p:cNvSpPr/>
          <p:nvPr/>
        </p:nvSpPr>
        <p:spPr>
          <a:xfrm>
            <a:off x="1112520" y="3135549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 failed CI runs</a:t>
            </a:r>
            <a:endParaRPr lang="en-US" sz="1300" dirty="0"/>
          </a:p>
        </p:txBody>
      </p:sp>
      <p:sp>
        <p:nvSpPr>
          <p:cNvPr id="36" name="Text 36"/>
          <p:cNvSpPr/>
          <p:nvPr/>
        </p:nvSpPr>
        <p:spPr>
          <a:xfrm>
            <a:off x="655320" y="3577509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failing log into chat; Copilot points at the broken step.</a:t>
            </a:r>
            <a:endParaRPr lang="en-US" sz="950" dirty="0"/>
          </a:p>
        </p:txBody>
      </p:sp>
      <p:sp>
        <p:nvSpPr>
          <p:cNvPr id="37" name="Shape 37"/>
          <p:cNvSpPr/>
          <p:nvPr/>
        </p:nvSpPr>
        <p:spPr>
          <a:xfrm>
            <a:off x="655320" y="4049949"/>
            <a:ext cx="2377440" cy="51443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8"/>
          <p:cNvSpPr/>
          <p:nvPr/>
        </p:nvSpPr>
        <p:spPr>
          <a:xfrm>
            <a:off x="731520" y="4095669"/>
            <a:ext cx="2225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00" dirty="0"/>
          </a:p>
        </p:txBody>
      </p:sp>
      <p:sp>
        <p:nvSpPr>
          <p:cNvPr id="39" name="Text 39"/>
          <p:cNvSpPr/>
          <p:nvPr/>
        </p:nvSpPr>
        <p:spPr>
          <a:xfrm>
            <a:off x="731520" y="4248069"/>
            <a:ext cx="222504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CI run failed — here's the log, why?”</a:t>
            </a:r>
            <a:endParaRPr lang="en-US" sz="850" dirty="0"/>
          </a:p>
        </p:txBody>
      </p:sp>
      <p:sp>
        <p:nvSpPr>
          <p:cNvPr id="40" name="Shape 40"/>
          <p:cNvSpPr/>
          <p:nvPr/>
        </p:nvSpPr>
        <p:spPr>
          <a:xfrm>
            <a:off x="3307080" y="2998388"/>
            <a:ext cx="2651760" cy="1672507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41"/>
          <p:cNvSpPr/>
          <p:nvPr/>
        </p:nvSpPr>
        <p:spPr>
          <a:xfrm>
            <a:off x="3307080" y="2998389"/>
            <a:ext cx="60960" cy="1485900"/>
          </a:xfrm>
          <a:prstGeom prst="rect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2"/>
          <p:cNvSpPr/>
          <p:nvPr/>
        </p:nvSpPr>
        <p:spPr>
          <a:xfrm>
            <a:off x="3444240" y="3135549"/>
            <a:ext cx="365760" cy="365760"/>
          </a:xfrm>
          <a:prstGeom prst="roundRect">
            <a:avLst>
              <a:gd name="adj" fmla="val 8000"/>
            </a:avLst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3"/>
          <p:cNvSpPr/>
          <p:nvPr/>
        </p:nvSpPr>
        <p:spPr>
          <a:xfrm>
            <a:off x="3444240" y="313554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1500" dirty="0"/>
          </a:p>
        </p:txBody>
      </p:sp>
      <p:sp>
        <p:nvSpPr>
          <p:cNvPr id="44" name="Text 44"/>
          <p:cNvSpPr/>
          <p:nvPr/>
        </p:nvSpPr>
        <p:spPr>
          <a:xfrm>
            <a:off x="3901440" y="3135549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 matrix configs</a:t>
            </a:r>
            <a:endParaRPr lang="en-US" sz="1300" dirty="0"/>
          </a:p>
        </p:txBody>
      </p:sp>
      <p:sp>
        <p:nvSpPr>
          <p:cNvPr id="45" name="Text 45"/>
          <p:cNvSpPr/>
          <p:nvPr/>
        </p:nvSpPr>
        <p:spPr>
          <a:xfrm>
            <a:off x="3444240" y="3577509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coverage you need; Copilot writes the full matrix block.</a:t>
            </a:r>
            <a:endParaRPr lang="en-US" sz="950" dirty="0"/>
          </a:p>
        </p:txBody>
      </p:sp>
      <p:sp>
        <p:nvSpPr>
          <p:cNvPr id="46" name="Shape 46"/>
          <p:cNvSpPr/>
          <p:nvPr/>
        </p:nvSpPr>
        <p:spPr>
          <a:xfrm>
            <a:off x="3444240" y="4049948"/>
            <a:ext cx="2377440" cy="5144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7"/>
          <p:cNvSpPr/>
          <p:nvPr/>
        </p:nvSpPr>
        <p:spPr>
          <a:xfrm>
            <a:off x="3520440" y="4095669"/>
            <a:ext cx="2225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00" dirty="0"/>
          </a:p>
        </p:txBody>
      </p:sp>
      <p:sp>
        <p:nvSpPr>
          <p:cNvPr id="48" name="Text 48"/>
          <p:cNvSpPr/>
          <p:nvPr/>
        </p:nvSpPr>
        <p:spPr>
          <a:xfrm>
            <a:off x="3520440" y="4248069"/>
            <a:ext cx="222504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a matrix for Node 18 and 20 across chrome and firefox”</a:t>
            </a:r>
            <a:endParaRPr lang="en-US" sz="850" dirty="0"/>
          </a:p>
        </p:txBody>
      </p:sp>
      <p:sp>
        <p:nvSpPr>
          <p:cNvPr id="49" name="Shape 49"/>
          <p:cNvSpPr/>
          <p:nvPr/>
        </p:nvSpPr>
        <p:spPr>
          <a:xfrm>
            <a:off x="6096000" y="2998389"/>
            <a:ext cx="2651760" cy="1672508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50"/>
          <p:cNvSpPr/>
          <p:nvPr/>
        </p:nvSpPr>
        <p:spPr>
          <a:xfrm>
            <a:off x="6096000" y="2998389"/>
            <a:ext cx="60960" cy="1485900"/>
          </a:xfrm>
          <a:prstGeom prst="rect">
            <a:avLst/>
          </a:prstGeom>
          <a:solidFill>
            <a:srgbClr val="5B6582"/>
          </a:solidFill>
          <a:ln w="12700">
            <a:solidFill>
              <a:srgbClr val="5B65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51"/>
          <p:cNvSpPr/>
          <p:nvPr/>
        </p:nvSpPr>
        <p:spPr>
          <a:xfrm>
            <a:off x="6233160" y="3135549"/>
            <a:ext cx="365760" cy="365760"/>
          </a:xfrm>
          <a:prstGeom prst="roundRect">
            <a:avLst>
              <a:gd name="adj" fmla="val 8000"/>
            </a:avLst>
          </a:prstGeom>
          <a:solidFill>
            <a:srgbClr val="5B6582"/>
          </a:solidFill>
          <a:ln w="12700">
            <a:solidFill>
              <a:srgbClr val="5B65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2"/>
          <p:cNvSpPr/>
          <p:nvPr/>
        </p:nvSpPr>
        <p:spPr>
          <a:xfrm>
            <a:off x="6233160" y="313554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500" dirty="0"/>
          </a:p>
        </p:txBody>
      </p:sp>
      <p:sp>
        <p:nvSpPr>
          <p:cNvPr id="53" name="Text 53"/>
          <p:cNvSpPr/>
          <p:nvPr/>
        </p:nvSpPr>
        <p:spPr>
          <a:xfrm>
            <a:off x="6690360" y="3135549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Secrets &amp; env vars</a:t>
            </a:r>
            <a:endParaRPr lang="en-US" sz="1300" dirty="0"/>
          </a:p>
        </p:txBody>
      </p:sp>
      <p:sp>
        <p:nvSpPr>
          <p:cNvPr id="54" name="Text 54"/>
          <p:cNvSpPr/>
          <p:nvPr/>
        </p:nvSpPr>
        <p:spPr>
          <a:xfrm>
            <a:off x="6233160" y="3577509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how to wire a GitHub Secret into a workflow or Cypress run.</a:t>
            </a:r>
            <a:endParaRPr lang="en-US" sz="950" dirty="0"/>
          </a:p>
        </p:txBody>
      </p:sp>
      <p:sp>
        <p:nvSpPr>
          <p:cNvPr id="55" name="Shape 55"/>
          <p:cNvSpPr/>
          <p:nvPr/>
        </p:nvSpPr>
        <p:spPr>
          <a:xfrm>
            <a:off x="6233160" y="4049948"/>
            <a:ext cx="2377440" cy="4763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5B65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6"/>
          <p:cNvSpPr/>
          <p:nvPr/>
        </p:nvSpPr>
        <p:spPr>
          <a:xfrm>
            <a:off x="6309360" y="4095669"/>
            <a:ext cx="2225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00" dirty="0"/>
          </a:p>
        </p:txBody>
      </p:sp>
      <p:sp>
        <p:nvSpPr>
          <p:cNvPr id="57" name="Text 57"/>
          <p:cNvSpPr/>
          <p:nvPr/>
        </p:nvSpPr>
        <p:spPr>
          <a:xfrm>
            <a:off x="6309360" y="4248069"/>
            <a:ext cx="2225040" cy="83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“reference my CYPRESS_USER secret in the run step”</a:t>
            </a:r>
            <a:endParaRPr lang="en-US" sz="850" dirty="0"/>
          </a:p>
        </p:txBody>
      </p:sp>
      <p:sp>
        <p:nvSpPr>
          <p:cNvPr id="58" name="Text 5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CI/CD</a:t>
            </a:r>
            <a:endParaRPr lang="en-US" sz="900" dirty="0"/>
          </a:p>
        </p:txBody>
      </p:sp>
      <p:sp>
        <p:nvSpPr>
          <p:cNvPr id="59" name="Text 59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First, Install Git Locally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 control tool every developer machine needs — takes two minutes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FOR YOUR OS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6"/>
          <p:cNvSpPr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brew install git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↑ or download git-scm.com/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downloads/mac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download installer from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git-scm.com/downloads/win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includes Git Bash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Ubuntu / Debian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update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 install git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Fedora / RHEL</a:t>
            </a:r>
            <a:endParaRPr lang="en-US" sz="95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5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dnf install git</a:t>
            </a:r>
            <a:endParaRPr lang="en-US" sz="950" dirty="0"/>
          </a:p>
        </p:txBody>
      </p:sp>
      <p:sp>
        <p:nvSpPr>
          <p:cNvPr id="7" name="Text 7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CONFIGURE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4663440" y="1508760"/>
            <a:ext cx="411552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4846320" y="1600200"/>
            <a:ext cx="3749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check it works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--version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version 2.42.0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set your identity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(commits are tagged with this)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--global \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user.name 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 Name"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--global \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user.email \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"you@example.com"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confirm settings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config --list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user.name=Your Name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user.email=you@example.com</a:t>
            </a:r>
            <a:endParaRPr lang="en-US" sz="900" dirty="0"/>
          </a:p>
        </p:txBody>
      </p:sp>
      <p:sp>
        <p:nvSpPr>
          <p:cNvPr id="10" name="Shape 10"/>
          <p:cNvSpPr/>
          <p:nvPr/>
        </p:nvSpPr>
        <p:spPr>
          <a:xfrm>
            <a:off x="457200" y="4480560"/>
            <a:ext cx="8321040" cy="228600"/>
          </a:xfrm>
          <a:prstGeom prst="rect">
            <a:avLst/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11"/>
          <p:cNvSpPr/>
          <p:nvPr/>
        </p:nvSpPr>
        <p:spPr>
          <a:xfrm>
            <a:off x="457200" y="4480560"/>
            <a:ext cx="60960" cy="228600"/>
          </a:xfrm>
          <a:prstGeom prst="rect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2"/>
          <p:cNvSpPr/>
          <p:nvPr/>
        </p:nvSpPr>
        <p:spPr>
          <a:xfrm>
            <a:off x="609600" y="4480560"/>
            <a:ext cx="8168640" cy="22860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email here as on your GitHub account — </a:t>
            </a: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commits will then show your avatar on github.com.</a:t>
            </a:r>
            <a:endParaRPr lang="en-US" sz="950" dirty="0"/>
          </a:p>
        </p:txBody>
      </p:sp>
      <p:sp>
        <p:nvSpPr>
          <p:cNvPr id="13" name="Text 13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CI/CD</a:t>
            </a:r>
            <a:endParaRPr lang="en-US" sz="900" dirty="0"/>
          </a:p>
        </p:txBody>
      </p:sp>
      <p:sp>
        <p:nvSpPr>
          <p:cNvPr id="14" name="Text 14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 GitHub Account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covers everything in today's session — unlimited public + private repos</a:t>
            </a:r>
            <a:endParaRPr lang="en-US" sz="1300" dirty="0"/>
          </a:p>
        </p:txBody>
      </p:sp>
      <p:sp>
        <p:nvSpPr>
          <p:cNvPr id="4" name="Shape 4"/>
          <p:cNvSpPr/>
          <p:nvPr/>
        </p:nvSpPr>
        <p:spPr>
          <a:xfrm>
            <a:off x="457200" y="1508760"/>
            <a:ext cx="40233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5"/>
          <p:cNvSpPr/>
          <p:nvPr/>
        </p:nvSpPr>
        <p:spPr>
          <a:xfrm>
            <a:off x="466725" y="1518285"/>
            <a:ext cx="4004310" cy="32004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6"/>
          <p:cNvSpPr/>
          <p:nvPr/>
        </p:nvSpPr>
        <p:spPr>
          <a:xfrm>
            <a:off x="548640" y="1645920"/>
            <a:ext cx="76200" cy="76200"/>
          </a:xfrm>
          <a:prstGeom prst="roundRect">
            <a:avLst>
              <a:gd name="adj" fmla="val 8000"/>
            </a:avLst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7"/>
          <p:cNvSpPr/>
          <p:nvPr/>
        </p:nvSpPr>
        <p:spPr>
          <a:xfrm>
            <a:off x="655320" y="1645920"/>
            <a:ext cx="76200" cy="76200"/>
          </a:xfrm>
          <a:prstGeom prst="roundRect">
            <a:avLst>
              <a:gd name="adj" fmla="val 8000"/>
            </a:avLst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8"/>
          <p:cNvSpPr/>
          <p:nvPr/>
        </p:nvSpPr>
        <p:spPr>
          <a:xfrm>
            <a:off x="762000" y="1645920"/>
            <a:ext cx="76200" cy="76200"/>
          </a:xfrm>
          <a:prstGeom prst="roundRect">
            <a:avLst>
              <a:gd name="adj" fmla="val 8000"/>
            </a:avLst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9"/>
          <p:cNvSpPr/>
          <p:nvPr/>
        </p:nvSpPr>
        <p:spPr>
          <a:xfrm>
            <a:off x="914400" y="1600200"/>
            <a:ext cx="3323360" cy="21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10"/>
          <p:cNvSpPr/>
          <p:nvPr/>
        </p:nvSpPr>
        <p:spPr>
          <a:xfrm>
            <a:off x="944880" y="1600200"/>
            <a:ext cx="3262400" cy="21336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https://github.com/signup</a:t>
            </a:r>
            <a:endParaRPr lang="en-US" sz="800" dirty="0"/>
          </a:p>
        </p:txBody>
      </p:sp>
      <p:sp>
        <p:nvSpPr>
          <p:cNvPr id="11" name="Text 11"/>
          <p:cNvSpPr/>
          <p:nvPr/>
        </p:nvSpPr>
        <p:spPr>
          <a:xfrm>
            <a:off x="59436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GitHub!</a:t>
            </a:r>
            <a:endParaRPr lang="en-US" sz="1450" dirty="0"/>
          </a:p>
        </p:txBody>
      </p:sp>
      <p:sp>
        <p:nvSpPr>
          <p:cNvPr id="12" name="Text 12"/>
          <p:cNvSpPr/>
          <p:nvPr/>
        </p:nvSpPr>
        <p:spPr>
          <a:xfrm>
            <a:off x="594360" y="2148840"/>
            <a:ext cx="37490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begin the adventure</a:t>
            </a:r>
            <a:endParaRPr lang="en-US" sz="950" dirty="0"/>
          </a:p>
        </p:txBody>
      </p:sp>
      <p:sp>
        <p:nvSpPr>
          <p:cNvPr id="13" name="Text 13"/>
          <p:cNvSpPr/>
          <p:nvPr/>
        </p:nvSpPr>
        <p:spPr>
          <a:xfrm>
            <a:off x="822960" y="2514600"/>
            <a:ext cx="32918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4" name="Shape 14"/>
          <p:cNvSpPr/>
          <p:nvPr/>
        </p:nvSpPr>
        <p:spPr>
          <a:xfrm>
            <a:off x="822960" y="2667000"/>
            <a:ext cx="3291840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5"/>
          <p:cNvSpPr/>
          <p:nvPr/>
        </p:nvSpPr>
        <p:spPr>
          <a:xfrm>
            <a:off x="822960" y="2667000"/>
            <a:ext cx="3291840" cy="274320"/>
          </a:xfrm>
          <a:prstGeom prst="rect">
            <a:avLst/>
          </a:prstGeom>
          <a:noFill/>
          <a:ln/>
        </p:spPr>
        <p:txBody>
          <a:bodyPr wrap="square" lIns="13716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you@example.com</a:t>
            </a:r>
            <a:endParaRPr lang="en-US" sz="950" dirty="0"/>
          </a:p>
        </p:txBody>
      </p:sp>
      <p:sp>
        <p:nvSpPr>
          <p:cNvPr id="16" name="Text 16"/>
          <p:cNvSpPr/>
          <p:nvPr/>
        </p:nvSpPr>
        <p:spPr>
          <a:xfrm>
            <a:off x="822960" y="3032760"/>
            <a:ext cx="32918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850" dirty="0"/>
          </a:p>
        </p:txBody>
      </p:sp>
      <p:sp>
        <p:nvSpPr>
          <p:cNvPr id="17" name="Shape 17"/>
          <p:cNvSpPr/>
          <p:nvPr/>
        </p:nvSpPr>
        <p:spPr>
          <a:xfrm>
            <a:off x="822960" y="3185160"/>
            <a:ext cx="3291840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8"/>
          <p:cNvSpPr/>
          <p:nvPr/>
        </p:nvSpPr>
        <p:spPr>
          <a:xfrm>
            <a:off x="822960" y="3185160"/>
            <a:ext cx="3291840" cy="274320"/>
          </a:xfrm>
          <a:prstGeom prst="rect">
            <a:avLst/>
          </a:prstGeom>
          <a:noFill/>
          <a:ln/>
        </p:spPr>
        <p:txBody>
          <a:bodyPr wrap="square" lIns="13716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••••••••••</a:t>
            </a:r>
            <a:endParaRPr lang="en-US" sz="950" dirty="0"/>
          </a:p>
        </p:txBody>
      </p:sp>
      <p:sp>
        <p:nvSpPr>
          <p:cNvPr id="19" name="Text 19"/>
          <p:cNvSpPr/>
          <p:nvPr/>
        </p:nvSpPr>
        <p:spPr>
          <a:xfrm>
            <a:off x="822960" y="3550920"/>
            <a:ext cx="32918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850" dirty="0"/>
          </a:p>
        </p:txBody>
      </p:sp>
      <p:sp>
        <p:nvSpPr>
          <p:cNvPr id="20" name="Shape 20"/>
          <p:cNvSpPr/>
          <p:nvPr/>
        </p:nvSpPr>
        <p:spPr>
          <a:xfrm>
            <a:off x="822960" y="3703320"/>
            <a:ext cx="3291840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21"/>
          <p:cNvSpPr/>
          <p:nvPr/>
        </p:nvSpPr>
        <p:spPr>
          <a:xfrm>
            <a:off x="82296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13716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your-handle</a:t>
            </a:r>
            <a:endParaRPr lang="en-US" sz="950" dirty="0"/>
          </a:p>
        </p:txBody>
      </p:sp>
      <p:sp>
        <p:nvSpPr>
          <p:cNvPr id="22" name="Shape 22"/>
          <p:cNvSpPr/>
          <p:nvPr/>
        </p:nvSpPr>
        <p:spPr>
          <a:xfrm>
            <a:off x="822960" y="4160520"/>
            <a:ext cx="3291840" cy="320040"/>
          </a:xfrm>
          <a:prstGeom prst="roundRect">
            <a:avLst>
              <a:gd name="adj" fmla="val 8000"/>
            </a:avLst>
          </a:prstGeom>
          <a:solidFill>
            <a:srgbClr val="2DA44E"/>
          </a:solidFill>
          <a:ln w="6350">
            <a:solidFill>
              <a:srgbClr val="1F88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3"/>
          <p:cNvSpPr/>
          <p:nvPr/>
        </p:nvSpPr>
        <p:spPr>
          <a:xfrm>
            <a:off x="82296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→</a:t>
            </a:r>
            <a:endParaRPr lang="en-US" sz="950" dirty="0"/>
          </a:p>
        </p:txBody>
      </p:sp>
      <p:sp>
        <p:nvSpPr>
          <p:cNvPr id="24" name="Text 24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TO YOUR ACCOUNT</a:t>
            </a:r>
            <a:endParaRPr lang="en-US" sz="1100" dirty="0"/>
          </a:p>
        </p:txBody>
      </p:sp>
      <p:sp>
        <p:nvSpPr>
          <p:cNvPr id="25" name="Shape 25"/>
          <p:cNvSpPr/>
          <p:nvPr/>
        </p:nvSpPr>
        <p:spPr>
          <a:xfrm>
            <a:off x="4663440" y="1508760"/>
            <a:ext cx="4115520" cy="502920"/>
          </a:xfrm>
          <a:prstGeom prst="rect">
            <a:avLst/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6"/>
          <p:cNvSpPr/>
          <p:nvPr/>
        </p:nvSpPr>
        <p:spPr>
          <a:xfrm>
            <a:off x="4663440" y="1508760"/>
            <a:ext cx="60960" cy="502920"/>
          </a:xfrm>
          <a:prstGeom prst="rect">
            <a:avLst/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7"/>
          <p:cNvSpPr/>
          <p:nvPr/>
        </p:nvSpPr>
        <p:spPr>
          <a:xfrm>
            <a:off x="4815840" y="160020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8"/>
          <p:cNvSpPr/>
          <p:nvPr/>
        </p:nvSpPr>
        <p:spPr>
          <a:xfrm>
            <a:off x="481584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9"/>
          <p:cNvSpPr/>
          <p:nvPr/>
        </p:nvSpPr>
        <p:spPr>
          <a:xfrm>
            <a:off x="5212080" y="1508760"/>
            <a:ext cx="351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github.com/signup</a:t>
            </a:r>
            <a:endParaRPr lang="en-US" sz="1150" dirty="0"/>
          </a:p>
        </p:txBody>
      </p:sp>
      <p:sp>
        <p:nvSpPr>
          <p:cNvPr id="30" name="Shape 30"/>
          <p:cNvSpPr/>
          <p:nvPr/>
        </p:nvSpPr>
        <p:spPr>
          <a:xfrm>
            <a:off x="4663440" y="2103120"/>
            <a:ext cx="4115520" cy="502920"/>
          </a:xfrm>
          <a:prstGeom prst="rect">
            <a:avLst/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31"/>
          <p:cNvSpPr/>
          <p:nvPr/>
        </p:nvSpPr>
        <p:spPr>
          <a:xfrm>
            <a:off x="4663440" y="2103120"/>
            <a:ext cx="60960" cy="502920"/>
          </a:xfrm>
          <a:prstGeom prst="rect">
            <a:avLst/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2"/>
          <p:cNvSpPr/>
          <p:nvPr/>
        </p:nvSpPr>
        <p:spPr>
          <a:xfrm>
            <a:off x="4815840" y="219456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3"/>
          <p:cNvSpPr/>
          <p:nvPr/>
        </p:nvSpPr>
        <p:spPr>
          <a:xfrm>
            <a:off x="481584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4"/>
          <p:cNvSpPr/>
          <p:nvPr/>
        </p:nvSpPr>
        <p:spPr>
          <a:xfrm>
            <a:off x="5212080" y="2103120"/>
            <a:ext cx="351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email + password</a:t>
            </a:r>
            <a:endParaRPr lang="en-US" sz="1150" dirty="0"/>
          </a:p>
        </p:txBody>
      </p:sp>
      <p:sp>
        <p:nvSpPr>
          <p:cNvPr id="35" name="Shape 35"/>
          <p:cNvSpPr/>
          <p:nvPr/>
        </p:nvSpPr>
        <p:spPr>
          <a:xfrm>
            <a:off x="4663440" y="2697480"/>
            <a:ext cx="4115520" cy="502920"/>
          </a:xfrm>
          <a:prstGeom prst="rect">
            <a:avLst/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6"/>
          <p:cNvSpPr/>
          <p:nvPr/>
        </p:nvSpPr>
        <p:spPr>
          <a:xfrm>
            <a:off x="4663440" y="2697480"/>
            <a:ext cx="60960" cy="502920"/>
          </a:xfrm>
          <a:prstGeom prst="rect">
            <a:avLst/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7"/>
          <p:cNvSpPr/>
          <p:nvPr/>
        </p:nvSpPr>
        <p:spPr>
          <a:xfrm>
            <a:off x="4815840" y="278892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8"/>
          <p:cNvSpPr/>
          <p:nvPr/>
        </p:nvSpPr>
        <p:spPr>
          <a:xfrm>
            <a:off x="481584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9"/>
          <p:cNvSpPr/>
          <p:nvPr/>
        </p:nvSpPr>
        <p:spPr>
          <a:xfrm>
            <a:off x="5212080" y="2697480"/>
            <a:ext cx="351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username (lives in URLs)</a:t>
            </a:r>
            <a:endParaRPr lang="en-US" sz="1150" dirty="0"/>
          </a:p>
        </p:txBody>
      </p:sp>
      <p:sp>
        <p:nvSpPr>
          <p:cNvPr id="40" name="Shape 40"/>
          <p:cNvSpPr/>
          <p:nvPr/>
        </p:nvSpPr>
        <p:spPr>
          <a:xfrm>
            <a:off x="4663440" y="3291840"/>
            <a:ext cx="4115520" cy="502920"/>
          </a:xfrm>
          <a:prstGeom prst="rect">
            <a:avLst/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41"/>
          <p:cNvSpPr/>
          <p:nvPr/>
        </p:nvSpPr>
        <p:spPr>
          <a:xfrm>
            <a:off x="4663440" y="3291840"/>
            <a:ext cx="60960" cy="502920"/>
          </a:xfrm>
          <a:prstGeom prst="rect">
            <a:avLst/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2"/>
          <p:cNvSpPr/>
          <p:nvPr/>
        </p:nvSpPr>
        <p:spPr>
          <a:xfrm>
            <a:off x="4815840" y="338328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3"/>
          <p:cNvSpPr/>
          <p:nvPr/>
        </p:nvSpPr>
        <p:spPr>
          <a:xfrm>
            <a:off x="481584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4"/>
          <p:cNvSpPr/>
          <p:nvPr/>
        </p:nvSpPr>
        <p:spPr>
          <a:xfrm>
            <a:off x="5212080" y="3291840"/>
            <a:ext cx="351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email link</a:t>
            </a:r>
            <a:endParaRPr lang="en-US" sz="1150" dirty="0"/>
          </a:p>
        </p:txBody>
      </p:sp>
      <p:sp>
        <p:nvSpPr>
          <p:cNvPr id="45" name="Shape 45"/>
          <p:cNvSpPr/>
          <p:nvPr/>
        </p:nvSpPr>
        <p:spPr>
          <a:xfrm>
            <a:off x="4663440" y="3886200"/>
            <a:ext cx="4115520" cy="502920"/>
          </a:xfrm>
          <a:prstGeom prst="rect">
            <a:avLst/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6"/>
          <p:cNvSpPr/>
          <p:nvPr/>
        </p:nvSpPr>
        <p:spPr>
          <a:xfrm>
            <a:off x="4663440" y="3886200"/>
            <a:ext cx="60960" cy="502920"/>
          </a:xfrm>
          <a:prstGeom prst="rect">
            <a:avLst/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7"/>
          <p:cNvSpPr/>
          <p:nvPr/>
        </p:nvSpPr>
        <p:spPr>
          <a:xfrm>
            <a:off x="4815840" y="397764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8"/>
          <p:cNvSpPr/>
          <p:nvPr/>
        </p:nvSpPr>
        <p:spPr>
          <a:xfrm>
            <a:off x="481584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9" name="Text 49"/>
          <p:cNvSpPr/>
          <p:nvPr/>
        </p:nvSpPr>
        <p:spPr>
          <a:xfrm>
            <a:off x="5212080" y="3886200"/>
            <a:ext cx="351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Free plan</a:t>
            </a:r>
            <a:endParaRPr lang="en-US" sz="1150" dirty="0"/>
          </a:p>
        </p:txBody>
      </p:sp>
      <p:sp>
        <p:nvSpPr>
          <p:cNvPr id="50" name="Text 50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CI/CD</a:t>
            </a:r>
            <a:endParaRPr lang="en-US" sz="900" dirty="0"/>
          </a:p>
        </p:txBody>
      </p:sp>
      <p:sp>
        <p:nvSpPr>
          <p:cNvPr id="51" name="Text 51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Git to GitHub — Authentication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prove you're you when git push talks to GitHub — pick one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 ·  HTTPS + PERSONAL ACCESS TOKEN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57200" y="1508760"/>
            <a:ext cx="40233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6"/>
          <p:cNvSpPr/>
          <p:nvPr/>
        </p:nvSpPr>
        <p:spPr>
          <a:xfrm>
            <a:off x="466725" y="1518285"/>
            <a:ext cx="4004310" cy="32004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7"/>
          <p:cNvSpPr/>
          <p:nvPr/>
        </p:nvSpPr>
        <p:spPr>
          <a:xfrm>
            <a:off x="548640" y="1645920"/>
            <a:ext cx="76200" cy="76200"/>
          </a:xfrm>
          <a:prstGeom prst="roundRect">
            <a:avLst>
              <a:gd name="adj" fmla="val 8000"/>
            </a:avLst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8"/>
          <p:cNvSpPr/>
          <p:nvPr/>
        </p:nvSpPr>
        <p:spPr>
          <a:xfrm>
            <a:off x="655320" y="1645920"/>
            <a:ext cx="76200" cy="76200"/>
          </a:xfrm>
          <a:prstGeom prst="roundRect">
            <a:avLst>
              <a:gd name="adj" fmla="val 8000"/>
            </a:avLst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9"/>
          <p:cNvSpPr/>
          <p:nvPr/>
        </p:nvSpPr>
        <p:spPr>
          <a:xfrm>
            <a:off x="762000" y="1645920"/>
            <a:ext cx="76200" cy="76200"/>
          </a:xfrm>
          <a:prstGeom prst="roundRect">
            <a:avLst>
              <a:gd name="adj" fmla="val 8000"/>
            </a:avLst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10"/>
          <p:cNvSpPr/>
          <p:nvPr/>
        </p:nvSpPr>
        <p:spPr>
          <a:xfrm>
            <a:off x="914400" y="1600200"/>
            <a:ext cx="3323360" cy="21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11"/>
          <p:cNvSpPr/>
          <p:nvPr/>
        </p:nvSpPr>
        <p:spPr>
          <a:xfrm>
            <a:off x="944880" y="1600200"/>
            <a:ext cx="3262400" cy="21336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github.com/settings/tokens/new</a:t>
            </a:r>
            <a:endParaRPr lang="en-US" sz="800" dirty="0"/>
          </a:p>
        </p:txBody>
      </p:sp>
      <p:sp>
        <p:nvSpPr>
          <p:cNvPr id="12" name="Text 12"/>
          <p:cNvSpPr/>
          <p:nvPr/>
        </p:nvSpPr>
        <p:spPr>
          <a:xfrm>
            <a:off x="594360" y="1874520"/>
            <a:ext cx="37490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new token</a:t>
            </a:r>
            <a:endParaRPr lang="en-US" sz="1100" dirty="0"/>
          </a:p>
        </p:txBody>
      </p:sp>
      <p:sp>
        <p:nvSpPr>
          <p:cNvPr id="13" name="Shape 13"/>
          <p:cNvSpPr/>
          <p:nvPr/>
        </p:nvSpPr>
        <p:spPr>
          <a:xfrm>
            <a:off x="594360" y="2087880"/>
            <a:ext cx="3749040" cy="21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4"/>
          <p:cNvSpPr/>
          <p:nvPr/>
        </p:nvSpPr>
        <p:spPr>
          <a:xfrm>
            <a:off x="594360" y="2087880"/>
            <a:ext cx="3749040" cy="213360"/>
          </a:xfrm>
          <a:prstGeom prst="rect">
            <a:avLst/>
          </a:prstGeom>
          <a:noFill/>
          <a:ln/>
        </p:spPr>
        <p:txBody>
          <a:bodyPr wrap="square" lIns="13716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cypress-ci</a:t>
            </a:r>
            <a:endParaRPr lang="en-US" sz="950" dirty="0"/>
          </a:p>
        </p:txBody>
      </p:sp>
      <p:sp>
        <p:nvSpPr>
          <p:cNvPr id="15" name="Text 15"/>
          <p:cNvSpPr/>
          <p:nvPr/>
        </p:nvSpPr>
        <p:spPr>
          <a:xfrm>
            <a:off x="594360" y="2362200"/>
            <a:ext cx="213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6"/>
          <p:cNvSpPr/>
          <p:nvPr/>
        </p:nvSpPr>
        <p:spPr>
          <a:xfrm>
            <a:off x="822960" y="236220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</a:t>
            </a:r>
            <a:endParaRPr lang="en-US" sz="950" dirty="0"/>
          </a:p>
        </p:txBody>
      </p:sp>
      <p:sp>
        <p:nvSpPr>
          <p:cNvPr id="17" name="Text 17"/>
          <p:cNvSpPr/>
          <p:nvPr/>
        </p:nvSpPr>
        <p:spPr>
          <a:xfrm>
            <a:off x="1919640" y="2362200"/>
            <a:ext cx="2423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Full control of repos</a:t>
            </a:r>
            <a:endParaRPr lang="en-US" sz="900" dirty="0"/>
          </a:p>
        </p:txBody>
      </p:sp>
      <p:sp>
        <p:nvSpPr>
          <p:cNvPr id="18" name="Text 18"/>
          <p:cNvSpPr/>
          <p:nvPr/>
        </p:nvSpPr>
        <p:spPr>
          <a:xfrm>
            <a:off x="594360" y="2499360"/>
            <a:ext cx="213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9"/>
          <p:cNvSpPr/>
          <p:nvPr/>
        </p:nvSpPr>
        <p:spPr>
          <a:xfrm>
            <a:off x="822960" y="249936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</a:t>
            </a:r>
            <a:endParaRPr lang="en-US" sz="950" dirty="0"/>
          </a:p>
        </p:txBody>
      </p:sp>
      <p:sp>
        <p:nvSpPr>
          <p:cNvPr id="20" name="Text 20"/>
          <p:cNvSpPr/>
          <p:nvPr/>
        </p:nvSpPr>
        <p:spPr>
          <a:xfrm>
            <a:off x="1919640" y="2499360"/>
            <a:ext cx="2423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Update GitHub Action workflows</a:t>
            </a:r>
            <a:endParaRPr lang="en-US" sz="900" dirty="0"/>
          </a:p>
        </p:txBody>
      </p:sp>
      <p:sp>
        <p:nvSpPr>
          <p:cNvPr id="21" name="Text 21"/>
          <p:cNvSpPr/>
          <p:nvPr/>
        </p:nvSpPr>
        <p:spPr>
          <a:xfrm>
            <a:off x="594360" y="2636520"/>
            <a:ext cx="213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100" dirty="0"/>
          </a:p>
        </p:txBody>
      </p:sp>
      <p:sp>
        <p:nvSpPr>
          <p:cNvPr id="22" name="Text 22"/>
          <p:cNvSpPr/>
          <p:nvPr/>
        </p:nvSpPr>
        <p:spPr>
          <a:xfrm>
            <a:off x="822960" y="263652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delete_repo</a:t>
            </a:r>
            <a:endParaRPr lang="en-US" sz="950" dirty="0"/>
          </a:p>
        </p:txBody>
      </p:sp>
      <p:sp>
        <p:nvSpPr>
          <p:cNvPr id="23" name="Text 23"/>
          <p:cNvSpPr/>
          <p:nvPr/>
        </p:nvSpPr>
        <p:spPr>
          <a:xfrm>
            <a:off x="1919640" y="2636520"/>
            <a:ext cx="2423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Delete repositories</a:t>
            </a:r>
            <a:endParaRPr lang="en-US" sz="900" dirty="0"/>
          </a:p>
        </p:txBody>
      </p:sp>
      <p:sp>
        <p:nvSpPr>
          <p:cNvPr id="24" name="Shape 24"/>
          <p:cNvSpPr/>
          <p:nvPr/>
        </p:nvSpPr>
        <p:spPr>
          <a:xfrm>
            <a:off x="457200" y="2880360"/>
            <a:ext cx="4023360" cy="17373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5"/>
          <p:cNvSpPr/>
          <p:nvPr/>
        </p:nvSpPr>
        <p:spPr>
          <a:xfrm>
            <a:off x="640080" y="29718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origin main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Username: 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your-handle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</a:t>
            </a:r>
            <a:r>
              <a:rPr lang="en-US" sz="9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ghp_AbC...xyz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paste PAT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Counting objects: 24, done.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Writing objects: 100%   ✓</a:t>
            </a:r>
            <a:endParaRPr lang="en-US" sz="900" dirty="0"/>
          </a:p>
        </p:txBody>
      </p:sp>
      <p:sp>
        <p:nvSpPr>
          <p:cNvPr id="26" name="Text 26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DB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 ·  SSH KEY (RECOMMENDED)</a:t>
            </a:r>
            <a:endParaRPr lang="en-US" sz="1100" dirty="0"/>
          </a:p>
        </p:txBody>
      </p:sp>
      <p:sp>
        <p:nvSpPr>
          <p:cNvPr id="27" name="Shape 27"/>
          <p:cNvSpPr/>
          <p:nvPr/>
        </p:nvSpPr>
        <p:spPr>
          <a:xfrm>
            <a:off x="4663440" y="1508760"/>
            <a:ext cx="41155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8"/>
          <p:cNvSpPr/>
          <p:nvPr/>
        </p:nvSpPr>
        <p:spPr>
          <a:xfrm>
            <a:off x="4672965" y="1518285"/>
            <a:ext cx="4096470" cy="32004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9"/>
          <p:cNvSpPr/>
          <p:nvPr/>
        </p:nvSpPr>
        <p:spPr>
          <a:xfrm>
            <a:off x="4754880" y="1645920"/>
            <a:ext cx="76200" cy="76200"/>
          </a:xfrm>
          <a:prstGeom prst="roundRect">
            <a:avLst>
              <a:gd name="adj" fmla="val 8000"/>
            </a:avLst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30"/>
          <p:cNvSpPr/>
          <p:nvPr/>
        </p:nvSpPr>
        <p:spPr>
          <a:xfrm>
            <a:off x="4861560" y="1645920"/>
            <a:ext cx="76200" cy="76200"/>
          </a:xfrm>
          <a:prstGeom prst="roundRect">
            <a:avLst>
              <a:gd name="adj" fmla="val 8000"/>
            </a:avLst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31"/>
          <p:cNvSpPr/>
          <p:nvPr/>
        </p:nvSpPr>
        <p:spPr>
          <a:xfrm>
            <a:off x="4968240" y="1645920"/>
            <a:ext cx="76200" cy="76200"/>
          </a:xfrm>
          <a:prstGeom prst="roundRect">
            <a:avLst>
              <a:gd name="adj" fmla="val 8000"/>
            </a:avLst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2"/>
          <p:cNvSpPr/>
          <p:nvPr/>
        </p:nvSpPr>
        <p:spPr>
          <a:xfrm>
            <a:off x="5120640" y="1600200"/>
            <a:ext cx="3415520" cy="21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3"/>
          <p:cNvSpPr/>
          <p:nvPr/>
        </p:nvSpPr>
        <p:spPr>
          <a:xfrm>
            <a:off x="5151120" y="1600200"/>
            <a:ext cx="3354560" cy="21336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github.com/settings/keys</a:t>
            </a:r>
            <a:endParaRPr lang="en-US" sz="800" dirty="0"/>
          </a:p>
        </p:txBody>
      </p:sp>
      <p:sp>
        <p:nvSpPr>
          <p:cNvPr id="34" name="Text 34"/>
          <p:cNvSpPr/>
          <p:nvPr/>
        </p:nvSpPr>
        <p:spPr>
          <a:xfrm>
            <a:off x="4800600" y="1874520"/>
            <a:ext cx="384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keys  ·  New SSH key</a:t>
            </a:r>
            <a:endParaRPr lang="en-US" sz="1100" dirty="0"/>
          </a:p>
        </p:txBody>
      </p:sp>
      <p:sp>
        <p:nvSpPr>
          <p:cNvPr id="35" name="Shape 35"/>
          <p:cNvSpPr/>
          <p:nvPr/>
        </p:nvSpPr>
        <p:spPr>
          <a:xfrm>
            <a:off x="4800600" y="2087880"/>
            <a:ext cx="3841200" cy="21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6"/>
          <p:cNvSpPr/>
          <p:nvPr/>
        </p:nvSpPr>
        <p:spPr>
          <a:xfrm>
            <a:off x="4800600" y="2087880"/>
            <a:ext cx="3841200" cy="213360"/>
          </a:xfrm>
          <a:prstGeom prst="rect">
            <a:avLst/>
          </a:prstGeom>
          <a:noFill/>
          <a:ln/>
        </p:spPr>
        <p:txBody>
          <a:bodyPr wrap="square" lIns="13716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laptop</a:t>
            </a:r>
            <a:endParaRPr lang="en-US" sz="950" dirty="0"/>
          </a:p>
        </p:txBody>
      </p:sp>
      <p:sp>
        <p:nvSpPr>
          <p:cNvPr id="37" name="Shape 37"/>
          <p:cNvSpPr/>
          <p:nvPr/>
        </p:nvSpPr>
        <p:spPr>
          <a:xfrm>
            <a:off x="4800600" y="2362200"/>
            <a:ext cx="3841200" cy="320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8"/>
          <p:cNvSpPr/>
          <p:nvPr/>
        </p:nvSpPr>
        <p:spPr>
          <a:xfrm>
            <a:off x="4861560" y="2362200"/>
            <a:ext cx="371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ssh-ed25519 AAAAC3Nz...iWxV you@example.com</a:t>
            </a:r>
            <a:endParaRPr lang="en-US" sz="750" dirty="0"/>
          </a:p>
        </p:txBody>
      </p:sp>
      <p:sp>
        <p:nvSpPr>
          <p:cNvPr id="39" name="Shape 39"/>
          <p:cNvSpPr/>
          <p:nvPr/>
        </p:nvSpPr>
        <p:spPr>
          <a:xfrm>
            <a:off x="4663440" y="2880360"/>
            <a:ext cx="4115520" cy="17373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40"/>
          <p:cNvSpPr/>
          <p:nvPr/>
        </p:nvSpPr>
        <p:spPr>
          <a:xfrm>
            <a:off x="4846320" y="2971800"/>
            <a:ext cx="3749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generate a key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ssh-keygen -t ed25519 \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-C 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"you@example.com"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copy public key to clipboard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~/.ssh/id_ed25519.pub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paste it in the form above</a:t>
            </a:r>
            <a:endParaRPr lang="en-US" sz="900" dirty="0"/>
          </a:p>
        </p:txBody>
      </p:sp>
      <p:sp>
        <p:nvSpPr>
          <p:cNvPr id="41" name="Text 41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CI/CD</a:t>
            </a:r>
            <a:endParaRPr lang="en-US" sz="900" dirty="0"/>
          </a:p>
        </p:txBody>
      </p:sp>
      <p:sp>
        <p:nvSpPr>
          <p:cNvPr id="42" name="Text 4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 Your Cypress Project to GitHub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empty repo on GitHub → point your local repo at it → push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 ·  IN YOUR PROJECT ROOT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6"/>
          <p:cNvSpPr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initialise locally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cypress-framework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init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.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\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"initial cypress framework"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rename branch to main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 -M main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point at GitHub repo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remote add origin \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git@github.com:</a:t>
            </a: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USER/REPO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push and set upstream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B8A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-u origin main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Branch 'main' tracks origin/main</a:t>
            </a:r>
            <a:endParaRPr lang="en-US" sz="900" dirty="0"/>
          </a:p>
        </p:txBody>
      </p:sp>
      <p:sp>
        <p:nvSpPr>
          <p:cNvPr id="7" name="Text 7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 ON GITHUB.COM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4663440" y="1508760"/>
            <a:ext cx="41155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9"/>
          <p:cNvSpPr/>
          <p:nvPr/>
        </p:nvSpPr>
        <p:spPr>
          <a:xfrm>
            <a:off x="4672965" y="1518285"/>
            <a:ext cx="4096470" cy="32004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10"/>
          <p:cNvSpPr/>
          <p:nvPr/>
        </p:nvSpPr>
        <p:spPr>
          <a:xfrm>
            <a:off x="4754880" y="1645920"/>
            <a:ext cx="76200" cy="76200"/>
          </a:xfrm>
          <a:prstGeom prst="roundRect">
            <a:avLst>
              <a:gd name="adj" fmla="val 8000"/>
            </a:avLst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11"/>
          <p:cNvSpPr/>
          <p:nvPr/>
        </p:nvSpPr>
        <p:spPr>
          <a:xfrm>
            <a:off x="4861560" y="1645920"/>
            <a:ext cx="76200" cy="76200"/>
          </a:xfrm>
          <a:prstGeom prst="roundRect">
            <a:avLst>
              <a:gd name="adj" fmla="val 8000"/>
            </a:avLst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2"/>
          <p:cNvSpPr/>
          <p:nvPr/>
        </p:nvSpPr>
        <p:spPr>
          <a:xfrm>
            <a:off x="4968240" y="1645920"/>
            <a:ext cx="76200" cy="76200"/>
          </a:xfrm>
          <a:prstGeom prst="roundRect">
            <a:avLst>
              <a:gd name="adj" fmla="val 8000"/>
            </a:avLst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3"/>
          <p:cNvSpPr/>
          <p:nvPr/>
        </p:nvSpPr>
        <p:spPr>
          <a:xfrm>
            <a:off x="5120640" y="1600200"/>
            <a:ext cx="3415520" cy="21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4"/>
          <p:cNvSpPr/>
          <p:nvPr/>
        </p:nvSpPr>
        <p:spPr>
          <a:xfrm>
            <a:off x="5151120" y="1600200"/>
            <a:ext cx="3354560" cy="21336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github.com/USER/cypress-framework</a:t>
            </a:r>
            <a:endParaRPr lang="en-US" sz="800" dirty="0"/>
          </a:p>
        </p:txBody>
      </p:sp>
      <p:sp>
        <p:nvSpPr>
          <p:cNvPr id="15" name="Text 15"/>
          <p:cNvSpPr/>
          <p:nvPr/>
        </p:nvSpPr>
        <p:spPr>
          <a:xfrm>
            <a:off x="4800600" y="1888760"/>
            <a:ext cx="384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</a:t>
            </a:r>
            <a:r>
              <a:rPr lang="en-US" sz="11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11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cypress-framework</a:t>
            </a:r>
            <a:endParaRPr lang="en-US" sz="1100" dirty="0"/>
          </a:p>
        </p:txBody>
      </p:sp>
      <p:sp>
        <p:nvSpPr>
          <p:cNvPr id="16" name="Text 16"/>
          <p:cNvSpPr/>
          <p:nvPr/>
        </p:nvSpPr>
        <p:spPr>
          <a:xfrm>
            <a:off x="4800600" y="2163080"/>
            <a:ext cx="384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test framework — POM + custom commands</a:t>
            </a:r>
            <a:endParaRPr lang="en-US" sz="900" dirty="0"/>
          </a:p>
        </p:txBody>
      </p:sp>
      <p:sp>
        <p:nvSpPr>
          <p:cNvPr id="17" name="Shape 17"/>
          <p:cNvSpPr/>
          <p:nvPr/>
        </p:nvSpPr>
        <p:spPr>
          <a:xfrm>
            <a:off x="4800600" y="2588760"/>
            <a:ext cx="3841200" cy="219240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8"/>
          <p:cNvSpPr/>
          <p:nvPr/>
        </p:nvSpPr>
        <p:spPr>
          <a:xfrm>
            <a:off x="4861560" y="2588760"/>
            <a:ext cx="378024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initial cypress framework</a:t>
            </a:r>
            <a:endParaRPr lang="en-US" sz="850" dirty="0"/>
          </a:p>
        </p:txBody>
      </p:sp>
      <p:sp>
        <p:nvSpPr>
          <p:cNvPr id="19" name="Shape 19"/>
          <p:cNvSpPr/>
          <p:nvPr/>
        </p:nvSpPr>
        <p:spPr>
          <a:xfrm>
            <a:off x="4800600" y="2808000"/>
            <a:ext cx="3841200" cy="21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20"/>
          <p:cNvSpPr/>
          <p:nvPr/>
        </p:nvSpPr>
        <p:spPr>
          <a:xfrm>
            <a:off x="4861560" y="2808000"/>
            <a:ext cx="21336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900" dirty="0"/>
          </a:p>
        </p:txBody>
      </p:sp>
      <p:sp>
        <p:nvSpPr>
          <p:cNvPr id="21" name="Text 21"/>
          <p:cNvSpPr/>
          <p:nvPr/>
        </p:nvSpPr>
        <p:spPr>
          <a:xfrm>
            <a:off x="5090160" y="2808000"/>
            <a:ext cx="128016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</a:t>
            </a:r>
            <a:endParaRPr lang="en-US" sz="850" dirty="0"/>
          </a:p>
        </p:txBody>
      </p:sp>
      <p:sp>
        <p:nvSpPr>
          <p:cNvPr id="22" name="Text 22"/>
          <p:cNvSpPr/>
          <p:nvPr/>
        </p:nvSpPr>
        <p:spPr>
          <a:xfrm>
            <a:off x="6400800" y="2808000"/>
            <a:ext cx="146304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cypress workflow</a:t>
            </a:r>
            <a:endParaRPr lang="en-US" sz="850" dirty="0"/>
          </a:p>
        </p:txBody>
      </p:sp>
      <p:sp>
        <p:nvSpPr>
          <p:cNvPr id="23" name="Text 23"/>
          <p:cNvSpPr/>
          <p:nvPr/>
        </p:nvSpPr>
        <p:spPr>
          <a:xfrm>
            <a:off x="7863840" y="2808000"/>
            <a:ext cx="700000" cy="219240"/>
          </a:xfrm>
          <a:prstGeom prst="rect">
            <a:avLst/>
          </a:prstGeom>
          <a:noFill/>
          <a:ln/>
        </p:spPr>
        <p:txBody>
          <a:bodyPr wrap="square" lIns="0" tIns="0" rIns="13716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50" dirty="0"/>
          </a:p>
        </p:txBody>
      </p:sp>
      <p:sp>
        <p:nvSpPr>
          <p:cNvPr id="24" name="Shape 24"/>
          <p:cNvSpPr/>
          <p:nvPr/>
        </p:nvSpPr>
        <p:spPr>
          <a:xfrm>
            <a:off x="4800600" y="3027240"/>
            <a:ext cx="3841200" cy="21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5"/>
          <p:cNvSpPr/>
          <p:nvPr/>
        </p:nvSpPr>
        <p:spPr>
          <a:xfrm>
            <a:off x="4861560" y="3027240"/>
            <a:ext cx="21336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900" dirty="0"/>
          </a:p>
        </p:txBody>
      </p:sp>
      <p:sp>
        <p:nvSpPr>
          <p:cNvPr id="26" name="Text 26"/>
          <p:cNvSpPr/>
          <p:nvPr/>
        </p:nvSpPr>
        <p:spPr>
          <a:xfrm>
            <a:off x="5090160" y="3027240"/>
            <a:ext cx="128016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850" dirty="0"/>
          </a:p>
        </p:txBody>
      </p:sp>
      <p:sp>
        <p:nvSpPr>
          <p:cNvPr id="27" name="Text 27"/>
          <p:cNvSpPr/>
          <p:nvPr/>
        </p:nvSpPr>
        <p:spPr>
          <a:xfrm>
            <a:off x="6400800" y="3027240"/>
            <a:ext cx="146304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cypress framework</a:t>
            </a:r>
            <a:endParaRPr lang="en-US" sz="850" dirty="0"/>
          </a:p>
        </p:txBody>
      </p:sp>
      <p:sp>
        <p:nvSpPr>
          <p:cNvPr id="28" name="Text 28"/>
          <p:cNvSpPr/>
          <p:nvPr/>
        </p:nvSpPr>
        <p:spPr>
          <a:xfrm>
            <a:off x="7863840" y="3027240"/>
            <a:ext cx="700000" cy="219240"/>
          </a:xfrm>
          <a:prstGeom prst="rect">
            <a:avLst/>
          </a:prstGeom>
          <a:noFill/>
          <a:ln/>
        </p:spPr>
        <p:txBody>
          <a:bodyPr wrap="square" lIns="0" tIns="0" rIns="13716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50" dirty="0"/>
          </a:p>
        </p:txBody>
      </p:sp>
      <p:sp>
        <p:nvSpPr>
          <p:cNvPr id="29" name="Shape 29"/>
          <p:cNvSpPr/>
          <p:nvPr/>
        </p:nvSpPr>
        <p:spPr>
          <a:xfrm>
            <a:off x="4800600" y="3246480"/>
            <a:ext cx="3841200" cy="21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30"/>
          <p:cNvSpPr/>
          <p:nvPr/>
        </p:nvSpPr>
        <p:spPr>
          <a:xfrm>
            <a:off x="4861560" y="3246480"/>
            <a:ext cx="21336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900" dirty="0"/>
          </a:p>
        </p:txBody>
      </p:sp>
      <p:sp>
        <p:nvSpPr>
          <p:cNvPr id="31" name="Text 31"/>
          <p:cNvSpPr/>
          <p:nvPr/>
        </p:nvSpPr>
        <p:spPr>
          <a:xfrm>
            <a:off x="5090160" y="3246480"/>
            <a:ext cx="128016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50" dirty="0"/>
          </a:p>
        </p:txBody>
      </p:sp>
      <p:sp>
        <p:nvSpPr>
          <p:cNvPr id="32" name="Text 32"/>
          <p:cNvSpPr/>
          <p:nvPr/>
        </p:nvSpPr>
        <p:spPr>
          <a:xfrm>
            <a:off x="6400800" y="3246480"/>
            <a:ext cx="146304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gitignored — placeholder</a:t>
            </a:r>
            <a:endParaRPr lang="en-US" sz="850" dirty="0"/>
          </a:p>
        </p:txBody>
      </p:sp>
      <p:sp>
        <p:nvSpPr>
          <p:cNvPr id="33" name="Text 33"/>
          <p:cNvSpPr/>
          <p:nvPr/>
        </p:nvSpPr>
        <p:spPr>
          <a:xfrm>
            <a:off x="7863840" y="3246480"/>
            <a:ext cx="700000" cy="219240"/>
          </a:xfrm>
          <a:prstGeom prst="rect">
            <a:avLst/>
          </a:prstGeom>
          <a:noFill/>
          <a:ln/>
        </p:spPr>
        <p:txBody>
          <a:bodyPr wrap="square" lIns="0" tIns="0" rIns="13716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50" dirty="0"/>
          </a:p>
        </p:txBody>
      </p:sp>
      <p:sp>
        <p:nvSpPr>
          <p:cNvPr id="34" name="Shape 34"/>
          <p:cNvSpPr/>
          <p:nvPr/>
        </p:nvSpPr>
        <p:spPr>
          <a:xfrm>
            <a:off x="4800600" y="3465720"/>
            <a:ext cx="3841200" cy="21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5"/>
          <p:cNvSpPr/>
          <p:nvPr/>
        </p:nvSpPr>
        <p:spPr>
          <a:xfrm>
            <a:off x="4861560" y="3465720"/>
            <a:ext cx="21336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36" name="Text 36"/>
          <p:cNvSpPr/>
          <p:nvPr/>
        </p:nvSpPr>
        <p:spPr>
          <a:xfrm>
            <a:off x="5090160" y="3465720"/>
            <a:ext cx="128016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</a:t>
            </a:r>
            <a:endParaRPr lang="en-US" sz="850" dirty="0"/>
          </a:p>
        </p:txBody>
      </p:sp>
      <p:sp>
        <p:nvSpPr>
          <p:cNvPr id="37" name="Text 37"/>
          <p:cNvSpPr/>
          <p:nvPr/>
        </p:nvSpPr>
        <p:spPr>
          <a:xfrm>
            <a:off x="6400800" y="3465720"/>
            <a:ext cx="146304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node_modules, reports</a:t>
            </a:r>
            <a:endParaRPr lang="en-US" sz="850" dirty="0"/>
          </a:p>
        </p:txBody>
      </p:sp>
      <p:sp>
        <p:nvSpPr>
          <p:cNvPr id="38" name="Text 38"/>
          <p:cNvSpPr/>
          <p:nvPr/>
        </p:nvSpPr>
        <p:spPr>
          <a:xfrm>
            <a:off x="7863840" y="3465720"/>
            <a:ext cx="700000" cy="219240"/>
          </a:xfrm>
          <a:prstGeom prst="rect">
            <a:avLst/>
          </a:prstGeom>
          <a:noFill/>
          <a:ln/>
        </p:spPr>
        <p:txBody>
          <a:bodyPr wrap="square" lIns="0" tIns="0" rIns="13716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50" dirty="0"/>
          </a:p>
        </p:txBody>
      </p:sp>
      <p:sp>
        <p:nvSpPr>
          <p:cNvPr id="39" name="Shape 39"/>
          <p:cNvSpPr/>
          <p:nvPr/>
        </p:nvSpPr>
        <p:spPr>
          <a:xfrm>
            <a:off x="4800600" y="3684960"/>
            <a:ext cx="3841200" cy="21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40"/>
          <p:cNvSpPr/>
          <p:nvPr/>
        </p:nvSpPr>
        <p:spPr>
          <a:xfrm>
            <a:off x="4861560" y="3684960"/>
            <a:ext cx="21336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41" name="Text 41"/>
          <p:cNvSpPr/>
          <p:nvPr/>
        </p:nvSpPr>
        <p:spPr>
          <a:xfrm>
            <a:off x="5090160" y="3684960"/>
            <a:ext cx="128016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cypress.config.js</a:t>
            </a:r>
            <a:endParaRPr lang="en-US" sz="850" dirty="0"/>
          </a:p>
        </p:txBody>
      </p:sp>
      <p:sp>
        <p:nvSpPr>
          <p:cNvPr id="42" name="Text 42"/>
          <p:cNvSpPr/>
          <p:nvPr/>
        </p:nvSpPr>
        <p:spPr>
          <a:xfrm>
            <a:off x="6400800" y="3684960"/>
            <a:ext cx="146304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baseUrl, env, retries</a:t>
            </a:r>
            <a:endParaRPr lang="en-US" sz="850" dirty="0"/>
          </a:p>
        </p:txBody>
      </p:sp>
      <p:sp>
        <p:nvSpPr>
          <p:cNvPr id="43" name="Text 43"/>
          <p:cNvSpPr/>
          <p:nvPr/>
        </p:nvSpPr>
        <p:spPr>
          <a:xfrm>
            <a:off x="7863840" y="3684960"/>
            <a:ext cx="700000" cy="219240"/>
          </a:xfrm>
          <a:prstGeom prst="rect">
            <a:avLst/>
          </a:prstGeom>
          <a:noFill/>
          <a:ln/>
        </p:spPr>
        <p:txBody>
          <a:bodyPr wrap="square" lIns="0" tIns="0" rIns="13716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50" dirty="0"/>
          </a:p>
        </p:txBody>
      </p:sp>
      <p:sp>
        <p:nvSpPr>
          <p:cNvPr id="44" name="Shape 44"/>
          <p:cNvSpPr/>
          <p:nvPr/>
        </p:nvSpPr>
        <p:spPr>
          <a:xfrm>
            <a:off x="4800600" y="3904200"/>
            <a:ext cx="3841200" cy="21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5"/>
          <p:cNvSpPr/>
          <p:nvPr/>
        </p:nvSpPr>
        <p:spPr>
          <a:xfrm>
            <a:off x="4861560" y="3904200"/>
            <a:ext cx="21336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46" name="Text 46"/>
          <p:cNvSpPr/>
          <p:nvPr/>
        </p:nvSpPr>
        <p:spPr>
          <a:xfrm>
            <a:off x="5090160" y="3904200"/>
            <a:ext cx="128016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</a:t>
            </a:r>
            <a:endParaRPr lang="en-US" sz="850" dirty="0"/>
          </a:p>
        </p:txBody>
      </p:sp>
      <p:sp>
        <p:nvSpPr>
          <p:cNvPr id="47" name="Text 47"/>
          <p:cNvSpPr/>
          <p:nvPr/>
        </p:nvSpPr>
        <p:spPr>
          <a:xfrm>
            <a:off x="6400800" y="3904200"/>
            <a:ext cx="146304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+ mochawesome</a:t>
            </a:r>
            <a:endParaRPr lang="en-US" sz="850" dirty="0"/>
          </a:p>
        </p:txBody>
      </p:sp>
      <p:sp>
        <p:nvSpPr>
          <p:cNvPr id="48" name="Text 48"/>
          <p:cNvSpPr/>
          <p:nvPr/>
        </p:nvSpPr>
        <p:spPr>
          <a:xfrm>
            <a:off x="7863840" y="3904200"/>
            <a:ext cx="700000" cy="219240"/>
          </a:xfrm>
          <a:prstGeom prst="rect">
            <a:avLst/>
          </a:prstGeom>
          <a:noFill/>
          <a:ln/>
        </p:spPr>
        <p:txBody>
          <a:bodyPr wrap="square" lIns="0" tIns="0" rIns="13716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50" dirty="0"/>
          </a:p>
        </p:txBody>
      </p:sp>
      <p:sp>
        <p:nvSpPr>
          <p:cNvPr id="49" name="Shape 49"/>
          <p:cNvSpPr/>
          <p:nvPr/>
        </p:nvSpPr>
        <p:spPr>
          <a:xfrm>
            <a:off x="4800600" y="4123440"/>
            <a:ext cx="3841200" cy="21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50"/>
          <p:cNvSpPr/>
          <p:nvPr/>
        </p:nvSpPr>
        <p:spPr>
          <a:xfrm>
            <a:off x="4861560" y="4123440"/>
            <a:ext cx="21336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900" dirty="0"/>
          </a:p>
        </p:txBody>
      </p:sp>
      <p:sp>
        <p:nvSpPr>
          <p:cNvPr id="51" name="Text 51"/>
          <p:cNvSpPr/>
          <p:nvPr/>
        </p:nvSpPr>
        <p:spPr>
          <a:xfrm>
            <a:off x="5090160" y="4123440"/>
            <a:ext cx="128016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850" dirty="0"/>
          </a:p>
        </p:txBody>
      </p:sp>
      <p:sp>
        <p:nvSpPr>
          <p:cNvPr id="52" name="Text 52"/>
          <p:cNvSpPr/>
          <p:nvPr/>
        </p:nvSpPr>
        <p:spPr>
          <a:xfrm>
            <a:off x="6400800" y="4123440"/>
            <a:ext cx="1463040" cy="219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how to run</a:t>
            </a:r>
            <a:endParaRPr lang="en-US" sz="850" dirty="0"/>
          </a:p>
        </p:txBody>
      </p:sp>
      <p:sp>
        <p:nvSpPr>
          <p:cNvPr id="53" name="Text 53"/>
          <p:cNvSpPr/>
          <p:nvPr/>
        </p:nvSpPr>
        <p:spPr>
          <a:xfrm>
            <a:off x="7863840" y="4123440"/>
            <a:ext cx="700000" cy="219240"/>
          </a:xfrm>
          <a:prstGeom prst="rect">
            <a:avLst/>
          </a:prstGeom>
          <a:noFill/>
          <a:ln/>
        </p:spPr>
        <p:txBody>
          <a:bodyPr wrap="square" lIns="0" tIns="0" rIns="13716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50" dirty="0"/>
          </a:p>
        </p:txBody>
      </p:sp>
      <p:sp>
        <p:nvSpPr>
          <p:cNvPr id="54" name="Text 5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CI/CD</a:t>
            </a:r>
            <a:endParaRPr lang="en-US" sz="900" dirty="0"/>
          </a:p>
        </p:txBody>
      </p:sp>
      <p:sp>
        <p:nvSpPr>
          <p:cNvPr id="55" name="Text 55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 — Anatomy of a Workflow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ingredients of any CI pipeline — wired up in a single YAML file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EVERY WORKFLOW NEEDS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57200" y="1508760"/>
            <a:ext cx="4023360" cy="660400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6"/>
          <p:cNvSpPr/>
          <p:nvPr/>
        </p:nvSpPr>
        <p:spPr>
          <a:xfrm>
            <a:off x="594360" y="167640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7"/>
          <p:cNvSpPr/>
          <p:nvPr/>
        </p:nvSpPr>
        <p:spPr>
          <a:xfrm>
            <a:off x="594360" y="1676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8"/>
          <p:cNvSpPr/>
          <p:nvPr/>
        </p:nvSpPr>
        <p:spPr>
          <a:xfrm>
            <a:off x="1005840" y="1600200"/>
            <a:ext cx="3323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</a:t>
            </a:r>
            <a:endParaRPr lang="en-US" sz="1450" dirty="0"/>
          </a:p>
        </p:txBody>
      </p:sp>
      <p:sp>
        <p:nvSpPr>
          <p:cNvPr id="9" name="Text 9"/>
          <p:cNvSpPr/>
          <p:nvPr/>
        </p:nvSpPr>
        <p:spPr>
          <a:xfrm>
            <a:off x="1005840" y="1874520"/>
            <a:ext cx="33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shows in the Actions tab</a:t>
            </a:r>
            <a:endParaRPr lang="en-US" sz="1050" dirty="0"/>
          </a:p>
        </p:txBody>
      </p:sp>
      <p:sp>
        <p:nvSpPr>
          <p:cNvPr id="10" name="Shape 10"/>
          <p:cNvSpPr/>
          <p:nvPr/>
        </p:nvSpPr>
        <p:spPr>
          <a:xfrm>
            <a:off x="457200" y="2260600"/>
            <a:ext cx="4023360" cy="660400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11"/>
          <p:cNvSpPr/>
          <p:nvPr/>
        </p:nvSpPr>
        <p:spPr>
          <a:xfrm>
            <a:off x="594360" y="242824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2"/>
          <p:cNvSpPr/>
          <p:nvPr/>
        </p:nvSpPr>
        <p:spPr>
          <a:xfrm>
            <a:off x="594360" y="2428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3"/>
          <p:cNvSpPr/>
          <p:nvPr/>
        </p:nvSpPr>
        <p:spPr>
          <a:xfrm>
            <a:off x="1005840" y="2352040"/>
            <a:ext cx="3323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450" dirty="0"/>
          </a:p>
        </p:txBody>
      </p:sp>
      <p:sp>
        <p:nvSpPr>
          <p:cNvPr id="14" name="Text 14"/>
          <p:cNvSpPr/>
          <p:nvPr/>
        </p:nvSpPr>
        <p:spPr>
          <a:xfrm>
            <a:off x="1005840" y="2626360"/>
            <a:ext cx="33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— push, pull_request, schedule, manual</a:t>
            </a:r>
            <a:endParaRPr lang="en-US" sz="1050" dirty="0"/>
          </a:p>
        </p:txBody>
      </p:sp>
      <p:sp>
        <p:nvSpPr>
          <p:cNvPr id="15" name="Shape 15"/>
          <p:cNvSpPr/>
          <p:nvPr/>
        </p:nvSpPr>
        <p:spPr>
          <a:xfrm>
            <a:off x="457200" y="3012440"/>
            <a:ext cx="4023360" cy="660400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6"/>
          <p:cNvSpPr/>
          <p:nvPr/>
        </p:nvSpPr>
        <p:spPr>
          <a:xfrm>
            <a:off x="594360" y="318008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7"/>
          <p:cNvSpPr/>
          <p:nvPr/>
        </p:nvSpPr>
        <p:spPr>
          <a:xfrm>
            <a:off x="594360" y="3180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8"/>
          <p:cNvSpPr/>
          <p:nvPr/>
        </p:nvSpPr>
        <p:spPr>
          <a:xfrm>
            <a:off x="1005840" y="3103880"/>
            <a:ext cx="3323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450" dirty="0"/>
          </a:p>
        </p:txBody>
      </p:sp>
      <p:sp>
        <p:nvSpPr>
          <p:cNvPr id="19" name="Text 19"/>
          <p:cNvSpPr/>
          <p:nvPr/>
        </p:nvSpPr>
        <p:spPr>
          <a:xfrm>
            <a:off x="1005840" y="3378200"/>
            <a:ext cx="33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steps, each on its own runner</a:t>
            </a:r>
            <a:endParaRPr lang="en-US" sz="1050" dirty="0"/>
          </a:p>
        </p:txBody>
      </p:sp>
      <p:sp>
        <p:nvSpPr>
          <p:cNvPr id="20" name="Shape 20"/>
          <p:cNvSpPr/>
          <p:nvPr/>
        </p:nvSpPr>
        <p:spPr>
          <a:xfrm>
            <a:off x="457200" y="3764280"/>
            <a:ext cx="4023360" cy="660400"/>
          </a:xfrm>
          <a:prstGeom prst="roundRect">
            <a:avLst>
              <a:gd name="adj" fmla="val 8000"/>
            </a:avLst>
          </a:prstGeom>
          <a:solidFill>
            <a:srgbClr val="F4F5FA"/>
          </a:solidFill>
          <a:ln w="12700">
            <a:solidFill>
              <a:srgbClr val="E3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21"/>
          <p:cNvSpPr/>
          <p:nvPr/>
        </p:nvSpPr>
        <p:spPr>
          <a:xfrm>
            <a:off x="594360" y="3931920"/>
            <a:ext cx="320040" cy="320040"/>
          </a:xfrm>
          <a:prstGeom prst="roundRect">
            <a:avLst>
              <a:gd name="adj" fmla="val 8000"/>
            </a:avLst>
          </a:prstGeom>
          <a:solidFill>
            <a:srgbClr val="3DB389"/>
          </a:solidFill>
          <a:ln w="12700">
            <a:solidFill>
              <a:srgbClr val="3DB38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2"/>
          <p:cNvSpPr/>
          <p:nvPr/>
        </p:nvSpPr>
        <p:spPr>
          <a:xfrm>
            <a:off x="59436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3"/>
          <p:cNvSpPr/>
          <p:nvPr/>
        </p:nvSpPr>
        <p:spPr>
          <a:xfrm>
            <a:off x="1005840" y="3855720"/>
            <a:ext cx="3323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steps:</a:t>
            </a:r>
            <a:endParaRPr lang="en-US" sz="1450" dirty="0"/>
          </a:p>
        </p:txBody>
      </p:sp>
      <p:sp>
        <p:nvSpPr>
          <p:cNvPr id="24" name="Text 24"/>
          <p:cNvSpPr/>
          <p:nvPr/>
        </p:nvSpPr>
        <p:spPr>
          <a:xfrm>
            <a:off x="1005840" y="4130040"/>
            <a:ext cx="33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install, run, upload artifacts</a:t>
            </a:r>
            <a:endParaRPr lang="en-US" sz="1050" dirty="0"/>
          </a:p>
        </p:txBody>
      </p:sp>
      <p:sp>
        <p:nvSpPr>
          <p:cNvPr id="25" name="Text 25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.GITHUB/WORKFLOWS/CYPRESS.YML</a:t>
            </a:r>
            <a:endParaRPr lang="en-US" sz="1100" dirty="0"/>
          </a:p>
        </p:txBody>
      </p:sp>
      <p:sp>
        <p:nvSpPr>
          <p:cNvPr id="26" name="Shape 26"/>
          <p:cNvSpPr/>
          <p:nvPr/>
        </p:nvSpPr>
        <p:spPr>
          <a:xfrm>
            <a:off x="4663440" y="1508760"/>
            <a:ext cx="411552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7"/>
          <p:cNvSpPr/>
          <p:nvPr/>
        </p:nvSpPr>
        <p:spPr>
          <a:xfrm>
            <a:off x="4846320" y="1600200"/>
            <a:ext cx="3749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E2E Tests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[push, pull_request]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cypress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ubuntu-latest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actions/setup-node@v4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 node-version: </a:t>
            </a:r>
            <a:r>
              <a:rPr lang="en-US" sz="9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ci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run test:ci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actions/upload-artifact@v4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if: always()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name: cypress-report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path: reports/html</a:t>
            </a:r>
            <a:endParaRPr lang="en-US" sz="900" dirty="0"/>
          </a:p>
        </p:txBody>
      </p:sp>
      <p:sp>
        <p:nvSpPr>
          <p:cNvPr id="28" name="Text 28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CI/CD</a:t>
            </a:r>
            <a:endParaRPr lang="en-US" sz="900" dirty="0"/>
          </a:p>
        </p:txBody>
      </p:sp>
      <p:sp>
        <p:nvSpPr>
          <p:cNvPr id="29" name="Text 29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CI Runs Your Code  —  Step by Step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between git push and the green check on your PR</a:t>
            </a:r>
            <a:endParaRPr lang="en-US" sz="1300" dirty="0"/>
          </a:p>
        </p:txBody>
      </p:sp>
      <p:sp>
        <p:nvSpPr>
          <p:cNvPr id="4" name="Shape 4"/>
          <p:cNvSpPr/>
          <p:nvPr/>
        </p:nvSpPr>
        <p:spPr>
          <a:xfrm>
            <a:off x="691515" y="1371600"/>
            <a:ext cx="19050" cy="3261360"/>
          </a:xfrm>
          <a:prstGeom prst="rect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5"/>
          <p:cNvSpPr/>
          <p:nvPr/>
        </p:nvSpPr>
        <p:spPr>
          <a:xfrm>
            <a:off x="518160" y="1188720"/>
            <a:ext cx="365760" cy="365760"/>
          </a:xfrm>
          <a:prstGeom prst="roundRect">
            <a:avLst>
              <a:gd name="adj" fmla="val 8000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6"/>
          <p:cNvSpPr/>
          <p:nvPr/>
        </p:nvSpPr>
        <p:spPr>
          <a:xfrm>
            <a:off x="5181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7"/>
          <p:cNvSpPr/>
          <p:nvPr/>
        </p:nvSpPr>
        <p:spPr>
          <a:xfrm>
            <a:off x="1127760" y="1188720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</a:t>
            </a:r>
            <a:endParaRPr lang="en-US" sz="1400" dirty="0"/>
          </a:p>
        </p:txBody>
      </p:sp>
      <p:sp>
        <p:nvSpPr>
          <p:cNvPr id="8" name="Text 8"/>
          <p:cNvSpPr/>
          <p:nvPr/>
        </p:nvSpPr>
        <p:spPr>
          <a:xfrm>
            <a:off x="1127760" y="1463040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sees a push or PR matching the workflow's on: rule</a:t>
            </a:r>
            <a:endParaRPr lang="en-US" sz="1000" dirty="0"/>
          </a:p>
        </p:txBody>
      </p:sp>
      <p:sp>
        <p:nvSpPr>
          <p:cNvPr id="9" name="Shape 9"/>
          <p:cNvSpPr/>
          <p:nvPr/>
        </p:nvSpPr>
        <p:spPr>
          <a:xfrm>
            <a:off x="4846320" y="1188720"/>
            <a:ext cx="3840480" cy="50292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10"/>
          <p:cNvSpPr/>
          <p:nvPr/>
        </p:nvSpPr>
        <p:spPr>
          <a:xfrm>
            <a:off x="4968240" y="1280160"/>
            <a:ext cx="359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.yml on:</a:t>
            </a:r>
            <a:endParaRPr lang="en-US" sz="8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push: { branches: [main] }</a:t>
            </a:r>
            <a:endParaRPr lang="en-US" sz="800" dirty="0"/>
          </a:p>
        </p:txBody>
      </p:sp>
      <p:sp>
        <p:nvSpPr>
          <p:cNvPr id="11" name="Shape 11"/>
          <p:cNvSpPr/>
          <p:nvPr/>
        </p:nvSpPr>
        <p:spPr>
          <a:xfrm>
            <a:off x="518160" y="1813560"/>
            <a:ext cx="365760" cy="365760"/>
          </a:xfrm>
          <a:prstGeom prst="roundRect">
            <a:avLst>
              <a:gd name="adj" fmla="val 8000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2"/>
          <p:cNvSpPr/>
          <p:nvPr/>
        </p:nvSpPr>
        <p:spPr>
          <a:xfrm>
            <a:off x="518160" y="1813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3"/>
          <p:cNvSpPr/>
          <p:nvPr/>
        </p:nvSpPr>
        <p:spPr>
          <a:xfrm>
            <a:off x="1127760" y="1813560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Runner spun up</a:t>
            </a:r>
            <a:endParaRPr lang="en-US" sz="1400" dirty="0"/>
          </a:p>
        </p:txBody>
      </p:sp>
      <p:sp>
        <p:nvSpPr>
          <p:cNvPr id="14" name="Text 14"/>
          <p:cNvSpPr/>
          <p:nvPr/>
        </p:nvSpPr>
        <p:spPr>
          <a:xfrm>
            <a:off x="1127760" y="2087880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Ubuntu VM in GitHub's cloud — nothing carried over</a:t>
            </a:r>
            <a:endParaRPr lang="en-US" sz="1000" dirty="0"/>
          </a:p>
        </p:txBody>
      </p:sp>
      <p:sp>
        <p:nvSpPr>
          <p:cNvPr id="15" name="Shape 15"/>
          <p:cNvSpPr/>
          <p:nvPr/>
        </p:nvSpPr>
        <p:spPr>
          <a:xfrm>
            <a:off x="4846320" y="1813560"/>
            <a:ext cx="3840480" cy="50292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6"/>
          <p:cNvSpPr/>
          <p:nvPr/>
        </p:nvSpPr>
        <p:spPr>
          <a:xfrm>
            <a:off x="4968240" y="1905000"/>
            <a:ext cx="359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runs-on: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ubuntu-latest</a:t>
            </a:r>
            <a:endParaRPr lang="en-US" sz="800" dirty="0"/>
          </a:p>
        </p:txBody>
      </p:sp>
      <p:sp>
        <p:nvSpPr>
          <p:cNvPr id="17" name="Shape 17"/>
          <p:cNvSpPr/>
          <p:nvPr/>
        </p:nvSpPr>
        <p:spPr>
          <a:xfrm>
            <a:off x="518160" y="2438400"/>
            <a:ext cx="365760" cy="365760"/>
          </a:xfrm>
          <a:prstGeom prst="roundRect">
            <a:avLst>
              <a:gd name="adj" fmla="val 8000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8"/>
          <p:cNvSpPr/>
          <p:nvPr/>
        </p:nvSpPr>
        <p:spPr>
          <a:xfrm>
            <a:off x="518160" y="2438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9"/>
          <p:cNvSpPr/>
          <p:nvPr/>
        </p:nvSpPr>
        <p:spPr>
          <a:xfrm>
            <a:off x="1127760" y="2438400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Checkout</a:t>
            </a:r>
            <a:endParaRPr lang="en-US" sz="1400" dirty="0"/>
          </a:p>
        </p:txBody>
      </p:sp>
      <p:sp>
        <p:nvSpPr>
          <p:cNvPr id="20" name="Text 20"/>
          <p:cNvSpPr/>
          <p:nvPr/>
        </p:nvSpPr>
        <p:spPr>
          <a:xfrm>
            <a:off x="1127760" y="2712720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actions/checkout@v4 clones your repo at the commit SHA</a:t>
            </a:r>
            <a:endParaRPr lang="en-US" sz="1000" dirty="0"/>
          </a:p>
        </p:txBody>
      </p:sp>
      <p:sp>
        <p:nvSpPr>
          <p:cNvPr id="21" name="Shape 21"/>
          <p:cNvSpPr/>
          <p:nvPr/>
        </p:nvSpPr>
        <p:spPr>
          <a:xfrm>
            <a:off x="4846320" y="2438400"/>
            <a:ext cx="3840480" cy="50292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2"/>
          <p:cNvSpPr/>
          <p:nvPr/>
        </p:nvSpPr>
        <p:spPr>
          <a:xfrm>
            <a:off x="4968240" y="2529840"/>
            <a:ext cx="359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uses: </a:t>
            </a:r>
            <a:r>
              <a:rPr lang="en-US" sz="8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actions/checkout@v4</a:t>
            </a:r>
            <a:endParaRPr lang="en-US" sz="800" dirty="0"/>
          </a:p>
        </p:txBody>
      </p:sp>
      <p:sp>
        <p:nvSpPr>
          <p:cNvPr id="23" name="Shape 23"/>
          <p:cNvSpPr/>
          <p:nvPr/>
        </p:nvSpPr>
        <p:spPr>
          <a:xfrm>
            <a:off x="518160" y="3063240"/>
            <a:ext cx="365760" cy="365760"/>
          </a:xfrm>
          <a:prstGeom prst="roundRect">
            <a:avLst>
              <a:gd name="adj" fmla="val 8000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4"/>
          <p:cNvSpPr/>
          <p:nvPr/>
        </p:nvSpPr>
        <p:spPr>
          <a:xfrm>
            <a:off x="5181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5"/>
          <p:cNvSpPr/>
          <p:nvPr/>
        </p:nvSpPr>
        <p:spPr>
          <a:xfrm>
            <a:off x="1127760" y="3063240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</a:t>
            </a:r>
            <a:endParaRPr lang="en-US" sz="1400" dirty="0"/>
          </a:p>
        </p:txBody>
      </p:sp>
      <p:sp>
        <p:nvSpPr>
          <p:cNvPr id="26" name="Text 26"/>
          <p:cNvSpPr/>
          <p:nvPr/>
        </p:nvSpPr>
        <p:spPr>
          <a:xfrm>
            <a:off x="1127760" y="3337560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ci installs exact versions from package-lock.json</a:t>
            </a:r>
            <a:endParaRPr lang="en-US" sz="1000" dirty="0"/>
          </a:p>
        </p:txBody>
      </p:sp>
      <p:sp>
        <p:nvSpPr>
          <p:cNvPr id="27" name="Shape 27"/>
          <p:cNvSpPr/>
          <p:nvPr/>
        </p:nvSpPr>
        <p:spPr>
          <a:xfrm>
            <a:off x="4846320" y="3063240"/>
            <a:ext cx="3840480" cy="50292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8"/>
          <p:cNvSpPr/>
          <p:nvPr/>
        </p:nvSpPr>
        <p:spPr>
          <a:xfrm>
            <a:off x="4968240" y="3154680"/>
            <a:ext cx="359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run: npm ci</a:t>
            </a:r>
            <a:endParaRPr lang="en-US" sz="800" dirty="0"/>
          </a:p>
        </p:txBody>
      </p:sp>
      <p:sp>
        <p:nvSpPr>
          <p:cNvPr id="29" name="Shape 29"/>
          <p:cNvSpPr/>
          <p:nvPr/>
        </p:nvSpPr>
        <p:spPr>
          <a:xfrm>
            <a:off x="518160" y="3688080"/>
            <a:ext cx="365760" cy="365760"/>
          </a:xfrm>
          <a:prstGeom prst="roundRect">
            <a:avLst>
              <a:gd name="adj" fmla="val 8000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30"/>
          <p:cNvSpPr/>
          <p:nvPr/>
        </p:nvSpPr>
        <p:spPr>
          <a:xfrm>
            <a:off x="518160" y="3688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31"/>
          <p:cNvSpPr/>
          <p:nvPr/>
        </p:nvSpPr>
        <p:spPr>
          <a:xfrm>
            <a:off x="1127760" y="3688080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1400" dirty="0"/>
          </a:p>
        </p:txBody>
      </p:sp>
      <p:sp>
        <p:nvSpPr>
          <p:cNvPr id="32" name="Text 32"/>
          <p:cNvSpPr/>
          <p:nvPr/>
        </p:nvSpPr>
        <p:spPr>
          <a:xfrm>
            <a:off x="1127760" y="3962400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cypress run executes the suite headless in the chosen browser</a:t>
            </a:r>
            <a:endParaRPr lang="en-US" sz="1000" dirty="0"/>
          </a:p>
        </p:txBody>
      </p:sp>
      <p:sp>
        <p:nvSpPr>
          <p:cNvPr id="33" name="Shape 33"/>
          <p:cNvSpPr/>
          <p:nvPr/>
        </p:nvSpPr>
        <p:spPr>
          <a:xfrm>
            <a:off x="4846320" y="3688080"/>
            <a:ext cx="3840480" cy="50292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4"/>
          <p:cNvSpPr/>
          <p:nvPr/>
        </p:nvSpPr>
        <p:spPr>
          <a:xfrm>
            <a:off x="4968240" y="3779520"/>
            <a:ext cx="359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run: npm run test:ci</a:t>
            </a:r>
            <a:endParaRPr lang="en-US" sz="800" dirty="0"/>
          </a:p>
        </p:txBody>
      </p:sp>
      <p:sp>
        <p:nvSpPr>
          <p:cNvPr id="35" name="Shape 35"/>
          <p:cNvSpPr/>
          <p:nvPr/>
        </p:nvSpPr>
        <p:spPr>
          <a:xfrm>
            <a:off x="518160" y="4312920"/>
            <a:ext cx="365760" cy="365760"/>
          </a:xfrm>
          <a:prstGeom prst="roundRect">
            <a:avLst>
              <a:gd name="adj" fmla="val 8000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6"/>
          <p:cNvSpPr/>
          <p:nvPr/>
        </p:nvSpPr>
        <p:spPr>
          <a:xfrm>
            <a:off x="518160" y="4312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7"/>
          <p:cNvSpPr/>
          <p:nvPr/>
        </p:nvSpPr>
        <p:spPr>
          <a:xfrm>
            <a:off x="1127760" y="4312920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1400" dirty="0"/>
          </a:p>
        </p:txBody>
      </p:sp>
      <p:sp>
        <p:nvSpPr>
          <p:cNvPr id="38" name="Text 38"/>
          <p:cNvSpPr/>
          <p:nvPr/>
        </p:nvSpPr>
        <p:spPr>
          <a:xfrm>
            <a:off x="1127760" y="4587240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6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uploaded; commit gets ✓ or ✗ status on the PR</a:t>
            </a:r>
            <a:endParaRPr lang="en-US" sz="1000" dirty="0"/>
          </a:p>
        </p:txBody>
      </p:sp>
      <p:sp>
        <p:nvSpPr>
          <p:cNvPr id="39" name="Shape 39"/>
          <p:cNvSpPr/>
          <p:nvPr/>
        </p:nvSpPr>
        <p:spPr>
          <a:xfrm>
            <a:off x="4846320" y="4312920"/>
            <a:ext cx="3840480" cy="50292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40"/>
          <p:cNvSpPr/>
          <p:nvPr/>
        </p:nvSpPr>
        <p:spPr>
          <a:xfrm>
            <a:off x="4968240" y="4404360"/>
            <a:ext cx="359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uses: </a:t>
            </a:r>
            <a:r>
              <a:rPr lang="en-US" sz="800" dirty="0">
                <a:solidFill>
                  <a:srgbClr val="9FB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upload-artifact@v4</a:t>
            </a:r>
            <a:endParaRPr lang="en-US" sz="8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always()</a:t>
            </a:r>
            <a:endParaRPr lang="en-US" sz="800" dirty="0"/>
          </a:p>
        </p:txBody>
      </p:sp>
      <p:sp>
        <p:nvSpPr>
          <p:cNvPr id="41" name="Text 41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CI/CD</a:t>
            </a:r>
            <a:endParaRPr lang="en-US" sz="900" dirty="0"/>
          </a:p>
        </p:txBody>
      </p:sp>
      <p:sp>
        <p:nvSpPr>
          <p:cNvPr id="42" name="Text 4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Strategy — Parallel Browsers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per browser, all kicked off in parallel — no copy-pasted workflow code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C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ONE BROWSER, SEQUENTIAL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6"/>
          <p:cNvSpPr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.github/workflows/cypress.yml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cypress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ubuntu-latest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ci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npx cypress run \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--browser chrome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tests only run on Chrome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Firefox-only bugs slip through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adding another browser means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duplicating the whole block —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copy-paste hell</a:t>
            </a:r>
            <a:endParaRPr lang="en-US" sz="900" dirty="0"/>
          </a:p>
        </p:txBody>
      </p:sp>
      <p:sp>
        <p:nvSpPr>
          <p:cNvPr id="7" name="Text 7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DB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MATRIX KICKS OFF N BROWSERS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4663440" y="1508760"/>
            <a:ext cx="411552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4846320" y="1600200"/>
            <a:ext cx="3749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cypress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ubuntu-latest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strategy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fail-fast: </a:t>
            </a:r>
            <a:r>
              <a:rPr lang="en-US" sz="9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matrix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browser: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chrome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firefox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edge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ci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npx cypress run \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--browser </a:t>
            </a: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${{ matrix.browser }}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3 jobs run in parallel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fail-fast: false = independent</a:t>
            </a:r>
            <a:endParaRPr lang="en-US" sz="900" dirty="0"/>
          </a:p>
        </p:txBody>
      </p:sp>
      <p:sp>
        <p:nvSpPr>
          <p:cNvPr id="10" name="Text 10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CI/CD</a:t>
            </a:r>
            <a:endParaRPr lang="en-US" sz="900" dirty="0"/>
          </a:p>
        </p:txBody>
      </p:sp>
      <p:sp>
        <p:nvSpPr>
          <p:cNvPr id="11" name="Text 11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Triggering the Workflow — Three Ways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push, every pull request, or on demand with a button click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CYPRESS.YML  ·  ON: BLOCK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57200" y="1508760"/>
            <a:ext cx="4023360" cy="3108960"/>
          </a:xfrm>
          <a:prstGeom prst="rect">
            <a:avLst/>
          </a:prstGeom>
          <a:solidFill>
            <a:srgbClr val="0F1A3A"/>
          </a:solidFill>
          <a:ln w="12700">
            <a:solidFill>
              <a:srgbClr val="0F1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6"/>
          <p:cNvSpPr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E2E Tests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F062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1. automatic on every push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[main, develop]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2. automatic on every PR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pull_request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8896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3. manual button in UI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workflow_dispatch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inputs: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browser: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type: choice</a:t>
            </a:r>
            <a:endParaRPr lang="en-US" sz="9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options: [chrome, firefox]</a:t>
            </a:r>
            <a:endParaRPr lang="en-US" sz="900" dirty="0"/>
          </a:p>
        </p:txBody>
      </p:sp>
      <p:sp>
        <p:nvSpPr>
          <p:cNvPr id="7" name="Text 7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TAB  ·  MANUAL RUN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4663440" y="1508760"/>
            <a:ext cx="41155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9"/>
          <p:cNvSpPr/>
          <p:nvPr/>
        </p:nvSpPr>
        <p:spPr>
          <a:xfrm>
            <a:off x="4672965" y="1518285"/>
            <a:ext cx="4096470" cy="32004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10"/>
          <p:cNvSpPr/>
          <p:nvPr/>
        </p:nvSpPr>
        <p:spPr>
          <a:xfrm>
            <a:off x="4754880" y="1645920"/>
            <a:ext cx="76200" cy="76200"/>
          </a:xfrm>
          <a:prstGeom prst="roundRect">
            <a:avLst>
              <a:gd name="adj" fmla="val 8000"/>
            </a:avLst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11"/>
          <p:cNvSpPr/>
          <p:nvPr/>
        </p:nvSpPr>
        <p:spPr>
          <a:xfrm>
            <a:off x="4861560" y="1645920"/>
            <a:ext cx="76200" cy="76200"/>
          </a:xfrm>
          <a:prstGeom prst="roundRect">
            <a:avLst>
              <a:gd name="adj" fmla="val 8000"/>
            </a:avLst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2"/>
          <p:cNvSpPr/>
          <p:nvPr/>
        </p:nvSpPr>
        <p:spPr>
          <a:xfrm>
            <a:off x="4968240" y="1645920"/>
            <a:ext cx="76200" cy="76200"/>
          </a:xfrm>
          <a:prstGeom prst="roundRect">
            <a:avLst>
              <a:gd name="adj" fmla="val 8000"/>
            </a:avLst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3"/>
          <p:cNvSpPr/>
          <p:nvPr/>
        </p:nvSpPr>
        <p:spPr>
          <a:xfrm>
            <a:off x="5120640" y="1600200"/>
            <a:ext cx="3415520" cy="21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4"/>
          <p:cNvSpPr/>
          <p:nvPr/>
        </p:nvSpPr>
        <p:spPr>
          <a:xfrm>
            <a:off x="5151120" y="1600200"/>
            <a:ext cx="3354560" cy="21336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github.com/USER/REPO/actions/workflows/cypress.yml</a:t>
            </a:r>
            <a:endParaRPr lang="en-US" sz="800" dirty="0"/>
          </a:p>
        </p:txBody>
      </p:sp>
      <p:sp>
        <p:nvSpPr>
          <p:cNvPr id="15" name="Text 15"/>
          <p:cNvSpPr/>
          <p:nvPr/>
        </p:nvSpPr>
        <p:spPr>
          <a:xfrm>
            <a:off x="4800600" y="1874520"/>
            <a:ext cx="384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</a:t>
            </a:r>
            <a:endParaRPr lang="en-US" sz="1300" dirty="0"/>
          </a:p>
        </p:txBody>
      </p:sp>
      <p:sp>
        <p:nvSpPr>
          <p:cNvPr id="16" name="Text 16"/>
          <p:cNvSpPr/>
          <p:nvPr/>
        </p:nvSpPr>
        <p:spPr>
          <a:xfrm>
            <a:off x="4800600" y="2148840"/>
            <a:ext cx="384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cypress.yml</a:t>
            </a:r>
            <a:endParaRPr lang="en-US" sz="850" dirty="0"/>
          </a:p>
        </p:txBody>
      </p:sp>
      <p:sp>
        <p:nvSpPr>
          <p:cNvPr id="17" name="Shape 17"/>
          <p:cNvSpPr/>
          <p:nvPr/>
        </p:nvSpPr>
        <p:spPr>
          <a:xfrm>
            <a:off x="4800600" y="2423160"/>
            <a:ext cx="3841200" cy="320040"/>
          </a:xfrm>
          <a:prstGeom prst="roundRect">
            <a:avLst>
              <a:gd name="adj" fmla="val 8000"/>
            </a:avLst>
          </a:prstGeom>
          <a:solidFill>
            <a:srgbClr val="DDF4FF"/>
          </a:solidFill>
          <a:ln w="6350">
            <a:solidFill>
              <a:srgbClr val="54A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8"/>
          <p:cNvSpPr/>
          <p:nvPr/>
        </p:nvSpPr>
        <p:spPr>
          <a:xfrm>
            <a:off x="4861560" y="2423160"/>
            <a:ext cx="371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ⓘ  </a:t>
            </a: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workflow has a </a:t>
            </a: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workflow_dispatch</a:t>
            </a: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event trigger.</a:t>
            </a:r>
            <a:endParaRPr lang="en-US" sz="950" dirty="0"/>
          </a:p>
        </p:txBody>
      </p:sp>
      <p:sp>
        <p:nvSpPr>
          <p:cNvPr id="19" name="Shape 19"/>
          <p:cNvSpPr/>
          <p:nvPr/>
        </p:nvSpPr>
        <p:spPr>
          <a:xfrm>
            <a:off x="4800600" y="2834639"/>
            <a:ext cx="3841200" cy="160117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20"/>
          <p:cNvSpPr/>
          <p:nvPr/>
        </p:nvSpPr>
        <p:spPr>
          <a:xfrm>
            <a:off x="4861560" y="2895600"/>
            <a:ext cx="37192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workflow</a:t>
            </a:r>
            <a:endParaRPr lang="en-US" sz="1000" dirty="0"/>
          </a:p>
        </p:txBody>
      </p:sp>
      <p:sp>
        <p:nvSpPr>
          <p:cNvPr id="21" name="Text 21"/>
          <p:cNvSpPr/>
          <p:nvPr/>
        </p:nvSpPr>
        <p:spPr>
          <a:xfrm>
            <a:off x="4861560" y="3108960"/>
            <a:ext cx="3719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workflow from</a:t>
            </a:r>
            <a:endParaRPr lang="en-US" sz="800" dirty="0"/>
          </a:p>
        </p:txBody>
      </p:sp>
      <p:sp>
        <p:nvSpPr>
          <p:cNvPr id="22" name="Shape 22"/>
          <p:cNvSpPr/>
          <p:nvPr/>
        </p:nvSpPr>
        <p:spPr>
          <a:xfrm>
            <a:off x="4861560" y="3261360"/>
            <a:ext cx="3719280" cy="21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3"/>
          <p:cNvSpPr/>
          <p:nvPr/>
        </p:nvSpPr>
        <p:spPr>
          <a:xfrm>
            <a:off x="4861560" y="3261360"/>
            <a:ext cx="3719280" cy="213360"/>
          </a:xfrm>
          <a:prstGeom prst="rect">
            <a:avLst/>
          </a:prstGeom>
          <a:noFill/>
          <a:ln/>
        </p:spPr>
        <p:txBody>
          <a:bodyPr wrap="square" lIns="13716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main</a:t>
            </a:r>
            <a:endParaRPr lang="en-US" sz="950" dirty="0"/>
          </a:p>
        </p:txBody>
      </p:sp>
      <p:sp>
        <p:nvSpPr>
          <p:cNvPr id="24" name="Text 24"/>
          <p:cNvSpPr/>
          <p:nvPr/>
        </p:nvSpPr>
        <p:spPr>
          <a:xfrm>
            <a:off x="4861560" y="3520440"/>
            <a:ext cx="3719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800" dirty="0"/>
          </a:p>
        </p:txBody>
      </p:sp>
      <p:sp>
        <p:nvSpPr>
          <p:cNvPr id="25" name="Shape 25"/>
          <p:cNvSpPr/>
          <p:nvPr/>
        </p:nvSpPr>
        <p:spPr>
          <a:xfrm>
            <a:off x="4861560" y="3672840"/>
            <a:ext cx="3719280" cy="21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6"/>
          <p:cNvSpPr/>
          <p:nvPr/>
        </p:nvSpPr>
        <p:spPr>
          <a:xfrm>
            <a:off x="4861560" y="3672840"/>
            <a:ext cx="3719280" cy="213360"/>
          </a:xfrm>
          <a:prstGeom prst="rect">
            <a:avLst/>
          </a:prstGeom>
          <a:noFill/>
          <a:ln/>
        </p:spPr>
        <p:txBody>
          <a:bodyPr wrap="square" lIns="13716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▾</a:t>
            </a:r>
            <a:endParaRPr lang="en-US" sz="950" dirty="0"/>
          </a:p>
        </p:txBody>
      </p:sp>
      <p:sp>
        <p:nvSpPr>
          <p:cNvPr id="27" name="Shape 27"/>
          <p:cNvSpPr/>
          <p:nvPr/>
        </p:nvSpPr>
        <p:spPr>
          <a:xfrm>
            <a:off x="4861560" y="3931920"/>
            <a:ext cx="1280160" cy="274320"/>
          </a:xfrm>
          <a:prstGeom prst="roundRect">
            <a:avLst>
              <a:gd name="adj" fmla="val 8000"/>
            </a:avLst>
          </a:prstGeom>
          <a:solidFill>
            <a:srgbClr val="2DA44E"/>
          </a:solidFill>
          <a:ln w="6350">
            <a:solidFill>
              <a:srgbClr val="1F88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8"/>
          <p:cNvSpPr/>
          <p:nvPr/>
        </p:nvSpPr>
        <p:spPr>
          <a:xfrm>
            <a:off x="486156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workflow</a:t>
            </a:r>
            <a:endParaRPr lang="en-US" sz="950" dirty="0"/>
          </a:p>
        </p:txBody>
      </p:sp>
      <p:sp>
        <p:nvSpPr>
          <p:cNvPr id="29" name="Text 29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CI/CD</a:t>
            </a:r>
            <a:endParaRPr lang="en-US" sz="900" dirty="0"/>
          </a:p>
        </p:txBody>
      </p:sp>
      <p:sp>
        <p:nvSpPr>
          <p:cNvPr id="30" name="Text 30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 the Workflow Run</a:t>
            </a:r>
            <a:endParaRPr lang="en-US" sz="2800" dirty="0"/>
          </a:p>
        </p:txBody>
      </p:sp>
      <p:sp>
        <p:nvSpPr>
          <p:cNvPr id="3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Actions tab is your central hub — every run, every job, every step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· RECENT RUNS</a:t>
            </a:r>
            <a:endParaRPr lang="en-US" sz="1100" dirty="0"/>
          </a:p>
        </p:txBody>
      </p:sp>
      <p:sp>
        <p:nvSpPr>
          <p:cNvPr id="5" name="Shape 5"/>
          <p:cNvSpPr/>
          <p:nvPr/>
        </p:nvSpPr>
        <p:spPr>
          <a:xfrm>
            <a:off x="405765" y="1463039"/>
            <a:ext cx="4023360" cy="32062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6"/>
          <p:cNvSpPr/>
          <p:nvPr/>
        </p:nvSpPr>
        <p:spPr>
          <a:xfrm>
            <a:off x="548640" y="1604375"/>
            <a:ext cx="3749040" cy="32004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7"/>
          <p:cNvSpPr/>
          <p:nvPr/>
        </p:nvSpPr>
        <p:spPr>
          <a:xfrm>
            <a:off x="565244" y="1703313"/>
            <a:ext cx="76200" cy="76200"/>
          </a:xfrm>
          <a:prstGeom prst="roundRect">
            <a:avLst>
              <a:gd name="adj" fmla="val 8000"/>
            </a:avLst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8"/>
          <p:cNvSpPr/>
          <p:nvPr/>
        </p:nvSpPr>
        <p:spPr>
          <a:xfrm>
            <a:off x="671924" y="1703313"/>
            <a:ext cx="76200" cy="76200"/>
          </a:xfrm>
          <a:prstGeom prst="roundRect">
            <a:avLst>
              <a:gd name="adj" fmla="val 8000"/>
            </a:avLst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9"/>
          <p:cNvSpPr/>
          <p:nvPr/>
        </p:nvSpPr>
        <p:spPr>
          <a:xfrm>
            <a:off x="778604" y="1703313"/>
            <a:ext cx="76200" cy="76200"/>
          </a:xfrm>
          <a:prstGeom prst="roundRect">
            <a:avLst>
              <a:gd name="adj" fmla="val 8000"/>
            </a:avLst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10"/>
          <p:cNvSpPr/>
          <p:nvPr/>
        </p:nvSpPr>
        <p:spPr>
          <a:xfrm>
            <a:off x="914400" y="1627113"/>
            <a:ext cx="3323360" cy="21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11"/>
          <p:cNvSpPr/>
          <p:nvPr/>
        </p:nvSpPr>
        <p:spPr>
          <a:xfrm>
            <a:off x="922831" y="1619331"/>
            <a:ext cx="3262400" cy="21336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github.com/USER/REPO/actions</a:t>
            </a:r>
            <a:endParaRPr lang="en-US" sz="800" dirty="0"/>
          </a:p>
        </p:txBody>
      </p:sp>
      <p:sp>
        <p:nvSpPr>
          <p:cNvPr id="12" name="Text 12"/>
          <p:cNvSpPr/>
          <p:nvPr/>
        </p:nvSpPr>
        <p:spPr>
          <a:xfrm>
            <a:off x="548640" y="1981200"/>
            <a:ext cx="37490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workflows</a:t>
            </a:r>
            <a:endParaRPr lang="en-US" sz="1100" dirty="0"/>
          </a:p>
        </p:txBody>
      </p:sp>
      <p:sp>
        <p:nvSpPr>
          <p:cNvPr id="13" name="Shape 13"/>
          <p:cNvSpPr/>
          <p:nvPr/>
        </p:nvSpPr>
        <p:spPr>
          <a:xfrm>
            <a:off x="548640" y="2194560"/>
            <a:ext cx="3749040" cy="21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4"/>
          <p:cNvSpPr/>
          <p:nvPr/>
        </p:nvSpPr>
        <p:spPr>
          <a:xfrm>
            <a:off x="548640" y="2194560"/>
            <a:ext cx="3749040" cy="213360"/>
          </a:xfrm>
          <a:prstGeom prst="rect">
            <a:avLst/>
          </a:prstGeom>
          <a:noFill/>
          <a:ln/>
        </p:spPr>
        <p:txBody>
          <a:bodyPr wrap="square" lIns="13716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workflow runs</a:t>
            </a:r>
            <a:endParaRPr lang="en-US" sz="950" dirty="0"/>
          </a:p>
        </p:txBody>
      </p:sp>
      <p:sp>
        <p:nvSpPr>
          <p:cNvPr id="15" name="Shape 15"/>
          <p:cNvSpPr/>
          <p:nvPr/>
        </p:nvSpPr>
        <p:spPr>
          <a:xfrm>
            <a:off x="548640" y="2468880"/>
            <a:ext cx="3749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6"/>
          <p:cNvSpPr/>
          <p:nvPr/>
        </p:nvSpPr>
        <p:spPr>
          <a:xfrm>
            <a:off x="609600" y="2575560"/>
            <a:ext cx="152400" cy="152400"/>
          </a:xfrm>
          <a:prstGeom prst="roundRect">
            <a:avLst>
              <a:gd name="adj" fmla="val 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7"/>
          <p:cNvSpPr/>
          <p:nvPr/>
        </p:nvSpPr>
        <p:spPr>
          <a:xfrm>
            <a:off x="609600" y="257556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8"/>
          <p:cNvSpPr/>
          <p:nvPr/>
        </p:nvSpPr>
        <p:spPr>
          <a:xfrm>
            <a:off x="822960" y="2499360"/>
            <a:ext cx="29565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retries for flaky tests</a:t>
            </a:r>
            <a:endParaRPr lang="en-US" sz="950" dirty="0"/>
          </a:p>
        </p:txBody>
      </p:sp>
      <p:sp>
        <p:nvSpPr>
          <p:cNvPr id="19" name="Text 19"/>
          <p:cNvSpPr/>
          <p:nvPr/>
        </p:nvSpPr>
        <p:spPr>
          <a:xfrm>
            <a:off x="822960" y="2667000"/>
            <a:ext cx="295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 · </a:t>
            </a:r>
            <a:r>
              <a:rPr lang="en-US" sz="7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750" dirty="0"/>
          </a:p>
        </p:txBody>
      </p:sp>
      <p:sp>
        <p:nvSpPr>
          <p:cNvPr id="20" name="Text 20"/>
          <p:cNvSpPr/>
          <p:nvPr/>
        </p:nvSpPr>
        <p:spPr>
          <a:xfrm>
            <a:off x="3764280" y="2468880"/>
            <a:ext cx="533400" cy="365760"/>
          </a:xfrm>
          <a:prstGeom prst="rect">
            <a:avLst/>
          </a:prstGeom>
          <a:noFill/>
          <a:ln/>
        </p:spPr>
        <p:txBody>
          <a:bodyPr wrap="square" lIns="0" tIns="0" rIns="13716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</a:t>
            </a:r>
            <a:endParaRPr lang="en-US" sz="800" dirty="0"/>
          </a:p>
        </p:txBody>
      </p:sp>
      <p:sp>
        <p:nvSpPr>
          <p:cNvPr id="21" name="Shape 21"/>
          <p:cNvSpPr/>
          <p:nvPr/>
        </p:nvSpPr>
        <p:spPr>
          <a:xfrm>
            <a:off x="548640" y="2834640"/>
            <a:ext cx="3749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2"/>
          <p:cNvSpPr/>
          <p:nvPr/>
        </p:nvSpPr>
        <p:spPr>
          <a:xfrm>
            <a:off x="609600" y="2941320"/>
            <a:ext cx="152400" cy="152400"/>
          </a:xfrm>
          <a:prstGeom prst="roundRect">
            <a:avLst>
              <a:gd name="adj" fmla="val 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3"/>
          <p:cNvSpPr/>
          <p:nvPr/>
        </p:nvSpPr>
        <p:spPr>
          <a:xfrm>
            <a:off x="609600" y="294132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4"/>
          <p:cNvSpPr/>
          <p:nvPr/>
        </p:nvSpPr>
        <p:spPr>
          <a:xfrm>
            <a:off x="822960" y="2865120"/>
            <a:ext cx="29565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across browsers</a:t>
            </a:r>
            <a:endParaRPr lang="en-US" sz="950" dirty="0"/>
          </a:p>
        </p:txBody>
      </p:sp>
      <p:sp>
        <p:nvSpPr>
          <p:cNvPr id="25" name="Text 25"/>
          <p:cNvSpPr/>
          <p:nvPr/>
        </p:nvSpPr>
        <p:spPr>
          <a:xfrm>
            <a:off x="822960" y="3032760"/>
            <a:ext cx="295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 · </a:t>
            </a:r>
            <a:r>
              <a:rPr lang="en-US" sz="7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750" dirty="0"/>
          </a:p>
        </p:txBody>
      </p:sp>
      <p:sp>
        <p:nvSpPr>
          <p:cNvPr id="26" name="Text 26"/>
          <p:cNvSpPr/>
          <p:nvPr/>
        </p:nvSpPr>
        <p:spPr>
          <a:xfrm>
            <a:off x="3764280" y="2834640"/>
            <a:ext cx="533400" cy="365760"/>
          </a:xfrm>
          <a:prstGeom prst="rect">
            <a:avLst/>
          </a:prstGeom>
          <a:noFill/>
          <a:ln/>
        </p:spPr>
        <p:txBody>
          <a:bodyPr wrap="square" lIns="0" tIns="0" rIns="13716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800" dirty="0"/>
          </a:p>
        </p:txBody>
      </p:sp>
      <p:sp>
        <p:nvSpPr>
          <p:cNvPr id="27" name="Shape 27"/>
          <p:cNvSpPr/>
          <p:nvPr/>
        </p:nvSpPr>
        <p:spPr>
          <a:xfrm>
            <a:off x="548640" y="3200400"/>
            <a:ext cx="3749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8"/>
          <p:cNvSpPr/>
          <p:nvPr/>
        </p:nvSpPr>
        <p:spPr>
          <a:xfrm>
            <a:off x="609600" y="3307080"/>
            <a:ext cx="152400" cy="152400"/>
          </a:xfrm>
          <a:prstGeom prst="roundRect">
            <a:avLst>
              <a:gd name="adj" fmla="val 8000"/>
            </a:avLst>
          </a:prstGeom>
          <a:solidFill>
            <a:srgbClr val="BF8700"/>
          </a:solidFill>
          <a:ln w="12700">
            <a:solidFill>
              <a:srgbClr val="BF8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9"/>
          <p:cNvSpPr/>
          <p:nvPr/>
        </p:nvSpPr>
        <p:spPr>
          <a:xfrm>
            <a:off x="609600" y="330708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900" dirty="0"/>
          </a:p>
        </p:txBody>
      </p:sp>
      <p:sp>
        <p:nvSpPr>
          <p:cNvPr id="30" name="Text 30"/>
          <p:cNvSpPr/>
          <p:nvPr/>
        </p:nvSpPr>
        <p:spPr>
          <a:xfrm>
            <a:off x="822960" y="3230880"/>
            <a:ext cx="29565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wip: env var refactor</a:t>
            </a:r>
            <a:endParaRPr lang="en-US" sz="950" dirty="0"/>
          </a:p>
        </p:txBody>
      </p:sp>
      <p:sp>
        <p:nvSpPr>
          <p:cNvPr id="31" name="Text 31"/>
          <p:cNvSpPr/>
          <p:nvPr/>
        </p:nvSpPr>
        <p:spPr>
          <a:xfrm>
            <a:off x="822960" y="3398520"/>
            <a:ext cx="295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 · </a:t>
            </a:r>
            <a:r>
              <a:rPr lang="en-US" sz="7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feat/env</a:t>
            </a:r>
            <a:endParaRPr lang="en-US" sz="750" dirty="0"/>
          </a:p>
        </p:txBody>
      </p:sp>
      <p:sp>
        <p:nvSpPr>
          <p:cNvPr id="32" name="Text 32"/>
          <p:cNvSpPr/>
          <p:nvPr/>
        </p:nvSpPr>
        <p:spPr>
          <a:xfrm>
            <a:off x="3764280" y="3200400"/>
            <a:ext cx="533400" cy="365760"/>
          </a:xfrm>
          <a:prstGeom prst="rect">
            <a:avLst/>
          </a:prstGeom>
          <a:noFill/>
          <a:ln/>
        </p:spPr>
        <p:txBody>
          <a:bodyPr wrap="square" lIns="0" tIns="0" rIns="13716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00" dirty="0"/>
          </a:p>
        </p:txBody>
      </p:sp>
      <p:sp>
        <p:nvSpPr>
          <p:cNvPr id="33" name="Shape 33"/>
          <p:cNvSpPr/>
          <p:nvPr/>
        </p:nvSpPr>
        <p:spPr>
          <a:xfrm>
            <a:off x="548640" y="3566160"/>
            <a:ext cx="3749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4"/>
          <p:cNvSpPr/>
          <p:nvPr/>
        </p:nvSpPr>
        <p:spPr>
          <a:xfrm>
            <a:off x="609600" y="3672840"/>
            <a:ext cx="152400" cy="152400"/>
          </a:xfrm>
          <a:prstGeom prst="roundRect">
            <a:avLst>
              <a:gd name="adj" fmla="val 8000"/>
            </a:avLst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5"/>
          <p:cNvSpPr/>
          <p:nvPr/>
        </p:nvSpPr>
        <p:spPr>
          <a:xfrm>
            <a:off x="609600" y="367284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00" dirty="0"/>
          </a:p>
        </p:txBody>
      </p:sp>
      <p:sp>
        <p:nvSpPr>
          <p:cNvPr id="36" name="Text 36"/>
          <p:cNvSpPr/>
          <p:nvPr/>
        </p:nvSpPr>
        <p:spPr>
          <a:xfrm>
            <a:off x="822960" y="3596640"/>
            <a:ext cx="29565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locator on signup</a:t>
            </a:r>
            <a:endParaRPr lang="en-US" sz="950" dirty="0"/>
          </a:p>
        </p:txBody>
      </p:sp>
      <p:sp>
        <p:nvSpPr>
          <p:cNvPr id="37" name="Text 37"/>
          <p:cNvSpPr/>
          <p:nvPr/>
        </p:nvSpPr>
        <p:spPr>
          <a:xfrm>
            <a:off x="822960" y="3764280"/>
            <a:ext cx="295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 · </a:t>
            </a:r>
            <a:r>
              <a:rPr lang="en-US" sz="7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fix/locator</a:t>
            </a:r>
            <a:endParaRPr lang="en-US" sz="750" dirty="0"/>
          </a:p>
        </p:txBody>
      </p:sp>
      <p:sp>
        <p:nvSpPr>
          <p:cNvPr id="38" name="Text 38"/>
          <p:cNvSpPr/>
          <p:nvPr/>
        </p:nvSpPr>
        <p:spPr>
          <a:xfrm>
            <a:off x="3764280" y="3566160"/>
            <a:ext cx="533400" cy="365760"/>
          </a:xfrm>
          <a:prstGeom prst="rect">
            <a:avLst/>
          </a:prstGeom>
          <a:noFill/>
          <a:ln/>
        </p:spPr>
        <p:txBody>
          <a:bodyPr wrap="square" lIns="0" tIns="0" rIns="13716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</a:t>
            </a:r>
            <a:endParaRPr lang="en-US" sz="800" dirty="0"/>
          </a:p>
        </p:txBody>
      </p:sp>
      <p:sp>
        <p:nvSpPr>
          <p:cNvPr id="39" name="Shape 39"/>
          <p:cNvSpPr/>
          <p:nvPr/>
        </p:nvSpPr>
        <p:spPr>
          <a:xfrm>
            <a:off x="548640" y="3931920"/>
            <a:ext cx="3749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40"/>
          <p:cNvSpPr/>
          <p:nvPr/>
        </p:nvSpPr>
        <p:spPr>
          <a:xfrm>
            <a:off x="609600" y="4038600"/>
            <a:ext cx="152400" cy="152400"/>
          </a:xfrm>
          <a:prstGeom prst="roundRect">
            <a:avLst>
              <a:gd name="adj" fmla="val 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41"/>
          <p:cNvSpPr/>
          <p:nvPr/>
        </p:nvSpPr>
        <p:spPr>
          <a:xfrm>
            <a:off x="609600" y="40386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2" name="Text 42"/>
          <p:cNvSpPr/>
          <p:nvPr/>
        </p:nvSpPr>
        <p:spPr>
          <a:xfrm>
            <a:off x="822960" y="3962400"/>
            <a:ext cx="295656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cypress framework</a:t>
            </a:r>
            <a:endParaRPr lang="en-US" sz="950" dirty="0"/>
          </a:p>
        </p:txBody>
      </p:sp>
      <p:sp>
        <p:nvSpPr>
          <p:cNvPr id="43" name="Text 43"/>
          <p:cNvSpPr/>
          <p:nvPr/>
        </p:nvSpPr>
        <p:spPr>
          <a:xfrm>
            <a:off x="822960" y="4130040"/>
            <a:ext cx="295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 · </a:t>
            </a:r>
            <a:r>
              <a:rPr lang="en-US" sz="75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750" dirty="0"/>
          </a:p>
        </p:txBody>
      </p:sp>
      <p:sp>
        <p:nvSpPr>
          <p:cNvPr id="44" name="Text 44"/>
          <p:cNvSpPr/>
          <p:nvPr/>
        </p:nvSpPr>
        <p:spPr>
          <a:xfrm>
            <a:off x="3764280" y="3931920"/>
            <a:ext cx="533400" cy="365760"/>
          </a:xfrm>
          <a:prstGeom prst="rect">
            <a:avLst/>
          </a:prstGeom>
          <a:noFill/>
          <a:ln/>
        </p:spPr>
        <p:txBody>
          <a:bodyPr wrap="square" lIns="0" tIns="0" rIns="13716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800" dirty="0"/>
          </a:p>
        </p:txBody>
      </p:sp>
      <p:sp>
        <p:nvSpPr>
          <p:cNvPr id="45" name="Text 45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DETAIL  ·  MATRIX JOBS</a:t>
            </a:r>
            <a:endParaRPr lang="en-US" sz="1100" dirty="0"/>
          </a:p>
        </p:txBody>
      </p:sp>
      <p:sp>
        <p:nvSpPr>
          <p:cNvPr id="46" name="Shape 46"/>
          <p:cNvSpPr/>
          <p:nvPr/>
        </p:nvSpPr>
        <p:spPr>
          <a:xfrm>
            <a:off x="4663440" y="1508760"/>
            <a:ext cx="41155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7"/>
          <p:cNvSpPr/>
          <p:nvPr/>
        </p:nvSpPr>
        <p:spPr>
          <a:xfrm>
            <a:off x="4709160" y="1672833"/>
            <a:ext cx="3959310" cy="32004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8"/>
          <p:cNvSpPr/>
          <p:nvPr/>
        </p:nvSpPr>
        <p:spPr>
          <a:xfrm>
            <a:off x="4754880" y="1775460"/>
            <a:ext cx="76200" cy="76200"/>
          </a:xfrm>
          <a:prstGeom prst="roundRect">
            <a:avLst>
              <a:gd name="adj" fmla="val 8000"/>
            </a:avLst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9"/>
          <p:cNvSpPr/>
          <p:nvPr/>
        </p:nvSpPr>
        <p:spPr>
          <a:xfrm>
            <a:off x="4861560" y="1775460"/>
            <a:ext cx="76200" cy="76200"/>
          </a:xfrm>
          <a:prstGeom prst="roundRect">
            <a:avLst>
              <a:gd name="adj" fmla="val 8000"/>
            </a:avLst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50"/>
          <p:cNvSpPr/>
          <p:nvPr/>
        </p:nvSpPr>
        <p:spPr>
          <a:xfrm>
            <a:off x="4968240" y="1775460"/>
            <a:ext cx="76200" cy="76200"/>
          </a:xfrm>
          <a:prstGeom prst="roundRect">
            <a:avLst>
              <a:gd name="adj" fmla="val 8000"/>
            </a:avLst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51"/>
          <p:cNvSpPr/>
          <p:nvPr/>
        </p:nvSpPr>
        <p:spPr>
          <a:xfrm>
            <a:off x="5120640" y="1708785"/>
            <a:ext cx="3415520" cy="21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2"/>
          <p:cNvSpPr/>
          <p:nvPr/>
        </p:nvSpPr>
        <p:spPr>
          <a:xfrm>
            <a:off x="5172075" y="1717054"/>
            <a:ext cx="3354560" cy="21336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56D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github.com/USER/REPO/actions/runs/...</a:t>
            </a:r>
            <a:endParaRPr lang="en-US" sz="800" dirty="0"/>
          </a:p>
        </p:txBody>
      </p:sp>
      <p:sp>
        <p:nvSpPr>
          <p:cNvPr id="53" name="Shape 53"/>
          <p:cNvSpPr/>
          <p:nvPr/>
        </p:nvSpPr>
        <p:spPr>
          <a:xfrm>
            <a:off x="4815840" y="2066925"/>
            <a:ext cx="213360" cy="213360"/>
          </a:xfrm>
          <a:prstGeom prst="roundRect">
            <a:avLst>
              <a:gd name="adj" fmla="val 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4"/>
          <p:cNvSpPr/>
          <p:nvPr/>
        </p:nvSpPr>
        <p:spPr>
          <a:xfrm>
            <a:off x="4815840" y="2066925"/>
            <a:ext cx="213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5" name="Text 55"/>
          <p:cNvSpPr/>
          <p:nvPr/>
        </p:nvSpPr>
        <p:spPr>
          <a:xfrm>
            <a:off x="5090160" y="2005965"/>
            <a:ext cx="355164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across browsers</a:t>
            </a:r>
            <a:endParaRPr lang="en-US" sz="1100" dirty="0"/>
          </a:p>
        </p:txBody>
      </p:sp>
      <p:sp>
        <p:nvSpPr>
          <p:cNvPr id="56" name="Text 56"/>
          <p:cNvSpPr/>
          <p:nvPr/>
        </p:nvSpPr>
        <p:spPr>
          <a:xfrm>
            <a:off x="5090160" y="2204085"/>
            <a:ext cx="355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 #42  ·  pushed by </a:t>
            </a:r>
            <a:r>
              <a:rPr lang="en-US" sz="75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your-handle</a:t>
            </a:r>
            <a:endParaRPr lang="en-US" sz="750" dirty="0"/>
          </a:p>
        </p:txBody>
      </p:sp>
      <p:sp>
        <p:nvSpPr>
          <p:cNvPr id="57" name="Text 57"/>
          <p:cNvSpPr/>
          <p:nvPr/>
        </p:nvSpPr>
        <p:spPr>
          <a:xfrm>
            <a:off x="4800600" y="2362200"/>
            <a:ext cx="384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900" dirty="0"/>
          </a:p>
        </p:txBody>
      </p:sp>
      <p:sp>
        <p:nvSpPr>
          <p:cNvPr id="58" name="Shape 58"/>
          <p:cNvSpPr/>
          <p:nvPr/>
        </p:nvSpPr>
        <p:spPr>
          <a:xfrm>
            <a:off x="4800600" y="2575560"/>
            <a:ext cx="3841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9"/>
          <p:cNvSpPr/>
          <p:nvPr/>
        </p:nvSpPr>
        <p:spPr>
          <a:xfrm>
            <a:off x="4861560" y="2636520"/>
            <a:ext cx="152400" cy="152400"/>
          </a:xfrm>
          <a:prstGeom prst="roundRect">
            <a:avLst>
              <a:gd name="adj" fmla="val 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60"/>
          <p:cNvSpPr/>
          <p:nvPr/>
        </p:nvSpPr>
        <p:spPr>
          <a:xfrm>
            <a:off x="4861560" y="263652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1" name="Text 61"/>
          <p:cNvSpPr/>
          <p:nvPr/>
        </p:nvSpPr>
        <p:spPr>
          <a:xfrm>
            <a:off x="5074920" y="2575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 (chrome)</a:t>
            </a:r>
            <a:endParaRPr lang="en-US" sz="950" dirty="0"/>
          </a:p>
        </p:txBody>
      </p:sp>
      <p:sp>
        <p:nvSpPr>
          <p:cNvPr id="62" name="Text 62"/>
          <p:cNvSpPr/>
          <p:nvPr/>
        </p:nvSpPr>
        <p:spPr>
          <a:xfrm>
            <a:off x="8108400" y="2575560"/>
            <a:ext cx="533400" cy="274320"/>
          </a:xfrm>
          <a:prstGeom prst="rect">
            <a:avLst/>
          </a:prstGeom>
          <a:noFill/>
          <a:ln/>
        </p:spPr>
        <p:txBody>
          <a:bodyPr wrap="square" lIns="0" tIns="0" rIns="13716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42s</a:t>
            </a:r>
            <a:endParaRPr lang="en-US" sz="800" dirty="0"/>
          </a:p>
        </p:txBody>
      </p:sp>
      <p:sp>
        <p:nvSpPr>
          <p:cNvPr id="63" name="Shape 63"/>
          <p:cNvSpPr/>
          <p:nvPr/>
        </p:nvSpPr>
        <p:spPr>
          <a:xfrm>
            <a:off x="4800600" y="2849880"/>
            <a:ext cx="3841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4"/>
          <p:cNvSpPr/>
          <p:nvPr/>
        </p:nvSpPr>
        <p:spPr>
          <a:xfrm>
            <a:off x="4861560" y="2910840"/>
            <a:ext cx="152400" cy="152400"/>
          </a:xfrm>
          <a:prstGeom prst="roundRect">
            <a:avLst>
              <a:gd name="adj" fmla="val 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5"/>
          <p:cNvSpPr/>
          <p:nvPr/>
        </p:nvSpPr>
        <p:spPr>
          <a:xfrm>
            <a:off x="4861560" y="291084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6" name="Text 66"/>
          <p:cNvSpPr/>
          <p:nvPr/>
        </p:nvSpPr>
        <p:spPr>
          <a:xfrm>
            <a:off x="5074920" y="2849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 (firefox)</a:t>
            </a:r>
            <a:endParaRPr lang="en-US" sz="950" dirty="0"/>
          </a:p>
        </p:txBody>
      </p:sp>
      <p:sp>
        <p:nvSpPr>
          <p:cNvPr id="67" name="Text 67"/>
          <p:cNvSpPr/>
          <p:nvPr/>
        </p:nvSpPr>
        <p:spPr>
          <a:xfrm>
            <a:off x="8108400" y="2849880"/>
            <a:ext cx="533400" cy="274320"/>
          </a:xfrm>
          <a:prstGeom prst="rect">
            <a:avLst/>
          </a:prstGeom>
          <a:noFill/>
          <a:ln/>
        </p:spPr>
        <p:txBody>
          <a:bodyPr wrap="square" lIns="0" tIns="0" rIns="13716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03s</a:t>
            </a:r>
            <a:endParaRPr lang="en-US" sz="800" dirty="0"/>
          </a:p>
        </p:txBody>
      </p:sp>
      <p:sp>
        <p:nvSpPr>
          <p:cNvPr id="68" name="Shape 68"/>
          <p:cNvSpPr/>
          <p:nvPr/>
        </p:nvSpPr>
        <p:spPr>
          <a:xfrm>
            <a:off x="4800600" y="3124200"/>
            <a:ext cx="3841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9"/>
          <p:cNvSpPr/>
          <p:nvPr/>
        </p:nvSpPr>
        <p:spPr>
          <a:xfrm>
            <a:off x="4861560" y="3185160"/>
            <a:ext cx="152400" cy="152400"/>
          </a:xfrm>
          <a:prstGeom prst="roundRect">
            <a:avLst>
              <a:gd name="adj" fmla="val 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70"/>
          <p:cNvSpPr/>
          <p:nvPr/>
        </p:nvSpPr>
        <p:spPr>
          <a:xfrm>
            <a:off x="4861560" y="318516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1" name="Text 71"/>
          <p:cNvSpPr/>
          <p:nvPr/>
        </p:nvSpPr>
        <p:spPr>
          <a:xfrm>
            <a:off x="5074920" y="3124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cypress (edge)</a:t>
            </a:r>
            <a:endParaRPr lang="en-US" sz="950" dirty="0"/>
          </a:p>
        </p:txBody>
      </p:sp>
      <p:sp>
        <p:nvSpPr>
          <p:cNvPr id="72" name="Text 72"/>
          <p:cNvSpPr/>
          <p:nvPr/>
        </p:nvSpPr>
        <p:spPr>
          <a:xfrm>
            <a:off x="8108400" y="3124200"/>
            <a:ext cx="533400" cy="274320"/>
          </a:xfrm>
          <a:prstGeom prst="rect">
            <a:avLst/>
          </a:prstGeom>
          <a:noFill/>
          <a:ln/>
        </p:spPr>
        <p:txBody>
          <a:bodyPr wrap="square" lIns="0" tIns="0" rIns="13716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51s</a:t>
            </a:r>
            <a:endParaRPr lang="en-US" sz="800" dirty="0"/>
          </a:p>
        </p:txBody>
      </p:sp>
      <p:sp>
        <p:nvSpPr>
          <p:cNvPr id="73" name="Shape 73"/>
          <p:cNvSpPr/>
          <p:nvPr/>
        </p:nvSpPr>
        <p:spPr>
          <a:xfrm>
            <a:off x="4800600" y="3489960"/>
            <a:ext cx="3841200" cy="274320"/>
          </a:xfrm>
          <a:prstGeom prst="roundRect">
            <a:avLst>
              <a:gd name="adj" fmla="val 8000"/>
            </a:avLst>
          </a:prstGeom>
          <a:solidFill>
            <a:srgbClr val="DAFBE1"/>
          </a:solidFill>
          <a:ln w="635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4"/>
          <p:cNvSpPr/>
          <p:nvPr/>
        </p:nvSpPr>
        <p:spPr>
          <a:xfrm>
            <a:off x="4861560" y="3535680"/>
            <a:ext cx="365760" cy="182880"/>
          </a:xfrm>
          <a:prstGeom prst="roundRect">
            <a:avLst>
              <a:gd name="adj" fmla="val 8000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5"/>
          <p:cNvSpPr/>
          <p:nvPr/>
        </p:nvSpPr>
        <p:spPr>
          <a:xfrm>
            <a:off x="4861560" y="35356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</a:t>
            </a:r>
            <a:endParaRPr lang="en-US" sz="800" dirty="0"/>
          </a:p>
        </p:txBody>
      </p:sp>
      <p:sp>
        <p:nvSpPr>
          <p:cNvPr id="76" name="Text 76"/>
          <p:cNvSpPr/>
          <p:nvPr/>
        </p:nvSpPr>
        <p:spPr>
          <a:xfrm>
            <a:off x="5364480" y="3489960"/>
            <a:ext cx="307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F8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Artifact: </a:t>
            </a:r>
            <a:r>
              <a:rPr lang="en-US" sz="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cypress-report.zip  ·  </a:t>
            </a:r>
            <a:r>
              <a:rPr lang="en-US" sz="95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download HTML report</a:t>
            </a:r>
            <a:endParaRPr lang="en-US" sz="950" dirty="0"/>
          </a:p>
        </p:txBody>
      </p:sp>
      <p:sp>
        <p:nvSpPr>
          <p:cNvPr id="77" name="Text 77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CI/CD</a:t>
            </a:r>
            <a:endParaRPr lang="en-US" sz="900" dirty="0"/>
          </a:p>
        </p:txBody>
      </p:sp>
      <p:sp>
        <p:nvSpPr>
          <p:cNvPr id="78" name="Text 78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— Three Principles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these to every pipeline you build — Cypress or otherwise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9144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on every change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feedback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154680"/>
            <a:ext cx="1737360" cy="0"/>
          </a:xfrm>
          <a:prstGeom prst="line">
            <a:avLst/>
          </a:prstGeom>
          <a:noFill/>
          <a:ln w="6350">
            <a:solidFill>
              <a:srgbClr val="5B65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 push and pull_request. Catch regressions before merge — not after the release went out.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651760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2651760" cy="9144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4612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3756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 and cache deps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8328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 runs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03320" y="3154680"/>
            <a:ext cx="1737360" cy="0"/>
          </a:xfrm>
          <a:prstGeom prst="line">
            <a:avLst/>
          </a:prstGeom>
          <a:noFill/>
          <a:ln w="6350">
            <a:solidFill>
              <a:srgbClr val="5B65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29000" y="32918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npm ci, not npm install. Cache node_modules. A workflow that passes today must pass identically next month.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1280160"/>
            <a:ext cx="2651760" cy="3337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35040" y="1280160"/>
            <a:ext cx="2651760" cy="9144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3504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Attach the evidence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7220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 from anywhere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92240" y="3154680"/>
            <a:ext cx="1737360" cy="0"/>
          </a:xfrm>
          <a:prstGeom prst="line">
            <a:avLst/>
          </a:prstGeom>
          <a:noFill/>
          <a:ln w="6350">
            <a:solidFill>
              <a:srgbClr val="5B65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17920" y="32918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HTML report, screenshots, and videos as artifacts. Use if: always() so failures still upload them.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CI/CD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  &amp;  Tricks for GitHub Actions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 speed, reliability, and clarity out of your workflow 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73152" cy="105156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261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— not plain strings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credentials in repo Settings → Secrets. Reference as ${{ secrets.NAME }} — never in YAML literals.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188720"/>
            <a:ext cx="40233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73152" cy="105156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00600" y="1261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1261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to halve install 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45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actions/setup-node has cache: 'npm' built in. First run installs from scratch; later runs reuse cached modules.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40233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73152" cy="105156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2404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2404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official Cypress action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788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cypress-io/github-action@v6 handles install + run + record in one step — less YAML, fewer foot-guns.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331720"/>
            <a:ext cx="40233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17720" y="2331720"/>
            <a:ext cx="73152" cy="105156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00600" y="2404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404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uploads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788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always() on the artifact step makes screenshots and the report upload even when tests fail. That's exactly when you need them.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40233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73152" cy="105156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3547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3547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for speed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931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spec files across parallel runners using matrix.shard or Cypress Cloud. A 10-min suite becomes 2-min.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3474720"/>
            <a:ext cx="4023360" cy="105156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17720" y="3474720"/>
            <a:ext cx="73152" cy="105156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00600" y="3547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547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jobs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3931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matrix entry a clear name ("chrome", "firefox") so the Actions UI is scannable on a 50-PR day.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CI/CD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Best Practices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keep your pipeline fast, reliable, and trustworthy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5544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 push and pull_request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55448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55448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only on schedule and hope for the best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75104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197510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197510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npm ci with a committed lockfile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97510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197510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npm install — non-reproducible installs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95728"/>
            <a:ext cx="82296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239572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3957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node_modules and Cypress binary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39572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2395728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Re-download everything on every run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816352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281635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281635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matrix across browsers with fail-fast: false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81635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74920" y="281635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only in Electron and ship surprises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236976"/>
            <a:ext cx="82296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48640" y="323697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323697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credentials in GitHub Secrets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23697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74920" y="3236976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tokens or passwords into the YAML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657600"/>
            <a:ext cx="8229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" y="36576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8680" y="36576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reports and screenshots as artifacts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36576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74920" y="365760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terminal logs scrolled past at 3am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078224"/>
            <a:ext cx="8229600" cy="420624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48640" y="407822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" y="407822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retries: { runMode: 2 } to absorb flake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4880" y="407822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074920" y="407822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whole workflow manually each time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CI/CD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548640" cy="7315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Questions — CI/CD with GitHub Actions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three — click to reveal each answer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GitHub Actions workflow files live in your repo?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Anywhere, as long as the file ends in .yml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.github/workflows/ at the repo root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cypress/workflows/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settings page on github.com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answer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Quick Check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GitHub Actions workflow files live in your repo?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Anywhere, as long as the file ends in .yml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.github/workflows/ at the repo root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10312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cypress/workflows/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settings page on github.com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73152" cy="64008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scans only the .github/workflows/ folder. Any *.yml or *.yaml file there becomes a workflow — the filename shows in the Actions tab. Put it anywhere else and Actions silently ignores it.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Quick Check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add if: always() to the upload-artifact step?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speeds up the upload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report uploads even when tests fail — which is exactly when you need 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syntax requirement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bypasses GitHub's storage limits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answer 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Quick Check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457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add if: always() to the upload-artifact step?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226314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speeds up the upload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6858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46320" y="226314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report uploads even when tests fail — which is exactly when you need 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10312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syntax requirement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46320" y="304038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3040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bypasses GitHub's storage limits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73152" cy="640080"/>
          </a:xfrm>
          <a:prstGeom prst="rect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580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a step is skipped after a previous step fails. The upload step would never run on a failing build — so you'd lose the report when you need it most. if: always() forces it to run regardless of test outcome.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Quick Check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12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habits that turn local Cypress scripts into a production-ready test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563624"/>
            <a:ext cx="384048" cy="384048"/>
          </a:xfrm>
          <a:prstGeom prst="ellipse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490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Externalise everything that varies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764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BASE_URL, credentials, feature flags — Cypress.env(...) reads them. Same tests, every environment.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0080" y="2313432"/>
            <a:ext cx="384048" cy="384048"/>
          </a:xfrm>
          <a:prstGeom prst="ellipse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240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browsers your users use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--browser chrome / firefox / edge — and Cypress.isBrowser() for the rare browser-specific edge case.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16936"/>
            <a:ext cx="822960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990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 flake, don't ignore 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264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retries: { runMode: 2, openMode: 0 } absorbs blips in CI while keeping flake visible during local dev.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822960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0080" y="3813048"/>
            <a:ext cx="384048" cy="384048"/>
          </a:xfrm>
          <a:prstGeom prst="ellipse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739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on every push, report attached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0142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runs the suite on every commit — matrix in parallel, HTML report uploaded as an artifact.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CI/CD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2011680"/>
            <a:ext cx="731520" cy="73152"/>
          </a:xfrm>
          <a:prstGeom prst="rect">
            <a:avLst/>
          </a:prstGeom>
          <a:solidFill>
            <a:srgbClr val="69D3A7"/>
          </a:solidFill>
          <a:ln w="12700">
            <a:solidFill>
              <a:srgbClr val="69D3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session: Cypress Cloud — parallel runs, recordings, flake analytics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69D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add a matrix step to your workflow file — chrome + firefox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5407</Words>
  <Application>Microsoft Office PowerPoint</Application>
  <PresentationFormat>On-screen Show (16:9)</PresentationFormat>
  <Paragraphs>1041</Paragraphs>
  <Slides>42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Day 11 - Framework Design Concepts</dc:title>
  <dc:subject>PptxGenJS Presentation</dc:subject>
  <dc:creator>PptxGenJS</dc:creator>
  <cp:lastModifiedBy>Lakshmanan, Ajithkumar (Cognizant)</cp:lastModifiedBy>
  <cp:revision>2</cp:revision>
  <dcterms:created xsi:type="dcterms:W3CDTF">2026-05-14T17:04:51Z</dcterms:created>
  <dcterms:modified xsi:type="dcterms:W3CDTF">2026-05-17T18:44:58Z</dcterms:modified>
</cp:coreProperties>
</file>