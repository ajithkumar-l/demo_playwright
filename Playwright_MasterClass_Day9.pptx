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&amp; E2E Implementation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· refactoring tests · end-to-end flow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topics · the pattern that turns scripts into a suite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4630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0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Page Object Model?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· two layers · why it matters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21488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176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Test Script to POM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441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step-by-step from procedural code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240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8346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862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of POM in a Project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1272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· maintenance · readability wins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204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547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813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search → cart → checkout → confirm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·  Playwright Master Class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Page Object Model?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pattern: every UI page becomes a class with locators + actions.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2EAD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5564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layer (.spec.ts)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1920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intent — what the user is trying to do.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606040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13232" y="2926080"/>
            <a:ext cx="393192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2EAD3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8152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layer (pages/*.ts)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68680" y="3246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+ reusable actions — how the page works.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713232" y="4023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talk to page objects, not to selectors.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029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459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per page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48640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LoginPage, CartPage, CheckoutPage...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359152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are private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486400" y="26334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class touches selectors.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072384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486400" y="3072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public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5486400" y="33467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login(), addToCart(), submit().</a:t>
            </a:r>
            <a:endParaRPr lang="en-US" sz="10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785616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486400" y="3785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assertions inside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5486400" y="40599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in tests — keep POM action-only.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·  Playwright Master Class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POM Solves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POM, selectors leak into every test — and break together.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023360" cy="329184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in every test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" y="1828800"/>
            <a:ext cx="3657600" cy="2194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21488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test('checkout', async ({ page })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page.goto('/login');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page.fill('#email', 'a@a.com');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page.fill('#pw',    'pw');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page.click('button.sign-in');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page.goto('/checkout');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30 more lines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13232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changes? Hunt every selector in every test.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DCFCE7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173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Page Object Model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919472" y="1828800"/>
            <a:ext cx="3520440" cy="2194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4"/>
          <p:cNvSpPr/>
          <p:nvPr/>
        </p:nvSpPr>
        <p:spPr>
          <a:xfrm>
            <a:off x="502920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Shape 15"/>
          <p:cNvSpPr/>
          <p:nvPr/>
        </p:nvSpPr>
        <p:spPr>
          <a:xfrm>
            <a:off x="516636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Shape 16"/>
          <p:cNvSpPr/>
          <p:nvPr/>
        </p:nvSpPr>
        <p:spPr>
          <a:xfrm>
            <a:off x="530352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7"/>
          <p:cNvSpPr/>
          <p:nvPr/>
        </p:nvSpPr>
        <p:spPr>
          <a:xfrm>
            <a:off x="5102352" y="214884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test('checkout', async ({ page })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login = new LoginPage(page);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login.goto();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login.signIn('a@a.com', 'pw');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cart = new CartPage(page);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cart.checkout();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919472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changes? Fix one page object — done.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·  Playwright Master Class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to POM — Step 0: Before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working procedural test. We'll refactor it together.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3291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7772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tests/login.spec.ts — BEFORE refactor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test, expect } from '@playwright/test';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test('valid user can sign in', async ({ page })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page.goto('/login');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page.getByLabel('Email').fill('priya@example.com');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page.getByLabel('Password').fill('Secret123!');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page.getByRole('button', { name: 'Sign in' }).click();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expect(page).toHaveURL('/dashboard');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expect(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page.getByRole('heading', { name: 'Welcome, Priya'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).toBeVisible();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804672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·  Playwright Master Class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Extract the LoginPage Class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locators and actions into a new file under pages/.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pages/LoginPage.ts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3246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7772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Page, Locator } from '@playwright/test';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LoginPage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1) Locators as private readonly fields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readonly email:     Locator;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readonly password:  Locator;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readonly signInBtn: Locator;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readonly page: Page)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this.email     = page.getByLabel('Email');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this.password  = page.getByLabel('Password');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this.signInBtn = page.getByRole('button', { name: 'Sign in'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2) Actions — public, business-named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goto() { await this.page.goto('/login');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signIn(email: string, password: string)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this.email.fill(email);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this.password.fill(password);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this.signInBtn.click();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·  Playwright Master Class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Use the Page Object in the 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reads like the user story — no selectors in sight.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tests/login.spec.ts — AFTER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572000" cy="3246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42976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test, expect }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'@playwright/test';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LoginPage }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'../pages/LoginPage';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test('valid user can sign in',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({ page })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login = new LoginPage(page);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login.goto();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login.signIn(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'priya@example.com',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'Secret123!'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Assertions stay in the 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expect(page)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.toHaveURL('/dashboard');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5544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0644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like English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0644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login.goto() / login.signIn() — the test describes intent.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3317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0644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stay private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80644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Email field's label changes, ONE file is updated.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1089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0644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stay outside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806440" y="3383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own assertions. The POM only knows how to act.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8862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0644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reuse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80644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that needs login imports LoginPage.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·  Playwright Master Class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in a Real Project — Folder Layout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gets a page object; tests sit next to the user journey.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023360" cy="338328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173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playwright-project/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1783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pages/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" y="1947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LoginPage.ts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21122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ProductPage.ts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7240" y="22768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CartPage.ts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7240" y="2441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CheckoutPage.ts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7240" y="2606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7240" y="27706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tests/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7240" y="29352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smoke/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7240" y="3099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 login.spec.ts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77240" y="32644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e2e/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7240" y="3429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 purchase.spec.ts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77240" y="3593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77240" y="3758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fixtures/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77240" y="39227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test.ts        (custom fixture)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" y="4087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77240" y="4251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playwright.config.ts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77240" y="44165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package.json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029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rules of thumb</a:t>
            </a:r>
            <a:endParaRPr lang="en-US" sz="13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4864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 — one file per page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48640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PascalCase. LoginPage.ts, not login.ts.</a:t>
            </a:r>
            <a:endParaRPr lang="en-US" sz="10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359152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8640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 — by user journey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486400" y="26334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smoke/, e2e/, regression/ — easy to slice in CI.</a:t>
            </a:r>
            <a:endParaRPr lang="en-US" sz="10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72384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486400" y="3072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fixtures/ — shared setup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486400" y="33467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test fixture composes page objects.</a:t>
            </a:r>
            <a:endParaRPr lang="en-US" sz="10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785616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486400" y="3785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at the root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5486400" y="40599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Project-wide options stay together.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·  Playwright Master Class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POM in a Real Project?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benefits you'll feel from the very first refactor.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change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change → fix one method, not 40 tests.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73552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3273552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417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13632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read like specs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56432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can review test scenarios out loud.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6089904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417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9984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across suites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72784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Smoke, regression, e2e — same page objects.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457200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2783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framework details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ever switch tools, only the POM changes.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73552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0"/>
          <p:cNvSpPr/>
          <p:nvPr/>
        </p:nvSpPr>
        <p:spPr>
          <a:xfrm>
            <a:off x="3273552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22783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13632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friendly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3456432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devs read action names — not CSS selectors.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89904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4"/>
          <p:cNvSpPr/>
          <p:nvPr/>
        </p:nvSpPr>
        <p:spPr>
          <a:xfrm>
            <a:off x="6089904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22783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29984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composition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272784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page objects in fixtures for higher reuse.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·  Playwright Master Class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Anti-Patterns to Avoid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put assertions inside the POM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35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own assertions. POM methods describe actions only — assertions in pages couple intent to expectations.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883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expose locators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test reaches into loginPage.email, you've leaked the implementation. Make locators private.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61518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596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make god-classes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page has 30 methods, split it. SearchPage + FiltersPanel + ResultsList beats one massive class.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32841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return a different page object randomly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575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submit() → CheckoutPage is fine when it ALWAYS navigates. Don't return null sometimes.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40416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recreate page objects mid-test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288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once at the top. new LoginPage(page) every line is a smell.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·  Playwright Master Class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Flow — A Buying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· five page objects · one test that proves the product works.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627632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63040"/>
            <a:ext cx="1627632" cy="73152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1664208"/>
            <a:ext cx="365760" cy="36576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14884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74320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0175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672" y="2267712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039112" y="1463040"/>
            <a:ext cx="1627632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0"/>
          <p:cNvSpPr/>
          <p:nvPr/>
        </p:nvSpPr>
        <p:spPr>
          <a:xfrm>
            <a:off x="2039112" y="1463040"/>
            <a:ext cx="1627632" cy="73152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5" name="Shape 11"/>
          <p:cNvSpPr/>
          <p:nvPr/>
        </p:nvSpPr>
        <p:spPr>
          <a:xfrm>
            <a:off x="2670048" y="1664208"/>
            <a:ext cx="365760" cy="36576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6" name="Text 12"/>
          <p:cNvSpPr/>
          <p:nvPr/>
        </p:nvSpPr>
        <p:spPr>
          <a:xfrm>
            <a:off x="2670048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21488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30552" y="274320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130552" y="30175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ProductPage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2267712"/>
            <a:ext cx="164592" cy="16459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712464" y="1463040"/>
            <a:ext cx="1627632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16"/>
          <p:cNvSpPr/>
          <p:nvPr/>
        </p:nvSpPr>
        <p:spPr>
          <a:xfrm>
            <a:off x="3712464" y="1463040"/>
            <a:ext cx="1627632" cy="73152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23" name="Shape 17"/>
          <p:cNvSpPr/>
          <p:nvPr/>
        </p:nvSpPr>
        <p:spPr>
          <a:xfrm>
            <a:off x="4343400" y="1664208"/>
            <a:ext cx="365760" cy="36576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24" name="Text 18"/>
          <p:cNvSpPr/>
          <p:nvPr/>
        </p:nvSpPr>
        <p:spPr>
          <a:xfrm>
            <a:off x="434340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214884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03904" y="274320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803904" y="30175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CartPage</a:t>
            </a:r>
            <a:endParaRPr lang="en-US" sz="10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376" y="2267712"/>
            <a:ext cx="164592" cy="16459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385816" y="1463040"/>
            <a:ext cx="1627632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2"/>
          <p:cNvSpPr/>
          <p:nvPr/>
        </p:nvSpPr>
        <p:spPr>
          <a:xfrm>
            <a:off x="5385816" y="1463040"/>
            <a:ext cx="1627632" cy="73152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1" name="Shape 23"/>
          <p:cNvSpPr/>
          <p:nvPr/>
        </p:nvSpPr>
        <p:spPr>
          <a:xfrm>
            <a:off x="6016752" y="1664208"/>
            <a:ext cx="365760" cy="36576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32" name="Text 24"/>
          <p:cNvSpPr/>
          <p:nvPr/>
        </p:nvSpPr>
        <p:spPr>
          <a:xfrm>
            <a:off x="6016752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5312" y="2148840"/>
            <a:ext cx="548640" cy="54864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477256" y="274320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5477256" y="30175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CheckoutPage</a:t>
            </a:r>
            <a:endParaRPr lang="en-US" sz="10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728" y="2267712"/>
            <a:ext cx="164592" cy="164592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7059168" y="1463040"/>
            <a:ext cx="1627632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28"/>
          <p:cNvSpPr/>
          <p:nvPr/>
        </p:nvSpPr>
        <p:spPr>
          <a:xfrm>
            <a:off x="7059168" y="1463040"/>
            <a:ext cx="1627632" cy="73152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9" name="Shape 29"/>
          <p:cNvSpPr/>
          <p:nvPr/>
        </p:nvSpPr>
        <p:spPr>
          <a:xfrm>
            <a:off x="7690104" y="1664208"/>
            <a:ext cx="365760" cy="36576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40" name="Text 30"/>
          <p:cNvSpPr/>
          <p:nvPr/>
        </p:nvSpPr>
        <p:spPr>
          <a:xfrm>
            <a:off x="769010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8664" y="2148840"/>
            <a:ext cx="548640" cy="54864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7150608" y="274320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7150608" y="30175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OrderPage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840480"/>
            <a:ext cx="365760" cy="36576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109728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E2E matters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1097280" y="4023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prove the code works in isolation. E2E proves the WHOLE journey still earns money.</a:t>
            </a:r>
            <a:endParaRPr lang="en-US" sz="1100" dirty="0"/>
          </a:p>
        </p:txBody>
      </p:sp>
      <p:sp>
        <p:nvSpPr>
          <p:cNvPr id="48" name="Text 3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·  Playwright Master Class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— Compose Page Objects in a Fixture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fixture provides every page; tests stay short and readable.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7772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fixtures/test.ts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 as base } from '@playwright/test';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LoginPage }    from '../pages/LoginPage';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ProductPage }  from '../pages/ProductPage';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CartPage }     from '../pages/CartPage';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CheckoutPage } from '../pages/CheckoutPage';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OrderPage }    from '../pages/OrderPage';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Pages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loginPage:    LoginPage;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productPage:  ProductPage;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cartPage:     CartPage;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checkoutPage: CheckoutPage;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orderPage:    OrderPage;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test = base.extend&lt;Pages&gt;({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loginPage:    async ({ page }, use) =&gt; await use(new LoginPage(page)),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productPage:  async ({ page }, use) =&gt; await use(new ProductPage(page)),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cartPage:     async ({ page }, use) =&gt; await use(new CartPage(page)),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checkoutPage: async ({ page }, use) =&gt; await use(new CheckoutPage(page)),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orderPage:    async ({ page }, use) =&gt; await use(new OrderPage(page)),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·  Playwright Master Class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— The Full 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page objects, one user story, one expectation: order succeeds.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7772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tests/e2e/purchase.spec.ts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test, expect } from '../../fixtures/test';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test('user can buy a product end-to-end', async 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loginPage, productPage, cartPage, checkoutPage, orderPage,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1) LOGIN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loginPage.goto();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loginPage.signIn('priya@example.com', 'Secret123!');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2) SEARCH &amp; PICK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productPage.search('wireless headphones');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productPage.openFirstResult();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productPage.addToCart();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3) CHECKOUT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cartPage.goto();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cartPage.proceedToCheckout();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checkoutPage.fillShipping({ city: 'Chennai', pin: '600001'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checkoutPage.payWithCard('4242 4242 4242 4242', '12/30', '123');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4) ASSERT — confirmation banner shows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expect(orderPage.confirmationBanner).toBeVisible();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·  Playwright Master Class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— Recap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0759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= design pattern: every page is a class with private locators + public 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— tests describe intent; page objects know how the UI 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20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in 2 steps: extract LoginPage class · use new LoginPage(page) in tests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286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selectors PRIVATE; keep assertions in the test, not in the POM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7063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517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layout: pages/ · tests/ · fixtures/ · playwright.config.ts at the root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3639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17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single point of change · readable tests · reusable across suites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0215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83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flow: Login → Search → Cart → Checkout → Confirm — one journey, five page objects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6791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49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page objects in a fixture so the test only destructures what it needs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51960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887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preview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8872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 — GitHub Actions, sharding, artifacts, scheduled runs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·  Playwright Master Class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4114800" y="320040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refactor a real script to POM together.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playwright.dev/docs/pom   ·   playwright.dev/docs/test-fixtures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Master Class - Day 9</dc:title>
  <dc:subject>PptxGenJS Presentation</dc:subject>
  <dc:creator>Master Class Instructor</dc:creator>
  <cp:lastModifiedBy>Master Class Instructor</cp:lastModifiedBy>
  <cp:revision>1</cp:revision>
  <dcterms:created xsi:type="dcterms:W3CDTF">2026-05-21T18:02:16Z</dcterms:created>
  <dcterms:modified xsi:type="dcterms:W3CDTF">2026-05-21T18:02:16Z</dcterms:modified>
</cp:coreProperties>
</file>